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embeddedFontLst>
    <p:embeddedFont>
      <p:font typeface="Instrument Sans" panose="020B0604020202020204" charset="0"/>
      <p:regular r:id="rId11"/>
    </p:embeddedFont>
    <p:embeddedFont>
      <p:font typeface="Instrument Sans Medium" panose="020B0604020202020204" charset="0"/>
      <p:regular r:id="rId12"/>
    </p:embeddedFont>
    <p:embeddedFont>
      <p:font typeface="Inter" panose="020B0604020202020204" charset="0"/>
      <p:regular r:id="rId13"/>
    </p:embeddedFont>
    <p:embeddedFont>
      <p:font typeface="Inter Bold" panose="020B060402020202020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24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8724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719"/>
          </a:solidFill>
          <a:ln/>
        </p:spPr>
      </p:sp>
      <p:sp>
        <p:nvSpPr>
          <p:cNvPr id="3" name="Shape 1"/>
          <p:cNvSpPr/>
          <p:nvPr/>
        </p:nvSpPr>
        <p:spPr>
          <a:xfrm>
            <a:off x="0" y="0"/>
            <a:ext cx="12191695" cy="68580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1475" y="1971675"/>
            <a:ext cx="3791947" cy="251420"/>
          </a:xfrm>
          <a:prstGeom prst="roundRect">
            <a:avLst>
              <a:gd name="adj" fmla="val 7894"/>
            </a:avLst>
          </a:prstGeom>
          <a:solidFill>
            <a:srgbClr val="4A0303"/>
          </a:solidFill>
          <a:ln/>
        </p:spPr>
      </p:sp>
      <p:sp>
        <p:nvSpPr>
          <p:cNvPr id="3" name="Text 1"/>
          <p:cNvSpPr/>
          <p:nvPr/>
        </p:nvSpPr>
        <p:spPr>
          <a:xfrm>
            <a:off x="760691" y="2021284"/>
            <a:ext cx="4203099" cy="152202"/>
          </a:xfrm>
          <a:prstGeom prst="rect">
            <a:avLst/>
          </a:prstGeom>
          <a:noFill/>
          <a:ln/>
        </p:spPr>
        <p:txBody>
          <a:bodyPr wrap="none" lIns="0" tIns="0" rIns="0" bIns="0" rtlCol="0" anchor="t"/>
          <a:lstStyle/>
          <a:p>
            <a:pPr marL="0" indent="0" algn="l">
              <a:lnSpc>
                <a:spcPct val="96000"/>
              </a:lnSpc>
              <a:buNone/>
            </a:pPr>
            <a:r>
              <a:rPr lang="en-US" sz="1000" dirty="0">
                <a:solidFill>
                  <a:srgbClr val="C7CDD6"/>
                </a:solidFill>
                <a:latin typeface="Inter" pitchFamily="34" charset="0"/>
                <a:ea typeface="Inter" pitchFamily="34" charset="-122"/>
                <a:cs typeface="Inter" pitchFamily="34" charset="-120"/>
              </a:rPr>
              <a:t>ENGINEERING CAPSTONE PROJECT – 1 · A.Y. 2026–2027</a:t>
            </a:r>
            <a:endParaRPr lang="en-US" sz="1000" dirty="0"/>
          </a:p>
        </p:txBody>
      </p:sp>
      <p:sp>
        <p:nvSpPr>
          <p:cNvPr id="4" name="Text 2"/>
          <p:cNvSpPr/>
          <p:nvPr/>
        </p:nvSpPr>
        <p:spPr>
          <a:xfrm>
            <a:off x="661475" y="2289175"/>
            <a:ext cx="10868745"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EFD5FA"/>
                </a:solidFill>
                <a:latin typeface="Instrument Sans Medium" pitchFamily="34" charset="0"/>
                <a:ea typeface="Instrument Sans Medium" pitchFamily="34" charset="-122"/>
                <a:cs typeface="Instrument Sans Medium" pitchFamily="34" charset="-120"/>
              </a:rPr>
              <a:t>CodeInsight AI: AI-Powered Code Review &amp; Bug Detection</a:t>
            </a:r>
            <a:endParaRPr lang="en-US" sz="3250" dirty="0"/>
          </a:p>
        </p:txBody>
      </p:sp>
      <p:sp>
        <p:nvSpPr>
          <p:cNvPr id="5" name="Text 3"/>
          <p:cNvSpPr/>
          <p:nvPr/>
        </p:nvSpPr>
        <p:spPr>
          <a:xfrm>
            <a:off x="661475" y="3388717"/>
            <a:ext cx="10868745" cy="258465"/>
          </a:xfrm>
          <a:prstGeom prst="rect">
            <a:avLst/>
          </a:prstGeom>
          <a:noFill/>
          <a:ln/>
        </p:spPr>
        <p:txBody>
          <a:bodyPr wrap="none" lIns="0" tIns="0" rIns="0" bIns="0" rtlCol="0" anchor="t"/>
          <a:lstStyle/>
          <a:p>
            <a:pPr marL="0" indent="0" algn="l">
              <a:lnSpc>
                <a:spcPct val="104000"/>
              </a:lnSpc>
              <a:buNone/>
            </a:pPr>
            <a:r>
              <a:rPr lang="en-US" sz="1600" dirty="0">
                <a:solidFill>
                  <a:srgbClr val="EFD5FA"/>
                </a:solidFill>
                <a:latin typeface="Instrument Sans Medium" pitchFamily="34" charset="0"/>
                <a:ea typeface="Instrument Sans Medium" pitchFamily="34" charset="-122"/>
                <a:cs typeface="Instrument Sans Medium" pitchFamily="34" charset="-120"/>
              </a:rPr>
              <a:t>Department of CSE · Engineering Capstone Project – 1</a:t>
            </a:r>
            <a:endParaRPr lang="en-US" sz="1600" dirty="0"/>
          </a:p>
        </p:txBody>
      </p:sp>
      <p:sp>
        <p:nvSpPr>
          <p:cNvPr id="6" name="Shape 4"/>
          <p:cNvSpPr/>
          <p:nvPr/>
        </p:nvSpPr>
        <p:spPr>
          <a:xfrm>
            <a:off x="661475" y="3895229"/>
            <a:ext cx="2593216" cy="990997"/>
          </a:xfrm>
          <a:prstGeom prst="roundRect">
            <a:avLst>
              <a:gd name="adj" fmla="val 2503"/>
            </a:avLst>
          </a:prstGeom>
          <a:solidFill>
            <a:srgbClr val="242429"/>
          </a:solidFill>
          <a:ln w="19050">
            <a:solidFill>
              <a:srgbClr val="5C5C61"/>
            </a:solidFill>
            <a:prstDash val="solid"/>
          </a:ln>
        </p:spPr>
      </p:sp>
      <p:sp>
        <p:nvSpPr>
          <p:cNvPr id="7" name="Text 5"/>
          <p:cNvSpPr/>
          <p:nvPr/>
        </p:nvSpPr>
        <p:spPr>
          <a:xfrm>
            <a:off x="845819" y="4079577"/>
            <a:ext cx="2224528" cy="258465"/>
          </a:xfrm>
          <a:prstGeom prst="rect">
            <a:avLst/>
          </a:prstGeom>
          <a:noFill/>
          <a:ln/>
        </p:spPr>
        <p:txBody>
          <a:bodyPr wrap="none" lIns="0" tIns="0" rIns="0" bIns="0" rtlCol="0" anchor="t"/>
          <a:lstStyle/>
          <a:p>
            <a:pPr marL="0" indent="0" algn="l">
              <a:lnSpc>
                <a:spcPct val="104000"/>
              </a:lnSpc>
              <a:buNone/>
            </a:pPr>
            <a:r>
              <a:rPr lang="en-US" sz="1600" dirty="0">
                <a:solidFill>
                  <a:srgbClr val="C7CDD6"/>
                </a:solidFill>
                <a:latin typeface="Instrument Sans Medium" pitchFamily="34" charset="0"/>
                <a:ea typeface="Instrument Sans Medium" pitchFamily="34" charset="-122"/>
                <a:cs typeface="Instrument Sans Medium" pitchFamily="34" charset="-120"/>
              </a:rPr>
              <a:t>Bhashetty Shaanvi</a:t>
            </a:r>
            <a:endParaRPr lang="en-US" sz="1600" dirty="0"/>
          </a:p>
        </p:txBody>
      </p:sp>
      <p:sp>
        <p:nvSpPr>
          <p:cNvPr id="8" name="Text 6"/>
          <p:cNvSpPr/>
          <p:nvPr/>
        </p:nvSpPr>
        <p:spPr>
          <a:xfrm>
            <a:off x="845819" y="4437261"/>
            <a:ext cx="2224528" cy="264616"/>
          </a:xfrm>
          <a:prstGeom prst="rect">
            <a:avLst/>
          </a:prstGeom>
          <a:noFill/>
          <a:ln/>
        </p:spPr>
        <p:txBody>
          <a:bodyPr wrap="none" lIns="0" tIns="0" rIns="0" bIns="0" rtlCol="0" anchor="t"/>
          <a:lstStyle/>
          <a:p>
            <a:pPr marL="0" indent="0" algn="l">
              <a:lnSpc>
                <a:spcPct val="133000"/>
              </a:lnSpc>
              <a:buNone/>
            </a:pPr>
            <a:r>
              <a:rPr lang="en-US" sz="1300" dirty="0">
                <a:solidFill>
                  <a:srgbClr val="C7CDD6"/>
                </a:solidFill>
                <a:latin typeface="Inter" pitchFamily="34" charset="0"/>
                <a:ea typeface="Inter" pitchFamily="34" charset="-122"/>
                <a:cs typeface="Inter" pitchFamily="34" charset="-120"/>
              </a:rPr>
              <a:t>Roll No: 2420039806</a:t>
            </a:r>
            <a:endParaRPr lang="en-US" sz="1300" dirty="0"/>
          </a:p>
        </p:txBody>
      </p:sp>
      <p:sp>
        <p:nvSpPr>
          <p:cNvPr id="9" name="Shape 7"/>
          <p:cNvSpPr/>
          <p:nvPr/>
        </p:nvSpPr>
        <p:spPr>
          <a:xfrm>
            <a:off x="3419985" y="3895229"/>
            <a:ext cx="2593216" cy="990997"/>
          </a:xfrm>
          <a:prstGeom prst="roundRect">
            <a:avLst>
              <a:gd name="adj" fmla="val 2503"/>
            </a:avLst>
          </a:prstGeom>
          <a:solidFill>
            <a:srgbClr val="242429"/>
          </a:solidFill>
          <a:ln w="19050">
            <a:solidFill>
              <a:srgbClr val="5C5C61"/>
            </a:solidFill>
            <a:prstDash val="solid"/>
          </a:ln>
        </p:spPr>
      </p:sp>
      <p:sp>
        <p:nvSpPr>
          <p:cNvPr id="10" name="Text 8"/>
          <p:cNvSpPr/>
          <p:nvPr/>
        </p:nvSpPr>
        <p:spPr>
          <a:xfrm>
            <a:off x="3604329" y="4079577"/>
            <a:ext cx="2224528" cy="258465"/>
          </a:xfrm>
          <a:prstGeom prst="rect">
            <a:avLst/>
          </a:prstGeom>
          <a:noFill/>
          <a:ln/>
        </p:spPr>
        <p:txBody>
          <a:bodyPr wrap="none" lIns="0" tIns="0" rIns="0" bIns="0" rtlCol="0" anchor="t"/>
          <a:lstStyle/>
          <a:p>
            <a:pPr marL="0" indent="0" algn="l">
              <a:lnSpc>
                <a:spcPct val="104000"/>
              </a:lnSpc>
              <a:buNone/>
            </a:pPr>
            <a:r>
              <a:rPr lang="en-US" sz="1600" dirty="0">
                <a:solidFill>
                  <a:srgbClr val="C7CDD6"/>
                </a:solidFill>
                <a:latin typeface="Instrument Sans Medium" pitchFamily="34" charset="0"/>
                <a:ea typeface="Instrument Sans Medium" pitchFamily="34" charset="-122"/>
                <a:cs typeface="Instrument Sans Medium" pitchFamily="34" charset="-120"/>
              </a:rPr>
              <a:t>Manaswi Divi </a:t>
            </a:r>
            <a:endParaRPr lang="en-US" sz="1600" dirty="0"/>
          </a:p>
        </p:txBody>
      </p:sp>
      <p:sp>
        <p:nvSpPr>
          <p:cNvPr id="11" name="Text 9"/>
          <p:cNvSpPr/>
          <p:nvPr/>
        </p:nvSpPr>
        <p:spPr>
          <a:xfrm>
            <a:off x="3604329" y="4437261"/>
            <a:ext cx="2224528" cy="264616"/>
          </a:xfrm>
          <a:prstGeom prst="rect">
            <a:avLst/>
          </a:prstGeom>
          <a:noFill/>
          <a:ln/>
        </p:spPr>
        <p:txBody>
          <a:bodyPr wrap="none" lIns="0" tIns="0" rIns="0" bIns="0" rtlCol="0" anchor="t"/>
          <a:lstStyle/>
          <a:p>
            <a:pPr marL="0" indent="0" algn="l">
              <a:lnSpc>
                <a:spcPct val="133000"/>
              </a:lnSpc>
              <a:buNone/>
            </a:pPr>
            <a:r>
              <a:rPr lang="en-US" sz="1300" dirty="0">
                <a:solidFill>
                  <a:srgbClr val="C7CDD6"/>
                </a:solidFill>
                <a:latin typeface="Inter" pitchFamily="34" charset="0"/>
                <a:ea typeface="Inter" pitchFamily="34" charset="-122"/>
                <a:cs typeface="Inter" pitchFamily="34" charset="-120"/>
              </a:rPr>
              <a:t>Roll No: 2420030793</a:t>
            </a:r>
            <a:endParaRPr lang="en-US" sz="1300" dirty="0"/>
          </a:p>
        </p:txBody>
      </p:sp>
      <p:sp>
        <p:nvSpPr>
          <p:cNvPr id="12" name="Shape 10"/>
          <p:cNvSpPr/>
          <p:nvPr/>
        </p:nvSpPr>
        <p:spPr>
          <a:xfrm>
            <a:off x="6178495" y="3895229"/>
            <a:ext cx="2593216" cy="990997"/>
          </a:xfrm>
          <a:prstGeom prst="roundRect">
            <a:avLst>
              <a:gd name="adj" fmla="val 2503"/>
            </a:avLst>
          </a:prstGeom>
          <a:solidFill>
            <a:srgbClr val="242429"/>
          </a:solidFill>
          <a:ln w="19050">
            <a:solidFill>
              <a:srgbClr val="5C5C61"/>
            </a:solidFill>
            <a:prstDash val="solid"/>
          </a:ln>
        </p:spPr>
      </p:sp>
      <p:sp>
        <p:nvSpPr>
          <p:cNvPr id="13" name="Text 11"/>
          <p:cNvSpPr/>
          <p:nvPr/>
        </p:nvSpPr>
        <p:spPr>
          <a:xfrm>
            <a:off x="6362838" y="4079577"/>
            <a:ext cx="2224528" cy="258465"/>
          </a:xfrm>
          <a:prstGeom prst="rect">
            <a:avLst/>
          </a:prstGeom>
          <a:noFill/>
          <a:ln/>
        </p:spPr>
        <p:txBody>
          <a:bodyPr wrap="none" lIns="0" tIns="0" rIns="0" bIns="0" rtlCol="0" anchor="t"/>
          <a:lstStyle/>
          <a:p>
            <a:pPr marL="0" indent="0" algn="l">
              <a:lnSpc>
                <a:spcPct val="104000"/>
              </a:lnSpc>
              <a:buNone/>
            </a:pPr>
            <a:r>
              <a:rPr lang="en-US" sz="1600" dirty="0">
                <a:solidFill>
                  <a:srgbClr val="C7CDD6"/>
                </a:solidFill>
                <a:latin typeface="Instrument Sans Medium" pitchFamily="34" charset="0"/>
                <a:ea typeface="Instrument Sans Medium" pitchFamily="34" charset="-122"/>
                <a:cs typeface="Instrument Sans Medium" pitchFamily="34" charset="-120"/>
              </a:rPr>
              <a:t>B. Avinash</a:t>
            </a:r>
            <a:endParaRPr lang="en-US" sz="1600" dirty="0"/>
          </a:p>
        </p:txBody>
      </p:sp>
      <p:sp>
        <p:nvSpPr>
          <p:cNvPr id="14" name="Text 12"/>
          <p:cNvSpPr/>
          <p:nvPr/>
        </p:nvSpPr>
        <p:spPr>
          <a:xfrm>
            <a:off x="6362838" y="4437261"/>
            <a:ext cx="2224528" cy="264616"/>
          </a:xfrm>
          <a:prstGeom prst="rect">
            <a:avLst/>
          </a:prstGeom>
          <a:noFill/>
          <a:ln/>
        </p:spPr>
        <p:txBody>
          <a:bodyPr wrap="none" lIns="0" tIns="0" rIns="0" bIns="0" rtlCol="0" anchor="t"/>
          <a:lstStyle/>
          <a:p>
            <a:pPr marL="0" indent="0" algn="l">
              <a:lnSpc>
                <a:spcPct val="133000"/>
              </a:lnSpc>
              <a:buNone/>
            </a:pPr>
            <a:r>
              <a:rPr lang="en-US" sz="1300" dirty="0">
                <a:solidFill>
                  <a:srgbClr val="C7CDD6"/>
                </a:solidFill>
                <a:latin typeface="Inter" pitchFamily="34" charset="0"/>
                <a:ea typeface="Inter" pitchFamily="34" charset="-122"/>
                <a:cs typeface="Inter" pitchFamily="34" charset="-120"/>
              </a:rPr>
              <a:t>Roll No: 2420030101</a:t>
            </a:r>
            <a:endParaRPr lang="en-US" sz="1300" dirty="0"/>
          </a:p>
        </p:txBody>
      </p:sp>
      <p:sp>
        <p:nvSpPr>
          <p:cNvPr id="15" name="Shape 13"/>
          <p:cNvSpPr/>
          <p:nvPr/>
        </p:nvSpPr>
        <p:spPr>
          <a:xfrm>
            <a:off x="8937005" y="3895229"/>
            <a:ext cx="2593216" cy="990997"/>
          </a:xfrm>
          <a:prstGeom prst="roundRect">
            <a:avLst>
              <a:gd name="adj" fmla="val 2503"/>
            </a:avLst>
          </a:prstGeom>
          <a:solidFill>
            <a:srgbClr val="242429"/>
          </a:solidFill>
          <a:ln w="19050">
            <a:solidFill>
              <a:srgbClr val="5C5C61"/>
            </a:solidFill>
            <a:prstDash val="solid"/>
          </a:ln>
        </p:spPr>
      </p:sp>
      <p:sp>
        <p:nvSpPr>
          <p:cNvPr id="16" name="Text 14"/>
          <p:cNvSpPr/>
          <p:nvPr/>
        </p:nvSpPr>
        <p:spPr>
          <a:xfrm>
            <a:off x="9121348" y="4079577"/>
            <a:ext cx="2224528" cy="258465"/>
          </a:xfrm>
          <a:prstGeom prst="rect">
            <a:avLst/>
          </a:prstGeom>
          <a:noFill/>
          <a:ln/>
        </p:spPr>
        <p:txBody>
          <a:bodyPr wrap="none" lIns="0" tIns="0" rIns="0" bIns="0" rtlCol="0" anchor="t"/>
          <a:lstStyle/>
          <a:p>
            <a:pPr marL="0" indent="0" algn="l">
              <a:lnSpc>
                <a:spcPct val="104000"/>
              </a:lnSpc>
              <a:buNone/>
            </a:pPr>
            <a:r>
              <a:rPr lang="en-US" sz="1600" dirty="0">
                <a:solidFill>
                  <a:srgbClr val="C7CDD6"/>
                </a:solidFill>
                <a:latin typeface="Instrument Sans Medium" pitchFamily="34" charset="0"/>
                <a:ea typeface="Instrument Sans Medium" pitchFamily="34" charset="-122"/>
                <a:cs typeface="Instrument Sans Medium" pitchFamily="34" charset="-120"/>
              </a:rPr>
              <a:t>M. Taatwik</a:t>
            </a:r>
            <a:endParaRPr lang="en-US" sz="1600" dirty="0"/>
          </a:p>
        </p:txBody>
      </p:sp>
      <p:sp>
        <p:nvSpPr>
          <p:cNvPr id="17" name="Text 15"/>
          <p:cNvSpPr/>
          <p:nvPr/>
        </p:nvSpPr>
        <p:spPr>
          <a:xfrm>
            <a:off x="9121348" y="4437261"/>
            <a:ext cx="2224528" cy="264616"/>
          </a:xfrm>
          <a:prstGeom prst="rect">
            <a:avLst/>
          </a:prstGeom>
          <a:noFill/>
          <a:ln/>
        </p:spPr>
        <p:txBody>
          <a:bodyPr wrap="none" lIns="0" tIns="0" rIns="0" bIns="0" rtlCol="0" anchor="t"/>
          <a:lstStyle/>
          <a:p>
            <a:pPr marL="0" indent="0" algn="l">
              <a:lnSpc>
                <a:spcPct val="133000"/>
              </a:lnSpc>
              <a:buNone/>
            </a:pPr>
            <a:r>
              <a:rPr lang="en-US" sz="1300" dirty="0">
                <a:solidFill>
                  <a:srgbClr val="C7CDD6"/>
                </a:solidFill>
                <a:latin typeface="Inter" pitchFamily="34" charset="0"/>
                <a:ea typeface="Inter" pitchFamily="34" charset="-122"/>
                <a:cs typeface="Inter" pitchFamily="34" charset="-120"/>
              </a:rPr>
              <a:t>Roll No: 2420030103</a:t>
            </a:r>
            <a:endParaRPr lang="en-US" sz="1300" dirty="0"/>
          </a:p>
        </p:txBody>
      </p:sp>
      <p:sp>
        <p:nvSpPr>
          <p:cNvPr id="18" name="Rectangle 17">
            <a:extLst>
              <a:ext uri="{FF2B5EF4-FFF2-40B4-BE49-F238E27FC236}">
                <a16:creationId xmlns:a16="http://schemas.microsoft.com/office/drawing/2014/main" id="{128324C2-DEF3-BDBF-C7EB-C90B69D372FA}"/>
              </a:ext>
            </a:extLst>
          </p:cNvPr>
          <p:cNvSpPr/>
          <p:nvPr/>
        </p:nvSpPr>
        <p:spPr>
          <a:xfrm>
            <a:off x="10945906" y="6364941"/>
            <a:ext cx="1246094" cy="430306"/>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460474"/>
            <a:ext cx="10868745" cy="500658"/>
          </a:xfrm>
          <a:prstGeom prst="rect">
            <a:avLst/>
          </a:prstGeom>
          <a:noFill/>
          <a:ln/>
        </p:spPr>
        <p:txBody>
          <a:bodyPr wrap="none" lIns="0" tIns="0" rIns="0" bIns="0" rtlCol="0" anchor="t"/>
          <a:lstStyle/>
          <a:p>
            <a:pPr marL="0" indent="0" algn="l">
              <a:lnSpc>
                <a:spcPct val="104000"/>
              </a:lnSpc>
              <a:buNone/>
            </a:pPr>
            <a:r>
              <a:rPr lang="en-US" sz="3150" dirty="0">
                <a:solidFill>
                  <a:srgbClr val="EFD5FA"/>
                </a:solidFill>
                <a:latin typeface="Instrument Sans Medium" pitchFamily="34" charset="0"/>
                <a:ea typeface="Instrument Sans Medium" pitchFamily="34" charset="-122"/>
                <a:cs typeface="Instrument Sans Medium" pitchFamily="34" charset="-120"/>
              </a:rPr>
              <a:t>Introduction</a:t>
            </a:r>
            <a:endParaRPr lang="en-US" sz="3150" dirty="0"/>
          </a:p>
        </p:txBody>
      </p:sp>
      <p:sp>
        <p:nvSpPr>
          <p:cNvPr id="3" name="Text 1"/>
          <p:cNvSpPr/>
          <p:nvPr/>
        </p:nvSpPr>
        <p:spPr>
          <a:xfrm>
            <a:off x="661475" y="1193899"/>
            <a:ext cx="10868745" cy="1183779"/>
          </a:xfrm>
          <a:prstGeom prst="rect">
            <a:avLst/>
          </a:prstGeom>
          <a:noFill/>
          <a:ln/>
        </p:spPr>
        <p:txBody>
          <a:bodyPr wrap="square" lIns="0" tIns="0" rIns="0" bIns="0" rtlCol="0" anchor="t">
            <a:normAutofit/>
          </a:bodyPr>
          <a:lstStyle/>
          <a:p>
            <a:pPr marL="0" indent="0" algn="l">
              <a:lnSpc>
                <a:spcPct val="131000"/>
              </a:lnSpc>
              <a:spcAft>
                <a:spcPts val="1350"/>
              </a:spcAft>
              <a:buNone/>
            </a:pPr>
            <a:r>
              <a:rPr lang="en-US" sz="1250" dirty="0">
                <a:solidFill>
                  <a:srgbClr val="C7CDD6"/>
                </a:solidFill>
                <a:latin typeface="Inter" pitchFamily="34" charset="0"/>
                <a:ea typeface="Inter" pitchFamily="34" charset="-122"/>
                <a:cs typeface="Inter" pitchFamily="34" charset="-120"/>
              </a:rPr>
              <a:t>Modern software projects involve large, frequently changing codebases. Developers rely on code review to identify bugs, enforce quality standards, and maintain consistency — but manual review is time-consuming, inconsistent, and prone to missed issues as projects scale. Traditional rule-based tools detect some problems but rarely provide developer-friendly explanations or actionable suggestions.</a:t>
            </a:r>
            <a:endParaRPr lang="en-US" sz="1250" dirty="0"/>
          </a:p>
          <a:p>
            <a:pPr marL="0" indent="0" algn="l">
              <a:lnSpc>
                <a:spcPct val="131000"/>
              </a:lnSpc>
              <a:buNone/>
            </a:pPr>
            <a:r>
              <a:rPr lang="en-US" sz="1250" b="1" dirty="0">
                <a:solidFill>
                  <a:srgbClr val="C7CDD6"/>
                </a:solidFill>
                <a:latin typeface="Inter Bold" pitchFamily="34" charset="0"/>
                <a:ea typeface="Inter Bold" pitchFamily="34" charset="-122"/>
                <a:cs typeface="Inter Bold" pitchFamily="34" charset="-120"/>
              </a:rPr>
              <a:t>CodeInsight AI</a:t>
            </a:r>
            <a:r>
              <a:rPr lang="en-US" sz="1250" dirty="0">
                <a:solidFill>
                  <a:srgbClr val="C7CDD6"/>
                </a:solidFill>
                <a:latin typeface="Inter" pitchFamily="34" charset="0"/>
                <a:ea typeface="Inter" pitchFamily="34" charset="-122"/>
                <a:cs typeface="Inter" pitchFamily="34" charset="-120"/>
              </a:rPr>
              <a:t> is an AI-powered web application designed to assist developers by automating code review and bug detection.</a:t>
            </a:r>
            <a:endParaRPr lang="en-US" sz="1250" dirty="0"/>
          </a:p>
        </p:txBody>
      </p:sp>
      <p:pic>
        <p:nvPicPr>
          <p:cNvPr id="4" name="Image 0" descr="preencoded.png"/>
          <p:cNvPicPr>
            <a:picLocks noChangeAspect="1"/>
          </p:cNvPicPr>
          <p:nvPr/>
        </p:nvPicPr>
        <p:blipFill>
          <a:blip r:embed="rId3"/>
          <a:stretch>
            <a:fillRect/>
          </a:stretch>
        </p:blipFill>
        <p:spPr>
          <a:xfrm>
            <a:off x="661475" y="2552204"/>
            <a:ext cx="801072" cy="961330"/>
          </a:xfrm>
          <a:prstGeom prst="rect">
            <a:avLst/>
          </a:prstGeom>
        </p:spPr>
      </p:pic>
      <p:sp>
        <p:nvSpPr>
          <p:cNvPr id="5" name="Text 2"/>
          <p:cNvSpPr/>
          <p:nvPr/>
        </p:nvSpPr>
        <p:spPr>
          <a:xfrm>
            <a:off x="1617721" y="2712343"/>
            <a:ext cx="9912499" cy="250329"/>
          </a:xfrm>
          <a:prstGeom prst="rect">
            <a:avLst/>
          </a:prstGeom>
          <a:noFill/>
          <a:ln/>
        </p:spPr>
        <p:txBody>
          <a:bodyPr wrap="none" lIns="0" tIns="0" rIns="0" bIns="0" rtlCol="0" anchor="t"/>
          <a:lstStyle/>
          <a:p>
            <a:pPr marL="0" indent="0" algn="l">
              <a:lnSpc>
                <a:spcPct val="104000"/>
              </a:lnSpc>
              <a:buNone/>
            </a:pPr>
            <a:r>
              <a:rPr lang="en-US" sz="1550" dirty="0">
                <a:solidFill>
                  <a:srgbClr val="C7CDD6"/>
                </a:solidFill>
                <a:latin typeface="Instrument Sans Medium" pitchFamily="34" charset="0"/>
                <a:ea typeface="Instrument Sans Medium" pitchFamily="34" charset="-122"/>
                <a:cs typeface="Instrument Sans Medium" pitchFamily="34" charset="-120"/>
              </a:rPr>
              <a:t>Software Code</a:t>
            </a:r>
            <a:endParaRPr lang="en-US" sz="1550" dirty="0"/>
          </a:p>
        </p:txBody>
      </p:sp>
      <p:sp>
        <p:nvSpPr>
          <p:cNvPr id="6" name="Text 3"/>
          <p:cNvSpPr/>
          <p:nvPr/>
        </p:nvSpPr>
        <p:spPr>
          <a:xfrm>
            <a:off x="1617721" y="3055739"/>
            <a:ext cx="9912499" cy="252313"/>
          </a:xfrm>
          <a:prstGeom prst="rect">
            <a:avLst/>
          </a:prstGeom>
          <a:noFill/>
          <a:ln/>
        </p:spPr>
        <p:txBody>
          <a:bodyPr wrap="none" lIns="0" tIns="0" rIns="0" bIns="0" rtlCol="0" anchor="t"/>
          <a:lstStyle/>
          <a:p>
            <a:pPr marL="0" indent="0" algn="l">
              <a:lnSpc>
                <a:spcPct val="131000"/>
              </a:lnSpc>
              <a:buNone/>
            </a:pPr>
            <a:r>
              <a:rPr lang="en-US" sz="1250" dirty="0">
                <a:solidFill>
                  <a:srgbClr val="C7CDD6"/>
                </a:solidFill>
                <a:latin typeface="Inter" pitchFamily="34" charset="0"/>
                <a:ea typeface="Inter" pitchFamily="34" charset="-122"/>
                <a:cs typeface="Inter" pitchFamily="34" charset="-120"/>
              </a:rPr>
              <a:t>Large, evolving codebases requiring regular review</a:t>
            </a:r>
            <a:endParaRPr lang="en-US" sz="1250" dirty="0"/>
          </a:p>
        </p:txBody>
      </p:sp>
      <p:pic>
        <p:nvPicPr>
          <p:cNvPr id="7" name="Image 1" descr="preencoded.png"/>
          <p:cNvPicPr>
            <a:picLocks noChangeAspect="1"/>
          </p:cNvPicPr>
          <p:nvPr/>
        </p:nvPicPr>
        <p:blipFill>
          <a:blip r:embed="rId4"/>
          <a:stretch>
            <a:fillRect/>
          </a:stretch>
        </p:blipFill>
        <p:spPr>
          <a:xfrm>
            <a:off x="661475" y="3513534"/>
            <a:ext cx="801072" cy="961330"/>
          </a:xfrm>
          <a:prstGeom prst="rect">
            <a:avLst/>
          </a:prstGeom>
        </p:spPr>
      </p:pic>
      <p:sp>
        <p:nvSpPr>
          <p:cNvPr id="8" name="Text 4"/>
          <p:cNvSpPr/>
          <p:nvPr/>
        </p:nvSpPr>
        <p:spPr>
          <a:xfrm>
            <a:off x="1617721" y="3673673"/>
            <a:ext cx="9912499" cy="250329"/>
          </a:xfrm>
          <a:prstGeom prst="rect">
            <a:avLst/>
          </a:prstGeom>
          <a:noFill/>
          <a:ln/>
        </p:spPr>
        <p:txBody>
          <a:bodyPr wrap="none" lIns="0" tIns="0" rIns="0" bIns="0" rtlCol="0" anchor="t"/>
          <a:lstStyle/>
          <a:p>
            <a:pPr marL="0" indent="0" algn="l">
              <a:lnSpc>
                <a:spcPct val="104000"/>
              </a:lnSpc>
              <a:buNone/>
            </a:pPr>
            <a:r>
              <a:rPr lang="en-US" sz="1550" dirty="0">
                <a:solidFill>
                  <a:srgbClr val="C7CDD6"/>
                </a:solidFill>
                <a:latin typeface="Instrument Sans Medium" pitchFamily="34" charset="0"/>
                <a:ea typeface="Instrument Sans Medium" pitchFamily="34" charset="-122"/>
                <a:cs typeface="Instrument Sans Medium" pitchFamily="34" charset="-120"/>
              </a:rPr>
              <a:t>Code Review Challenges</a:t>
            </a:r>
            <a:endParaRPr lang="en-US" sz="1550" dirty="0"/>
          </a:p>
        </p:txBody>
      </p:sp>
      <p:sp>
        <p:nvSpPr>
          <p:cNvPr id="9" name="Text 5"/>
          <p:cNvSpPr/>
          <p:nvPr/>
        </p:nvSpPr>
        <p:spPr>
          <a:xfrm>
            <a:off x="1617721" y="4017070"/>
            <a:ext cx="9912499" cy="252313"/>
          </a:xfrm>
          <a:prstGeom prst="rect">
            <a:avLst/>
          </a:prstGeom>
          <a:noFill/>
          <a:ln/>
        </p:spPr>
        <p:txBody>
          <a:bodyPr wrap="none" lIns="0" tIns="0" rIns="0" bIns="0" rtlCol="0" anchor="t"/>
          <a:lstStyle/>
          <a:p>
            <a:pPr marL="0" indent="0" algn="l">
              <a:lnSpc>
                <a:spcPct val="131000"/>
              </a:lnSpc>
              <a:buNone/>
            </a:pPr>
            <a:r>
              <a:rPr lang="en-US" sz="1250" dirty="0">
                <a:solidFill>
                  <a:srgbClr val="C7CDD6"/>
                </a:solidFill>
                <a:latin typeface="Inter" pitchFamily="34" charset="0"/>
                <a:ea typeface="Inter" pitchFamily="34" charset="-122"/>
                <a:cs typeface="Inter" pitchFamily="34" charset="-120"/>
              </a:rPr>
              <a:t>Time-consuming, inconsistent, and missed issues</a:t>
            </a:r>
            <a:endParaRPr lang="en-US" sz="1250" dirty="0"/>
          </a:p>
        </p:txBody>
      </p:sp>
      <p:pic>
        <p:nvPicPr>
          <p:cNvPr id="10" name="Image 2" descr="preencoded.png"/>
          <p:cNvPicPr>
            <a:picLocks noChangeAspect="1"/>
          </p:cNvPicPr>
          <p:nvPr/>
        </p:nvPicPr>
        <p:blipFill>
          <a:blip r:embed="rId5"/>
          <a:stretch>
            <a:fillRect/>
          </a:stretch>
        </p:blipFill>
        <p:spPr>
          <a:xfrm>
            <a:off x="661475" y="4474865"/>
            <a:ext cx="801072" cy="961330"/>
          </a:xfrm>
          <a:prstGeom prst="rect">
            <a:avLst/>
          </a:prstGeom>
        </p:spPr>
      </p:pic>
      <p:sp>
        <p:nvSpPr>
          <p:cNvPr id="11" name="Text 6"/>
          <p:cNvSpPr/>
          <p:nvPr/>
        </p:nvSpPr>
        <p:spPr>
          <a:xfrm>
            <a:off x="1617721" y="4635004"/>
            <a:ext cx="9912499" cy="250329"/>
          </a:xfrm>
          <a:prstGeom prst="rect">
            <a:avLst/>
          </a:prstGeom>
          <a:noFill/>
          <a:ln/>
        </p:spPr>
        <p:txBody>
          <a:bodyPr wrap="none" lIns="0" tIns="0" rIns="0" bIns="0" rtlCol="0" anchor="t"/>
          <a:lstStyle/>
          <a:p>
            <a:pPr marL="0" indent="0" algn="l">
              <a:lnSpc>
                <a:spcPct val="104000"/>
              </a:lnSpc>
              <a:buNone/>
            </a:pPr>
            <a:r>
              <a:rPr lang="en-US" sz="1550" dirty="0">
                <a:solidFill>
                  <a:srgbClr val="C7CDD6"/>
                </a:solidFill>
                <a:latin typeface="Instrument Sans Medium" pitchFamily="34" charset="0"/>
                <a:ea typeface="Instrument Sans Medium" pitchFamily="34" charset="-122"/>
                <a:cs typeface="Instrument Sans Medium" pitchFamily="34" charset="-120"/>
              </a:rPr>
              <a:t>AI-Powered Analysis</a:t>
            </a:r>
            <a:endParaRPr lang="en-US" sz="1550" dirty="0"/>
          </a:p>
        </p:txBody>
      </p:sp>
      <p:sp>
        <p:nvSpPr>
          <p:cNvPr id="12" name="Text 7"/>
          <p:cNvSpPr/>
          <p:nvPr/>
        </p:nvSpPr>
        <p:spPr>
          <a:xfrm>
            <a:off x="1617721" y="4978400"/>
            <a:ext cx="9912499" cy="252313"/>
          </a:xfrm>
          <a:prstGeom prst="rect">
            <a:avLst/>
          </a:prstGeom>
          <a:noFill/>
          <a:ln/>
        </p:spPr>
        <p:txBody>
          <a:bodyPr wrap="none" lIns="0" tIns="0" rIns="0" bIns="0" rtlCol="0" anchor="t"/>
          <a:lstStyle/>
          <a:p>
            <a:pPr marL="0" indent="0" algn="l">
              <a:lnSpc>
                <a:spcPct val="131000"/>
              </a:lnSpc>
              <a:buNone/>
            </a:pPr>
            <a:r>
              <a:rPr lang="en-US" sz="1250" dirty="0">
                <a:solidFill>
                  <a:srgbClr val="C7CDD6"/>
                </a:solidFill>
                <a:latin typeface="Inter" pitchFamily="34" charset="0"/>
                <a:ea typeface="Inter" pitchFamily="34" charset="-122"/>
                <a:cs typeface="Inter" pitchFamily="34" charset="-120"/>
              </a:rPr>
              <a:t>Intelligent, automated code understanding</a:t>
            </a:r>
            <a:endParaRPr lang="en-US" sz="1250" dirty="0"/>
          </a:p>
        </p:txBody>
      </p:sp>
      <p:pic>
        <p:nvPicPr>
          <p:cNvPr id="13" name="Image 3" descr="preencoded.png"/>
          <p:cNvPicPr>
            <a:picLocks noChangeAspect="1"/>
          </p:cNvPicPr>
          <p:nvPr/>
        </p:nvPicPr>
        <p:blipFill>
          <a:blip r:embed="rId6"/>
          <a:stretch>
            <a:fillRect/>
          </a:stretch>
        </p:blipFill>
        <p:spPr>
          <a:xfrm>
            <a:off x="661475" y="5436195"/>
            <a:ext cx="801072" cy="961330"/>
          </a:xfrm>
          <a:prstGeom prst="rect">
            <a:avLst/>
          </a:prstGeom>
        </p:spPr>
      </p:pic>
      <p:sp>
        <p:nvSpPr>
          <p:cNvPr id="14" name="Text 8"/>
          <p:cNvSpPr/>
          <p:nvPr/>
        </p:nvSpPr>
        <p:spPr>
          <a:xfrm>
            <a:off x="1617721" y="5596334"/>
            <a:ext cx="9912499" cy="250329"/>
          </a:xfrm>
          <a:prstGeom prst="rect">
            <a:avLst/>
          </a:prstGeom>
          <a:noFill/>
          <a:ln/>
        </p:spPr>
        <p:txBody>
          <a:bodyPr wrap="none" lIns="0" tIns="0" rIns="0" bIns="0" rtlCol="0" anchor="t"/>
          <a:lstStyle/>
          <a:p>
            <a:pPr marL="0" indent="0" algn="l">
              <a:lnSpc>
                <a:spcPct val="104000"/>
              </a:lnSpc>
              <a:buNone/>
            </a:pPr>
            <a:r>
              <a:rPr lang="en-US" sz="1550" dirty="0">
                <a:solidFill>
                  <a:srgbClr val="C7CDD6"/>
                </a:solidFill>
                <a:latin typeface="Instrument Sans Medium" pitchFamily="34" charset="0"/>
                <a:ea typeface="Instrument Sans Medium" pitchFamily="34" charset="-122"/>
                <a:cs typeface="Instrument Sans Medium" pitchFamily="34" charset="-120"/>
              </a:rPr>
              <a:t>Actionable Code Review</a:t>
            </a:r>
            <a:endParaRPr lang="en-US" sz="1550" dirty="0"/>
          </a:p>
        </p:txBody>
      </p:sp>
      <p:sp>
        <p:nvSpPr>
          <p:cNvPr id="15" name="Text 9"/>
          <p:cNvSpPr/>
          <p:nvPr/>
        </p:nvSpPr>
        <p:spPr>
          <a:xfrm>
            <a:off x="1617721" y="5939730"/>
            <a:ext cx="9912499" cy="252313"/>
          </a:xfrm>
          <a:prstGeom prst="rect">
            <a:avLst/>
          </a:prstGeom>
          <a:noFill/>
          <a:ln/>
        </p:spPr>
        <p:txBody>
          <a:bodyPr wrap="none" lIns="0" tIns="0" rIns="0" bIns="0" rtlCol="0" anchor="t"/>
          <a:lstStyle/>
          <a:p>
            <a:pPr marL="0" indent="0" algn="l">
              <a:lnSpc>
                <a:spcPct val="131000"/>
              </a:lnSpc>
              <a:buNone/>
            </a:pPr>
            <a:r>
              <a:rPr lang="en-US" sz="1250" dirty="0">
                <a:solidFill>
                  <a:srgbClr val="C7CDD6"/>
                </a:solidFill>
                <a:latin typeface="Inter" pitchFamily="34" charset="0"/>
                <a:ea typeface="Inter" pitchFamily="34" charset="-122"/>
                <a:cs typeface="Inter" pitchFamily="34" charset="-120"/>
              </a:rPr>
              <a:t>Understandable feedback and improvement suggestions</a:t>
            </a:r>
            <a:endParaRPr lang="en-US" sz="1250" dirty="0"/>
          </a:p>
        </p:txBody>
      </p:sp>
      <p:sp>
        <p:nvSpPr>
          <p:cNvPr id="16" name="Rectangle 15">
            <a:extLst>
              <a:ext uri="{FF2B5EF4-FFF2-40B4-BE49-F238E27FC236}">
                <a16:creationId xmlns:a16="http://schemas.microsoft.com/office/drawing/2014/main" id="{835D3BA0-C1E1-96A5-A3EE-A3516F8EEC84}"/>
              </a:ext>
            </a:extLst>
          </p:cNvPr>
          <p:cNvSpPr/>
          <p:nvPr/>
        </p:nvSpPr>
        <p:spPr>
          <a:xfrm>
            <a:off x="10945906" y="6364941"/>
            <a:ext cx="1246094" cy="430306"/>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492621"/>
            <a:ext cx="842941" cy="235446"/>
          </a:xfrm>
          <a:prstGeom prst="roundRect">
            <a:avLst>
              <a:gd name="adj" fmla="val 7903"/>
            </a:avLst>
          </a:prstGeom>
          <a:noFill/>
          <a:ln w="6350">
            <a:solidFill>
              <a:srgbClr val="FDC4C4"/>
            </a:solidFill>
            <a:prstDash val="solid"/>
          </a:ln>
        </p:spPr>
      </p:sp>
      <p:sp>
        <p:nvSpPr>
          <p:cNvPr id="3" name="Text 1"/>
          <p:cNvSpPr/>
          <p:nvPr/>
        </p:nvSpPr>
        <p:spPr>
          <a:xfrm>
            <a:off x="754441" y="539055"/>
            <a:ext cx="1266595" cy="142577"/>
          </a:xfrm>
          <a:prstGeom prst="rect">
            <a:avLst/>
          </a:prstGeom>
          <a:noFill/>
          <a:ln/>
        </p:spPr>
        <p:txBody>
          <a:bodyPr wrap="none" lIns="0" tIns="0" rIns="0" bIns="0" rtlCol="0" anchor="t"/>
          <a:lstStyle/>
          <a:p>
            <a:pPr marL="0" indent="0" algn="l">
              <a:lnSpc>
                <a:spcPct val="96000"/>
              </a:lnSpc>
              <a:buNone/>
            </a:pPr>
            <a:r>
              <a:rPr lang="en-US" sz="950" dirty="0">
                <a:solidFill>
                  <a:srgbClr val="FDC4C4"/>
                </a:solidFill>
                <a:latin typeface="Inter" pitchFamily="34" charset="0"/>
                <a:ea typeface="Inter" pitchFamily="34" charset="-122"/>
                <a:cs typeface="Inter" pitchFamily="34" charset="-120"/>
              </a:rPr>
              <a:t>ABSTRACT</a:t>
            </a:r>
            <a:endParaRPr lang="en-US" sz="950" dirty="0"/>
          </a:p>
        </p:txBody>
      </p:sp>
      <p:sp>
        <p:nvSpPr>
          <p:cNvPr id="4" name="Text 2"/>
          <p:cNvSpPr/>
          <p:nvPr/>
        </p:nvSpPr>
        <p:spPr>
          <a:xfrm>
            <a:off x="661475" y="786209"/>
            <a:ext cx="10868745" cy="484485"/>
          </a:xfrm>
          <a:prstGeom prst="rect">
            <a:avLst/>
          </a:prstGeom>
          <a:noFill/>
          <a:ln/>
        </p:spPr>
        <p:txBody>
          <a:bodyPr wrap="none" lIns="0" tIns="0" rIns="0" bIns="0" rtlCol="0" anchor="t"/>
          <a:lstStyle/>
          <a:p>
            <a:pPr marL="0" indent="0" algn="l">
              <a:lnSpc>
                <a:spcPct val="104000"/>
              </a:lnSpc>
              <a:buNone/>
            </a:pPr>
            <a:r>
              <a:rPr lang="en-US" sz="3050" dirty="0">
                <a:solidFill>
                  <a:srgbClr val="EFD5FA"/>
                </a:solidFill>
                <a:latin typeface="Instrument Sans Medium" pitchFamily="34" charset="0"/>
                <a:ea typeface="Instrument Sans Medium" pitchFamily="34" charset="-122"/>
                <a:cs typeface="Instrument Sans Medium" pitchFamily="34" charset="-120"/>
              </a:rPr>
              <a:t>Abstract</a:t>
            </a:r>
            <a:endParaRPr lang="en-US" sz="3050" dirty="0"/>
          </a:p>
        </p:txBody>
      </p:sp>
      <p:sp>
        <p:nvSpPr>
          <p:cNvPr id="5" name="Text 3"/>
          <p:cNvSpPr/>
          <p:nvPr/>
        </p:nvSpPr>
        <p:spPr>
          <a:xfrm>
            <a:off x="661475" y="1488678"/>
            <a:ext cx="10868745" cy="961231"/>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C7CDD6"/>
                </a:solidFill>
                <a:latin typeface="Inter" pitchFamily="34" charset="0"/>
                <a:ea typeface="Inter" pitchFamily="34" charset="-122"/>
                <a:cs typeface="Inter" pitchFamily="34" charset="-120"/>
              </a:rPr>
              <a:t>CodeInsight AI is an AI-powered web application that assists developers with source code review, bug detection, and code quality analysis. Users upload code or connect a GitHub repository; the backend processes submissions through the Gemini AI API, which identifies bugs, coding issues, and improvement areas. The system generates AI suggestions, a code quality score, and a review summary. Results are stored in SQLite and displayed on a review dashboard with access to previous analyses.</a:t>
            </a:r>
            <a:endParaRPr lang="en-US" sz="1200" dirty="0"/>
          </a:p>
        </p:txBody>
      </p:sp>
      <p:sp>
        <p:nvSpPr>
          <p:cNvPr id="6" name="Text 4"/>
          <p:cNvSpPr/>
          <p:nvPr/>
        </p:nvSpPr>
        <p:spPr>
          <a:xfrm>
            <a:off x="661475" y="2613422"/>
            <a:ext cx="310051" cy="193774"/>
          </a:xfrm>
          <a:prstGeom prst="rect">
            <a:avLst/>
          </a:prstGeom>
          <a:noFill/>
          <a:ln/>
        </p:spPr>
        <p:txBody>
          <a:bodyPr wrap="none" lIns="0" tIns="0" rIns="0" bIns="0" rtlCol="0" anchor="ctr"/>
          <a:lstStyle/>
          <a:p>
            <a:pPr marL="0" indent="0" algn="l">
              <a:lnSpc>
                <a:spcPct val="100000"/>
              </a:lnSpc>
              <a:buNone/>
            </a:pPr>
            <a:r>
              <a:rPr lang="en-US" sz="1200" dirty="0">
                <a:solidFill>
                  <a:srgbClr val="C7CDD6"/>
                </a:solidFill>
                <a:latin typeface="Instrument Sans" pitchFamily="34" charset="0"/>
                <a:ea typeface="Instrument Sans" pitchFamily="34" charset="-122"/>
                <a:cs typeface="Instrument Sans" pitchFamily="34" charset="-120"/>
              </a:rPr>
              <a:t>01</a:t>
            </a:r>
            <a:endParaRPr lang="en-US" sz="1200" dirty="0"/>
          </a:p>
        </p:txBody>
      </p:sp>
      <p:sp>
        <p:nvSpPr>
          <p:cNvPr id="7" name="Shape 5"/>
          <p:cNvSpPr/>
          <p:nvPr/>
        </p:nvSpPr>
        <p:spPr>
          <a:xfrm>
            <a:off x="661475" y="2857798"/>
            <a:ext cx="5361647" cy="19050"/>
          </a:xfrm>
          <a:prstGeom prst="rect">
            <a:avLst/>
          </a:prstGeom>
          <a:solidFill>
            <a:srgbClr val="FDC4C4"/>
          </a:solidFill>
          <a:ln/>
        </p:spPr>
      </p:sp>
      <p:sp>
        <p:nvSpPr>
          <p:cNvPr id="8" name="Text 6"/>
          <p:cNvSpPr/>
          <p:nvPr/>
        </p:nvSpPr>
        <p:spPr>
          <a:xfrm>
            <a:off x="661475" y="2973388"/>
            <a:ext cx="5361647" cy="242193"/>
          </a:xfrm>
          <a:prstGeom prst="rect">
            <a:avLst/>
          </a:prstGeom>
          <a:noFill/>
          <a:ln/>
        </p:spPr>
        <p:txBody>
          <a:bodyPr wrap="none" lIns="0" tIns="0" rIns="0" bIns="0" rtlCol="0" anchor="t"/>
          <a:lstStyle/>
          <a:p>
            <a:pPr marL="0" indent="0" algn="l">
              <a:lnSpc>
                <a:spcPct val="104000"/>
              </a:lnSpc>
              <a:buNone/>
            </a:pPr>
            <a:r>
              <a:rPr lang="en-US" sz="1500" dirty="0">
                <a:solidFill>
                  <a:srgbClr val="C7CDD6"/>
                </a:solidFill>
                <a:latin typeface="Instrument Sans Medium" pitchFamily="34" charset="0"/>
                <a:ea typeface="Instrument Sans Medium" pitchFamily="34" charset="-122"/>
                <a:cs typeface="Instrument Sans Medium" pitchFamily="34" charset="-120"/>
              </a:rPr>
              <a:t>Code Input</a:t>
            </a:r>
            <a:endParaRPr lang="en-US" sz="1500" dirty="0"/>
          </a:p>
        </p:txBody>
      </p:sp>
      <p:sp>
        <p:nvSpPr>
          <p:cNvPr id="9" name="Text 7"/>
          <p:cNvSpPr/>
          <p:nvPr/>
        </p:nvSpPr>
        <p:spPr>
          <a:xfrm>
            <a:off x="661475" y="3302794"/>
            <a:ext cx="5361647" cy="240308"/>
          </a:xfrm>
          <a:prstGeom prst="rect">
            <a:avLst/>
          </a:prstGeom>
          <a:noFill/>
          <a:ln/>
        </p:spPr>
        <p:txBody>
          <a:bodyPr wrap="none" lIns="0" tIns="0" rIns="0" bIns="0" rtlCol="0" anchor="t"/>
          <a:lstStyle/>
          <a:p>
            <a:pPr marL="0" indent="0" algn="l">
              <a:lnSpc>
                <a:spcPct val="129000"/>
              </a:lnSpc>
              <a:buNone/>
            </a:pPr>
            <a:r>
              <a:rPr lang="en-US" sz="1200" dirty="0">
                <a:solidFill>
                  <a:srgbClr val="C7CDD6"/>
                </a:solidFill>
                <a:latin typeface="Inter" pitchFamily="34" charset="0"/>
                <a:ea typeface="Inter" pitchFamily="34" charset="-122"/>
                <a:cs typeface="Inter" pitchFamily="34" charset="-120"/>
              </a:rPr>
              <a:t>Upload source code or connect a GitHub repository</a:t>
            </a:r>
            <a:endParaRPr lang="en-US" sz="1200" dirty="0"/>
          </a:p>
        </p:txBody>
      </p:sp>
      <p:sp>
        <p:nvSpPr>
          <p:cNvPr id="10" name="Text 8"/>
          <p:cNvSpPr/>
          <p:nvPr/>
        </p:nvSpPr>
        <p:spPr>
          <a:xfrm>
            <a:off x="6168474" y="2613422"/>
            <a:ext cx="310051" cy="193774"/>
          </a:xfrm>
          <a:prstGeom prst="rect">
            <a:avLst/>
          </a:prstGeom>
          <a:noFill/>
          <a:ln/>
        </p:spPr>
        <p:txBody>
          <a:bodyPr wrap="none" lIns="0" tIns="0" rIns="0" bIns="0" rtlCol="0" anchor="ctr"/>
          <a:lstStyle/>
          <a:p>
            <a:pPr marL="0" indent="0" algn="l">
              <a:lnSpc>
                <a:spcPct val="100000"/>
              </a:lnSpc>
              <a:buNone/>
            </a:pPr>
            <a:r>
              <a:rPr lang="en-US" sz="1200" dirty="0">
                <a:solidFill>
                  <a:srgbClr val="C7CDD6"/>
                </a:solidFill>
                <a:latin typeface="Instrument Sans" pitchFamily="34" charset="0"/>
                <a:ea typeface="Instrument Sans" pitchFamily="34" charset="-122"/>
                <a:cs typeface="Instrument Sans" pitchFamily="34" charset="-120"/>
              </a:rPr>
              <a:t>02</a:t>
            </a:r>
            <a:endParaRPr lang="en-US" sz="1200" dirty="0"/>
          </a:p>
        </p:txBody>
      </p:sp>
      <p:sp>
        <p:nvSpPr>
          <p:cNvPr id="11" name="Shape 9"/>
          <p:cNvSpPr/>
          <p:nvPr/>
        </p:nvSpPr>
        <p:spPr>
          <a:xfrm>
            <a:off x="6168474" y="2857798"/>
            <a:ext cx="5361746" cy="19050"/>
          </a:xfrm>
          <a:prstGeom prst="rect">
            <a:avLst/>
          </a:prstGeom>
          <a:solidFill>
            <a:srgbClr val="FDC4C4"/>
          </a:solidFill>
          <a:ln/>
        </p:spPr>
      </p:sp>
      <p:sp>
        <p:nvSpPr>
          <p:cNvPr id="12" name="Text 10"/>
          <p:cNvSpPr/>
          <p:nvPr/>
        </p:nvSpPr>
        <p:spPr>
          <a:xfrm>
            <a:off x="6168474" y="2973388"/>
            <a:ext cx="5361746" cy="242193"/>
          </a:xfrm>
          <a:prstGeom prst="rect">
            <a:avLst/>
          </a:prstGeom>
          <a:noFill/>
          <a:ln/>
        </p:spPr>
        <p:txBody>
          <a:bodyPr wrap="none" lIns="0" tIns="0" rIns="0" bIns="0" rtlCol="0" anchor="t"/>
          <a:lstStyle/>
          <a:p>
            <a:pPr marL="0" indent="0" algn="l">
              <a:lnSpc>
                <a:spcPct val="104000"/>
              </a:lnSpc>
              <a:buNone/>
            </a:pPr>
            <a:r>
              <a:rPr lang="en-US" sz="1500" dirty="0">
                <a:solidFill>
                  <a:srgbClr val="C7CDD6"/>
                </a:solidFill>
                <a:latin typeface="Instrument Sans Medium" pitchFamily="34" charset="0"/>
                <a:ea typeface="Instrument Sans Medium" pitchFamily="34" charset="-122"/>
                <a:cs typeface="Instrument Sans Medium" pitchFamily="34" charset="-120"/>
              </a:rPr>
              <a:t>Backend Processing</a:t>
            </a:r>
            <a:endParaRPr lang="en-US" sz="1500" dirty="0"/>
          </a:p>
        </p:txBody>
      </p:sp>
      <p:sp>
        <p:nvSpPr>
          <p:cNvPr id="13" name="Text 11"/>
          <p:cNvSpPr/>
          <p:nvPr/>
        </p:nvSpPr>
        <p:spPr>
          <a:xfrm>
            <a:off x="6168474" y="3302794"/>
            <a:ext cx="5361746" cy="240308"/>
          </a:xfrm>
          <a:prstGeom prst="rect">
            <a:avLst/>
          </a:prstGeom>
          <a:noFill/>
          <a:ln/>
        </p:spPr>
        <p:txBody>
          <a:bodyPr wrap="none" lIns="0" tIns="0" rIns="0" bIns="0" rtlCol="0" anchor="t"/>
          <a:lstStyle/>
          <a:p>
            <a:pPr marL="0" indent="0" algn="l">
              <a:lnSpc>
                <a:spcPct val="129000"/>
              </a:lnSpc>
              <a:buNone/>
            </a:pPr>
            <a:r>
              <a:rPr lang="en-US" sz="1200" dirty="0">
                <a:solidFill>
                  <a:srgbClr val="C7CDD6"/>
                </a:solidFill>
                <a:latin typeface="Inter" pitchFamily="34" charset="0"/>
                <a:ea typeface="Inter" pitchFamily="34" charset="-122"/>
                <a:cs typeface="Inter" pitchFamily="34" charset="-120"/>
              </a:rPr>
              <a:t>FastAPI/Python backend receives and prepares code for analysis</a:t>
            </a:r>
            <a:endParaRPr lang="en-US" sz="1200" dirty="0"/>
          </a:p>
        </p:txBody>
      </p:sp>
      <p:sp>
        <p:nvSpPr>
          <p:cNvPr id="14" name="Text 12"/>
          <p:cNvSpPr/>
          <p:nvPr/>
        </p:nvSpPr>
        <p:spPr>
          <a:xfrm>
            <a:off x="661475" y="3804741"/>
            <a:ext cx="310051" cy="193774"/>
          </a:xfrm>
          <a:prstGeom prst="rect">
            <a:avLst/>
          </a:prstGeom>
          <a:noFill/>
          <a:ln/>
        </p:spPr>
        <p:txBody>
          <a:bodyPr wrap="none" lIns="0" tIns="0" rIns="0" bIns="0" rtlCol="0" anchor="ctr"/>
          <a:lstStyle/>
          <a:p>
            <a:pPr marL="0" indent="0" algn="l">
              <a:lnSpc>
                <a:spcPct val="100000"/>
              </a:lnSpc>
              <a:buNone/>
            </a:pPr>
            <a:r>
              <a:rPr lang="en-US" sz="1200" dirty="0">
                <a:solidFill>
                  <a:srgbClr val="C7CDD6"/>
                </a:solidFill>
                <a:latin typeface="Instrument Sans" pitchFamily="34" charset="0"/>
                <a:ea typeface="Instrument Sans" pitchFamily="34" charset="-122"/>
                <a:cs typeface="Instrument Sans" pitchFamily="34" charset="-120"/>
              </a:rPr>
              <a:t>03</a:t>
            </a:r>
            <a:endParaRPr lang="en-US" sz="1200" dirty="0"/>
          </a:p>
        </p:txBody>
      </p:sp>
      <p:sp>
        <p:nvSpPr>
          <p:cNvPr id="15" name="Shape 13"/>
          <p:cNvSpPr/>
          <p:nvPr/>
        </p:nvSpPr>
        <p:spPr>
          <a:xfrm>
            <a:off x="661475" y="4049117"/>
            <a:ext cx="5361647" cy="19050"/>
          </a:xfrm>
          <a:prstGeom prst="rect">
            <a:avLst/>
          </a:prstGeom>
          <a:solidFill>
            <a:srgbClr val="FDC4C4"/>
          </a:solidFill>
          <a:ln/>
        </p:spPr>
      </p:sp>
      <p:sp>
        <p:nvSpPr>
          <p:cNvPr id="16" name="Text 14"/>
          <p:cNvSpPr/>
          <p:nvPr/>
        </p:nvSpPr>
        <p:spPr>
          <a:xfrm>
            <a:off x="661475" y="4164707"/>
            <a:ext cx="5361647" cy="242193"/>
          </a:xfrm>
          <a:prstGeom prst="rect">
            <a:avLst/>
          </a:prstGeom>
          <a:noFill/>
          <a:ln/>
        </p:spPr>
        <p:txBody>
          <a:bodyPr wrap="none" lIns="0" tIns="0" rIns="0" bIns="0" rtlCol="0" anchor="t"/>
          <a:lstStyle/>
          <a:p>
            <a:pPr marL="0" indent="0" algn="l">
              <a:lnSpc>
                <a:spcPct val="104000"/>
              </a:lnSpc>
              <a:buNone/>
            </a:pPr>
            <a:r>
              <a:rPr lang="en-US" sz="1500" dirty="0">
                <a:solidFill>
                  <a:srgbClr val="C7CDD6"/>
                </a:solidFill>
                <a:latin typeface="Instrument Sans Medium" pitchFamily="34" charset="0"/>
                <a:ea typeface="Instrument Sans Medium" pitchFamily="34" charset="-122"/>
                <a:cs typeface="Instrument Sans Medium" pitchFamily="34" charset="-120"/>
              </a:rPr>
              <a:t>AI Code Analysis</a:t>
            </a:r>
            <a:endParaRPr lang="en-US" sz="1500" dirty="0"/>
          </a:p>
        </p:txBody>
      </p:sp>
      <p:sp>
        <p:nvSpPr>
          <p:cNvPr id="17" name="Text 15"/>
          <p:cNvSpPr/>
          <p:nvPr/>
        </p:nvSpPr>
        <p:spPr>
          <a:xfrm>
            <a:off x="661475" y="4494113"/>
            <a:ext cx="5361647" cy="240308"/>
          </a:xfrm>
          <a:prstGeom prst="rect">
            <a:avLst/>
          </a:prstGeom>
          <a:noFill/>
          <a:ln/>
        </p:spPr>
        <p:txBody>
          <a:bodyPr wrap="none" lIns="0" tIns="0" rIns="0" bIns="0" rtlCol="0" anchor="t"/>
          <a:lstStyle/>
          <a:p>
            <a:pPr marL="0" indent="0" algn="l">
              <a:lnSpc>
                <a:spcPct val="129000"/>
              </a:lnSpc>
              <a:buNone/>
            </a:pPr>
            <a:r>
              <a:rPr lang="en-US" sz="1200" dirty="0">
                <a:solidFill>
                  <a:srgbClr val="C7CDD6"/>
                </a:solidFill>
                <a:latin typeface="Inter" pitchFamily="34" charset="0"/>
                <a:ea typeface="Inter" pitchFamily="34" charset="-122"/>
                <a:cs typeface="Inter" pitchFamily="34" charset="-120"/>
              </a:rPr>
              <a:t>Gemini AI API analyzes code for bugs, issues, and quality</a:t>
            </a:r>
            <a:endParaRPr lang="en-US" sz="1200" dirty="0"/>
          </a:p>
        </p:txBody>
      </p:sp>
      <p:sp>
        <p:nvSpPr>
          <p:cNvPr id="18" name="Text 16"/>
          <p:cNvSpPr/>
          <p:nvPr/>
        </p:nvSpPr>
        <p:spPr>
          <a:xfrm>
            <a:off x="6168474" y="3804741"/>
            <a:ext cx="310051" cy="193774"/>
          </a:xfrm>
          <a:prstGeom prst="rect">
            <a:avLst/>
          </a:prstGeom>
          <a:noFill/>
          <a:ln/>
        </p:spPr>
        <p:txBody>
          <a:bodyPr wrap="none" lIns="0" tIns="0" rIns="0" bIns="0" rtlCol="0" anchor="ctr"/>
          <a:lstStyle/>
          <a:p>
            <a:pPr marL="0" indent="0" algn="l">
              <a:lnSpc>
                <a:spcPct val="100000"/>
              </a:lnSpc>
              <a:buNone/>
            </a:pPr>
            <a:r>
              <a:rPr lang="en-US" sz="1200" dirty="0">
                <a:solidFill>
                  <a:srgbClr val="C7CDD6"/>
                </a:solidFill>
                <a:latin typeface="Instrument Sans" pitchFamily="34" charset="0"/>
                <a:ea typeface="Instrument Sans" pitchFamily="34" charset="-122"/>
                <a:cs typeface="Instrument Sans" pitchFamily="34" charset="-120"/>
              </a:rPr>
              <a:t>04</a:t>
            </a:r>
            <a:endParaRPr lang="en-US" sz="1200" dirty="0"/>
          </a:p>
        </p:txBody>
      </p:sp>
      <p:sp>
        <p:nvSpPr>
          <p:cNvPr id="19" name="Shape 17"/>
          <p:cNvSpPr/>
          <p:nvPr/>
        </p:nvSpPr>
        <p:spPr>
          <a:xfrm>
            <a:off x="6168474" y="4049117"/>
            <a:ext cx="5361746" cy="19050"/>
          </a:xfrm>
          <a:prstGeom prst="rect">
            <a:avLst/>
          </a:prstGeom>
          <a:solidFill>
            <a:srgbClr val="FDC4C4"/>
          </a:solidFill>
          <a:ln/>
        </p:spPr>
      </p:sp>
      <p:sp>
        <p:nvSpPr>
          <p:cNvPr id="20" name="Text 18"/>
          <p:cNvSpPr/>
          <p:nvPr/>
        </p:nvSpPr>
        <p:spPr>
          <a:xfrm>
            <a:off x="6168474" y="4164707"/>
            <a:ext cx="5361746" cy="242193"/>
          </a:xfrm>
          <a:prstGeom prst="rect">
            <a:avLst/>
          </a:prstGeom>
          <a:noFill/>
          <a:ln/>
        </p:spPr>
        <p:txBody>
          <a:bodyPr wrap="none" lIns="0" tIns="0" rIns="0" bIns="0" rtlCol="0" anchor="t"/>
          <a:lstStyle/>
          <a:p>
            <a:pPr marL="0" indent="0" algn="l">
              <a:lnSpc>
                <a:spcPct val="104000"/>
              </a:lnSpc>
              <a:buNone/>
            </a:pPr>
            <a:r>
              <a:rPr lang="en-US" sz="1500" dirty="0">
                <a:solidFill>
                  <a:srgbClr val="C7CDD6"/>
                </a:solidFill>
                <a:latin typeface="Instrument Sans Medium" pitchFamily="34" charset="0"/>
                <a:ea typeface="Instrument Sans Medium" pitchFamily="34" charset="-122"/>
                <a:cs typeface="Instrument Sans Medium" pitchFamily="34" charset="-120"/>
              </a:rPr>
              <a:t>Results &amp; Dashboard</a:t>
            </a:r>
            <a:endParaRPr lang="en-US" sz="1500" dirty="0"/>
          </a:p>
        </p:txBody>
      </p:sp>
      <p:sp>
        <p:nvSpPr>
          <p:cNvPr id="21" name="Text 19"/>
          <p:cNvSpPr/>
          <p:nvPr/>
        </p:nvSpPr>
        <p:spPr>
          <a:xfrm>
            <a:off x="6168474" y="4494113"/>
            <a:ext cx="5361746" cy="240308"/>
          </a:xfrm>
          <a:prstGeom prst="rect">
            <a:avLst/>
          </a:prstGeom>
          <a:noFill/>
          <a:ln/>
        </p:spPr>
        <p:txBody>
          <a:bodyPr wrap="none" lIns="0" tIns="0" rIns="0" bIns="0" rtlCol="0" anchor="t"/>
          <a:lstStyle/>
          <a:p>
            <a:pPr marL="0" indent="0" algn="l">
              <a:lnSpc>
                <a:spcPct val="129000"/>
              </a:lnSpc>
              <a:buNone/>
            </a:pPr>
            <a:r>
              <a:rPr lang="en-US" sz="1200" dirty="0">
                <a:solidFill>
                  <a:srgbClr val="C7CDD6"/>
                </a:solidFill>
                <a:latin typeface="Inter" pitchFamily="34" charset="0"/>
                <a:ea typeface="Inter" pitchFamily="34" charset="-122"/>
                <a:cs typeface="Inter" pitchFamily="34" charset="-120"/>
              </a:rPr>
              <a:t>Suggestions, quality score, and review summary stored and displayed</a:t>
            </a:r>
            <a:endParaRPr lang="en-US" sz="1200" dirty="0"/>
          </a:p>
        </p:txBody>
      </p:sp>
      <p:sp>
        <p:nvSpPr>
          <p:cNvPr id="22" name="Shape 20"/>
          <p:cNvSpPr/>
          <p:nvPr/>
        </p:nvSpPr>
        <p:spPr>
          <a:xfrm>
            <a:off x="661475" y="5014218"/>
            <a:ext cx="10868745" cy="593824"/>
          </a:xfrm>
          <a:prstGeom prst="roundRect">
            <a:avLst>
              <a:gd name="adj" fmla="val 3917"/>
            </a:avLst>
          </a:prstGeom>
          <a:solidFill>
            <a:srgbClr val="7B0404"/>
          </a:solidFill>
          <a:ln/>
        </p:spPr>
      </p:sp>
      <p:pic>
        <p:nvPicPr>
          <p:cNvPr id="23" name="Image 0" descr="preencoded.png"/>
          <p:cNvPicPr>
            <a:picLocks noChangeAspect="1"/>
          </p:cNvPicPr>
          <p:nvPr/>
        </p:nvPicPr>
        <p:blipFill>
          <a:blip r:embed="rId3"/>
          <a:stretch>
            <a:fillRect/>
          </a:stretch>
        </p:blipFill>
        <p:spPr>
          <a:xfrm>
            <a:off x="816451" y="5221387"/>
            <a:ext cx="193769" cy="154980"/>
          </a:xfrm>
          <a:prstGeom prst="rect">
            <a:avLst/>
          </a:prstGeom>
        </p:spPr>
      </p:pic>
      <p:sp>
        <p:nvSpPr>
          <p:cNvPr id="24" name="Text 21"/>
          <p:cNvSpPr/>
          <p:nvPr/>
        </p:nvSpPr>
        <p:spPr>
          <a:xfrm>
            <a:off x="1165196" y="5198269"/>
            <a:ext cx="10819633" cy="240308"/>
          </a:xfrm>
          <a:prstGeom prst="rect">
            <a:avLst/>
          </a:prstGeom>
          <a:noFill/>
          <a:ln/>
        </p:spPr>
        <p:txBody>
          <a:bodyPr wrap="none" lIns="0" tIns="0" rIns="0" bIns="0" rtlCol="0" anchor="t"/>
          <a:lstStyle/>
          <a:p>
            <a:pPr marL="0" indent="0" algn="l">
              <a:lnSpc>
                <a:spcPct val="129000"/>
              </a:lnSpc>
              <a:buNone/>
            </a:pPr>
            <a:r>
              <a:rPr lang="en-US" sz="1200" b="1" dirty="0">
                <a:solidFill>
                  <a:srgbClr val="FFFFFF"/>
                </a:solidFill>
                <a:latin typeface="Inter Bold" pitchFamily="34" charset="0"/>
                <a:ea typeface="Inter Bold" pitchFamily="34" charset="-122"/>
                <a:cs typeface="Inter Bold" pitchFamily="34" charset="-120"/>
              </a:rPr>
              <a:t>Technologies:</a:t>
            </a:r>
            <a:r>
              <a:rPr lang="en-US" sz="1200" dirty="0">
                <a:solidFill>
                  <a:srgbClr val="FFFFFF"/>
                </a:solidFill>
                <a:latin typeface="Inter" pitchFamily="34" charset="0"/>
                <a:ea typeface="Inter" pitchFamily="34" charset="-122"/>
                <a:cs typeface="Inter" pitchFamily="34" charset="-120"/>
              </a:rPr>
              <a:t> React.js · FastAPI/Python · SQLite · Gemini AI API · GitHub API</a:t>
            </a:r>
            <a:endParaRPr lang="en-US" sz="1200" dirty="0"/>
          </a:p>
        </p:txBody>
      </p:sp>
      <p:sp>
        <p:nvSpPr>
          <p:cNvPr id="25" name="Shape 22"/>
          <p:cNvSpPr/>
          <p:nvPr/>
        </p:nvSpPr>
        <p:spPr>
          <a:xfrm>
            <a:off x="661475" y="5771555"/>
            <a:ext cx="10868745" cy="593824"/>
          </a:xfrm>
          <a:prstGeom prst="roundRect">
            <a:avLst>
              <a:gd name="adj" fmla="val 3917"/>
            </a:avLst>
          </a:prstGeom>
          <a:solidFill>
            <a:srgbClr val="7B0404"/>
          </a:solidFill>
          <a:ln/>
        </p:spPr>
      </p:sp>
      <p:pic>
        <p:nvPicPr>
          <p:cNvPr id="26" name="Image 1" descr="preencoded.png"/>
          <p:cNvPicPr>
            <a:picLocks noChangeAspect="1"/>
          </p:cNvPicPr>
          <p:nvPr/>
        </p:nvPicPr>
        <p:blipFill>
          <a:blip r:embed="rId3"/>
          <a:stretch>
            <a:fillRect/>
          </a:stretch>
        </p:blipFill>
        <p:spPr>
          <a:xfrm>
            <a:off x="816451" y="5978723"/>
            <a:ext cx="193769" cy="154980"/>
          </a:xfrm>
          <a:prstGeom prst="rect">
            <a:avLst/>
          </a:prstGeom>
        </p:spPr>
      </p:pic>
      <p:sp>
        <p:nvSpPr>
          <p:cNvPr id="27" name="Text 23"/>
          <p:cNvSpPr/>
          <p:nvPr/>
        </p:nvSpPr>
        <p:spPr>
          <a:xfrm>
            <a:off x="1165196" y="5955605"/>
            <a:ext cx="10819633" cy="240308"/>
          </a:xfrm>
          <a:prstGeom prst="rect">
            <a:avLst/>
          </a:prstGeom>
          <a:noFill/>
          <a:ln/>
        </p:spPr>
        <p:txBody>
          <a:bodyPr wrap="none" lIns="0" tIns="0" rIns="0" bIns="0" rtlCol="0" anchor="t"/>
          <a:lstStyle/>
          <a:p>
            <a:pPr marL="0" indent="0" algn="l">
              <a:lnSpc>
                <a:spcPct val="129000"/>
              </a:lnSpc>
              <a:buNone/>
            </a:pPr>
            <a:r>
              <a:rPr lang="en-US" sz="1200" b="1" dirty="0">
                <a:solidFill>
                  <a:srgbClr val="FFFFFF"/>
                </a:solidFill>
                <a:latin typeface="Inter Bold" pitchFamily="34" charset="0"/>
                <a:ea typeface="Inter Bold" pitchFamily="34" charset="-122"/>
                <a:cs typeface="Inter Bold" pitchFamily="34" charset="-120"/>
              </a:rPr>
              <a:t>Goal:</a:t>
            </a:r>
            <a:r>
              <a:rPr lang="en-US" sz="1200" dirty="0">
                <a:solidFill>
                  <a:srgbClr val="FFFFFF"/>
                </a:solidFill>
                <a:latin typeface="Inter" pitchFamily="34" charset="0"/>
                <a:ea typeface="Inter" pitchFamily="34" charset="-122"/>
                <a:cs typeface="Inter" pitchFamily="34" charset="-120"/>
              </a:rPr>
              <a:t> Use Artificial Intelligence to reduce manual effort, improve code quality, and support faster and more consistent code reviews.</a:t>
            </a:r>
            <a:endParaRPr lang="en-US" sz="1200" dirty="0"/>
          </a:p>
        </p:txBody>
      </p:sp>
      <p:sp>
        <p:nvSpPr>
          <p:cNvPr id="28" name="Rectangle 27">
            <a:extLst>
              <a:ext uri="{FF2B5EF4-FFF2-40B4-BE49-F238E27FC236}">
                <a16:creationId xmlns:a16="http://schemas.microsoft.com/office/drawing/2014/main" id="{8160DF80-4F58-5BF0-BC6E-C477031F1A93}"/>
              </a:ext>
            </a:extLst>
          </p:cNvPr>
          <p:cNvSpPr/>
          <p:nvPr/>
        </p:nvSpPr>
        <p:spPr>
          <a:xfrm>
            <a:off x="10945906" y="6364941"/>
            <a:ext cx="1246094" cy="430306"/>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548680"/>
            <a:ext cx="1186825" cy="192286"/>
          </a:xfrm>
          <a:prstGeom prst="roundRect">
            <a:avLst>
              <a:gd name="adj" fmla="val 7902"/>
            </a:avLst>
          </a:prstGeom>
          <a:noFill/>
          <a:ln w="6350">
            <a:solidFill>
              <a:srgbClr val="FDC4C4"/>
            </a:solidFill>
            <a:prstDash val="solid"/>
          </a:ln>
        </p:spPr>
      </p:sp>
      <p:sp>
        <p:nvSpPr>
          <p:cNvPr id="3" name="Text 1"/>
          <p:cNvSpPr/>
          <p:nvPr/>
        </p:nvSpPr>
        <p:spPr>
          <a:xfrm>
            <a:off x="737375" y="586581"/>
            <a:ext cx="1644609" cy="116483"/>
          </a:xfrm>
          <a:prstGeom prst="rect">
            <a:avLst/>
          </a:prstGeom>
          <a:noFill/>
          <a:ln/>
        </p:spPr>
        <p:txBody>
          <a:bodyPr wrap="none" lIns="0" tIns="0" rIns="0" bIns="0" rtlCol="0" anchor="t"/>
          <a:lstStyle/>
          <a:p>
            <a:pPr marL="0" indent="0" algn="l">
              <a:lnSpc>
                <a:spcPct val="96000"/>
              </a:lnSpc>
              <a:buNone/>
            </a:pPr>
            <a:r>
              <a:rPr lang="en-US" sz="750" dirty="0">
                <a:solidFill>
                  <a:srgbClr val="FDC4C4"/>
                </a:solidFill>
                <a:latin typeface="Inter" pitchFamily="34" charset="0"/>
                <a:ea typeface="Inter" pitchFamily="34" charset="-122"/>
                <a:cs typeface="Inter" pitchFamily="34" charset="-120"/>
              </a:rPr>
              <a:t>LITERATURE SURVEY</a:t>
            </a:r>
            <a:endParaRPr lang="en-US" sz="750" dirty="0"/>
          </a:p>
        </p:txBody>
      </p:sp>
      <p:sp>
        <p:nvSpPr>
          <p:cNvPr id="4" name="Text 2"/>
          <p:cNvSpPr/>
          <p:nvPr/>
        </p:nvSpPr>
        <p:spPr>
          <a:xfrm>
            <a:off x="661475" y="779661"/>
            <a:ext cx="10868745" cy="395684"/>
          </a:xfrm>
          <a:prstGeom prst="rect">
            <a:avLst/>
          </a:prstGeom>
          <a:noFill/>
          <a:ln/>
        </p:spPr>
        <p:txBody>
          <a:bodyPr wrap="none" lIns="0" tIns="0" rIns="0" bIns="0" rtlCol="0" anchor="t"/>
          <a:lstStyle/>
          <a:p>
            <a:pPr marL="0" indent="0" algn="l">
              <a:lnSpc>
                <a:spcPct val="104000"/>
              </a:lnSpc>
              <a:buNone/>
            </a:pPr>
            <a:r>
              <a:rPr lang="en-US" sz="2450" dirty="0">
                <a:solidFill>
                  <a:srgbClr val="EFD5FA"/>
                </a:solidFill>
                <a:latin typeface="Instrument Sans Medium" pitchFamily="34" charset="0"/>
                <a:ea typeface="Instrument Sans Medium" pitchFamily="34" charset="-122"/>
                <a:cs typeface="Instrument Sans Medium" pitchFamily="34" charset="-120"/>
              </a:rPr>
              <a:t>Literature Survey</a:t>
            </a:r>
            <a:endParaRPr lang="en-US" sz="2450" dirty="0"/>
          </a:p>
        </p:txBody>
      </p:sp>
      <p:sp>
        <p:nvSpPr>
          <p:cNvPr id="5" name="Text 3"/>
          <p:cNvSpPr/>
          <p:nvPr/>
        </p:nvSpPr>
        <p:spPr>
          <a:xfrm>
            <a:off x="661475" y="1320701"/>
            <a:ext cx="11478330" cy="178792"/>
          </a:xfrm>
          <a:prstGeom prst="rect">
            <a:avLst/>
          </a:prstGeom>
          <a:noFill/>
          <a:ln/>
        </p:spPr>
        <p:txBody>
          <a:bodyPr wrap="none" lIns="0" tIns="0" rIns="0" bIns="0" rtlCol="0" anchor="t"/>
          <a:lstStyle/>
          <a:p>
            <a:pPr marL="0" indent="0" algn="l">
              <a:lnSpc>
                <a:spcPct val="118000"/>
              </a:lnSpc>
              <a:buNone/>
            </a:pPr>
            <a:r>
              <a:rPr lang="en-US" sz="950" dirty="0">
                <a:solidFill>
                  <a:srgbClr val="C7CDD6"/>
                </a:solidFill>
                <a:latin typeface="Inter" pitchFamily="34" charset="0"/>
                <a:ea typeface="Inter" pitchFamily="34" charset="-122"/>
                <a:cs typeface="Inter" pitchFamily="34" charset="-120"/>
              </a:rPr>
              <a:t>Research in automated code review has evolved from static analysis to AI-assisted approaches using large language models.</a:t>
            </a:r>
            <a:endParaRPr lang="en-US" sz="950" dirty="0"/>
          </a:p>
        </p:txBody>
      </p:sp>
      <p:sp>
        <p:nvSpPr>
          <p:cNvPr id="6" name="Shape 4"/>
          <p:cNvSpPr/>
          <p:nvPr/>
        </p:nvSpPr>
        <p:spPr>
          <a:xfrm>
            <a:off x="661475" y="2423021"/>
            <a:ext cx="10868745" cy="12700"/>
          </a:xfrm>
          <a:prstGeom prst="roundRect">
            <a:avLst>
              <a:gd name="adj" fmla="val 49999"/>
            </a:avLst>
          </a:prstGeom>
          <a:solidFill>
            <a:srgbClr val="5C5C61"/>
          </a:solidFill>
          <a:ln/>
        </p:spPr>
      </p:sp>
      <p:sp>
        <p:nvSpPr>
          <p:cNvPr id="7" name="Shape 5"/>
          <p:cNvSpPr/>
          <p:nvPr/>
        </p:nvSpPr>
        <p:spPr>
          <a:xfrm>
            <a:off x="2164502" y="2169864"/>
            <a:ext cx="12700" cy="253206"/>
          </a:xfrm>
          <a:prstGeom prst="roundRect">
            <a:avLst>
              <a:gd name="adj" fmla="val 49999"/>
            </a:avLst>
          </a:prstGeom>
          <a:solidFill>
            <a:srgbClr val="5C5C61"/>
          </a:solidFill>
          <a:ln/>
        </p:spPr>
      </p:sp>
      <p:sp>
        <p:nvSpPr>
          <p:cNvPr id="8" name="Shape 6"/>
          <p:cNvSpPr/>
          <p:nvPr/>
        </p:nvSpPr>
        <p:spPr>
          <a:xfrm>
            <a:off x="2123377" y="2375495"/>
            <a:ext cx="94950" cy="94952"/>
          </a:xfrm>
          <a:prstGeom prst="ellipse">
            <a:avLst/>
          </a:prstGeom>
          <a:solidFill>
            <a:srgbClr val="FDC4C4"/>
          </a:solidFill>
          <a:ln/>
        </p:spPr>
      </p:sp>
      <p:sp>
        <p:nvSpPr>
          <p:cNvPr id="9" name="Text 7"/>
          <p:cNvSpPr/>
          <p:nvPr/>
        </p:nvSpPr>
        <p:spPr>
          <a:xfrm>
            <a:off x="788075" y="1608534"/>
            <a:ext cx="2765554" cy="197743"/>
          </a:xfrm>
          <a:prstGeom prst="rect">
            <a:avLst/>
          </a:prstGeom>
          <a:noFill/>
          <a:ln/>
        </p:spPr>
        <p:txBody>
          <a:bodyPr wrap="none" lIns="0" tIns="0" rIns="0" bIns="0" rtlCol="0" anchor="t"/>
          <a:lstStyle/>
          <a:p>
            <a:pPr marL="0" indent="0" algn="ctr">
              <a:lnSpc>
                <a:spcPct val="104000"/>
              </a:lnSpc>
              <a:buNone/>
            </a:pPr>
            <a:r>
              <a:rPr lang="en-US" sz="1200" dirty="0">
                <a:solidFill>
                  <a:srgbClr val="C7CDD6"/>
                </a:solidFill>
                <a:latin typeface="Instrument Sans Medium" pitchFamily="34" charset="0"/>
                <a:ea typeface="Instrument Sans Medium" pitchFamily="34" charset="-122"/>
                <a:cs typeface="Instrument Sans Medium" pitchFamily="34" charset="-120"/>
              </a:rPr>
              <a:t>Traditional Automated Analysis</a:t>
            </a:r>
            <a:endParaRPr lang="en-US" sz="1200" dirty="0"/>
          </a:p>
        </p:txBody>
      </p:sp>
      <p:sp>
        <p:nvSpPr>
          <p:cNvPr id="10" name="Text 8"/>
          <p:cNvSpPr/>
          <p:nvPr/>
        </p:nvSpPr>
        <p:spPr>
          <a:xfrm>
            <a:off x="788075" y="1864420"/>
            <a:ext cx="2765554" cy="178792"/>
          </a:xfrm>
          <a:prstGeom prst="rect">
            <a:avLst/>
          </a:prstGeom>
          <a:noFill/>
          <a:ln/>
        </p:spPr>
        <p:txBody>
          <a:bodyPr wrap="none" lIns="0" tIns="0" rIns="0" bIns="0" rtlCol="0" anchor="t"/>
          <a:lstStyle/>
          <a:p>
            <a:pPr marL="0" indent="0" algn="ctr">
              <a:lnSpc>
                <a:spcPct val="118000"/>
              </a:lnSpc>
              <a:buNone/>
            </a:pPr>
            <a:r>
              <a:rPr lang="en-US" sz="950" dirty="0">
                <a:solidFill>
                  <a:srgbClr val="C7CDD6"/>
                </a:solidFill>
                <a:latin typeface="Inter" pitchFamily="34" charset="0"/>
                <a:ea typeface="Inter" pitchFamily="34" charset="-122"/>
                <a:cs typeface="Inter" pitchFamily="34" charset="-120"/>
              </a:rPr>
              <a:t>Rule-based, predefined patterns</a:t>
            </a:r>
            <a:endParaRPr lang="en-US" sz="950" dirty="0"/>
          </a:p>
        </p:txBody>
      </p:sp>
      <p:sp>
        <p:nvSpPr>
          <p:cNvPr id="11" name="Shape 9"/>
          <p:cNvSpPr/>
          <p:nvPr/>
        </p:nvSpPr>
        <p:spPr>
          <a:xfrm>
            <a:off x="3734401" y="2422971"/>
            <a:ext cx="12700" cy="253206"/>
          </a:xfrm>
          <a:prstGeom prst="roundRect">
            <a:avLst>
              <a:gd name="adj" fmla="val 49999"/>
            </a:avLst>
          </a:prstGeom>
          <a:solidFill>
            <a:srgbClr val="5C5C61"/>
          </a:solidFill>
          <a:ln/>
        </p:spPr>
      </p:sp>
      <p:sp>
        <p:nvSpPr>
          <p:cNvPr id="12" name="Shape 10"/>
          <p:cNvSpPr/>
          <p:nvPr/>
        </p:nvSpPr>
        <p:spPr>
          <a:xfrm>
            <a:off x="3693276" y="2375495"/>
            <a:ext cx="94950" cy="94952"/>
          </a:xfrm>
          <a:prstGeom prst="ellipse">
            <a:avLst/>
          </a:prstGeom>
          <a:solidFill>
            <a:srgbClr val="FDC4C4"/>
          </a:solidFill>
          <a:ln/>
        </p:spPr>
      </p:sp>
      <p:sp>
        <p:nvSpPr>
          <p:cNvPr id="13" name="Text 11"/>
          <p:cNvSpPr/>
          <p:nvPr/>
        </p:nvSpPr>
        <p:spPr>
          <a:xfrm>
            <a:off x="2357974" y="2802830"/>
            <a:ext cx="2765653" cy="197743"/>
          </a:xfrm>
          <a:prstGeom prst="rect">
            <a:avLst/>
          </a:prstGeom>
          <a:noFill/>
          <a:ln/>
        </p:spPr>
        <p:txBody>
          <a:bodyPr wrap="none" lIns="0" tIns="0" rIns="0" bIns="0" rtlCol="0" anchor="t"/>
          <a:lstStyle/>
          <a:p>
            <a:pPr marL="0" indent="0" algn="ctr">
              <a:lnSpc>
                <a:spcPct val="104000"/>
              </a:lnSpc>
              <a:buNone/>
            </a:pPr>
            <a:r>
              <a:rPr lang="en-US" sz="1200" dirty="0">
                <a:solidFill>
                  <a:srgbClr val="C7CDD6"/>
                </a:solidFill>
                <a:latin typeface="Instrument Sans Medium" pitchFamily="34" charset="0"/>
                <a:ea typeface="Instrument Sans Medium" pitchFamily="34" charset="-122"/>
                <a:cs typeface="Instrument Sans Medium" pitchFamily="34" charset="-120"/>
              </a:rPr>
              <a:t>Rule-Based / Static Analysis</a:t>
            </a:r>
            <a:endParaRPr lang="en-US" sz="1200" dirty="0"/>
          </a:p>
        </p:txBody>
      </p:sp>
      <p:sp>
        <p:nvSpPr>
          <p:cNvPr id="14" name="Text 12"/>
          <p:cNvSpPr/>
          <p:nvPr/>
        </p:nvSpPr>
        <p:spPr>
          <a:xfrm>
            <a:off x="2357974" y="3058716"/>
            <a:ext cx="2765653" cy="178792"/>
          </a:xfrm>
          <a:prstGeom prst="rect">
            <a:avLst/>
          </a:prstGeom>
          <a:noFill/>
          <a:ln/>
        </p:spPr>
        <p:txBody>
          <a:bodyPr wrap="none" lIns="0" tIns="0" rIns="0" bIns="0" rtlCol="0" anchor="t"/>
          <a:lstStyle/>
          <a:p>
            <a:pPr marL="0" indent="0" algn="ctr">
              <a:lnSpc>
                <a:spcPct val="118000"/>
              </a:lnSpc>
              <a:buNone/>
            </a:pPr>
            <a:r>
              <a:rPr lang="en-US" sz="950" dirty="0">
                <a:solidFill>
                  <a:srgbClr val="C7CDD6"/>
                </a:solidFill>
                <a:latin typeface="Inter" pitchFamily="34" charset="0"/>
                <a:ea typeface="Inter" pitchFamily="34" charset="-122"/>
                <a:cs typeface="Inter" pitchFamily="34" charset="-120"/>
              </a:rPr>
              <a:t>Automated linting and style checks</a:t>
            </a:r>
            <a:endParaRPr lang="en-US" sz="950" dirty="0"/>
          </a:p>
        </p:txBody>
      </p:sp>
      <p:sp>
        <p:nvSpPr>
          <p:cNvPr id="15" name="Shape 13"/>
          <p:cNvSpPr/>
          <p:nvPr/>
        </p:nvSpPr>
        <p:spPr>
          <a:xfrm>
            <a:off x="5304399" y="2169864"/>
            <a:ext cx="12700" cy="253206"/>
          </a:xfrm>
          <a:prstGeom prst="roundRect">
            <a:avLst>
              <a:gd name="adj" fmla="val 49999"/>
            </a:avLst>
          </a:prstGeom>
          <a:solidFill>
            <a:srgbClr val="5C5C61"/>
          </a:solidFill>
          <a:ln/>
        </p:spPr>
      </p:sp>
      <p:sp>
        <p:nvSpPr>
          <p:cNvPr id="16" name="Shape 14"/>
          <p:cNvSpPr/>
          <p:nvPr/>
        </p:nvSpPr>
        <p:spPr>
          <a:xfrm>
            <a:off x="5263274" y="2375495"/>
            <a:ext cx="94950" cy="94952"/>
          </a:xfrm>
          <a:prstGeom prst="ellipse">
            <a:avLst/>
          </a:prstGeom>
          <a:solidFill>
            <a:srgbClr val="FDC4C4"/>
          </a:solidFill>
          <a:ln/>
        </p:spPr>
      </p:sp>
      <p:sp>
        <p:nvSpPr>
          <p:cNvPr id="17" name="Text 15"/>
          <p:cNvSpPr/>
          <p:nvPr/>
        </p:nvSpPr>
        <p:spPr>
          <a:xfrm>
            <a:off x="3927972" y="1608534"/>
            <a:ext cx="2765653" cy="197743"/>
          </a:xfrm>
          <a:prstGeom prst="rect">
            <a:avLst/>
          </a:prstGeom>
          <a:noFill/>
          <a:ln/>
        </p:spPr>
        <p:txBody>
          <a:bodyPr wrap="none" lIns="0" tIns="0" rIns="0" bIns="0" rtlCol="0" anchor="t"/>
          <a:lstStyle/>
          <a:p>
            <a:pPr marL="0" indent="0" algn="ctr">
              <a:lnSpc>
                <a:spcPct val="104000"/>
              </a:lnSpc>
              <a:buNone/>
            </a:pPr>
            <a:r>
              <a:rPr lang="en-US" sz="1200" dirty="0">
                <a:solidFill>
                  <a:srgbClr val="C7CDD6"/>
                </a:solidFill>
                <a:latin typeface="Instrument Sans Medium" pitchFamily="34" charset="0"/>
                <a:ea typeface="Instrument Sans Medium" pitchFamily="34" charset="-122"/>
                <a:cs typeface="Instrument Sans Medium" pitchFamily="34" charset="-120"/>
              </a:rPr>
              <a:t>Machine Learning Approaches</a:t>
            </a:r>
            <a:endParaRPr lang="en-US" sz="1200" dirty="0"/>
          </a:p>
        </p:txBody>
      </p:sp>
      <p:sp>
        <p:nvSpPr>
          <p:cNvPr id="18" name="Text 16"/>
          <p:cNvSpPr/>
          <p:nvPr/>
        </p:nvSpPr>
        <p:spPr>
          <a:xfrm>
            <a:off x="3927972" y="1864420"/>
            <a:ext cx="2765653" cy="178792"/>
          </a:xfrm>
          <a:prstGeom prst="rect">
            <a:avLst/>
          </a:prstGeom>
          <a:noFill/>
          <a:ln/>
        </p:spPr>
        <p:txBody>
          <a:bodyPr wrap="none" lIns="0" tIns="0" rIns="0" bIns="0" rtlCol="0" anchor="t"/>
          <a:lstStyle/>
          <a:p>
            <a:pPr marL="0" indent="0" algn="ctr">
              <a:lnSpc>
                <a:spcPct val="118000"/>
              </a:lnSpc>
              <a:buNone/>
            </a:pPr>
            <a:r>
              <a:rPr lang="en-US" sz="950" dirty="0">
                <a:solidFill>
                  <a:srgbClr val="C7CDD6"/>
                </a:solidFill>
                <a:latin typeface="Inter" pitchFamily="34" charset="0"/>
                <a:ea typeface="Inter" pitchFamily="34" charset="-122"/>
                <a:cs typeface="Inter" pitchFamily="34" charset="-120"/>
              </a:rPr>
              <a:t>Data-driven bug prediction</a:t>
            </a:r>
            <a:endParaRPr lang="en-US" sz="950" dirty="0"/>
          </a:p>
        </p:txBody>
      </p:sp>
      <p:sp>
        <p:nvSpPr>
          <p:cNvPr id="19" name="Shape 17"/>
          <p:cNvSpPr/>
          <p:nvPr/>
        </p:nvSpPr>
        <p:spPr>
          <a:xfrm>
            <a:off x="6874398" y="2422971"/>
            <a:ext cx="12700" cy="253206"/>
          </a:xfrm>
          <a:prstGeom prst="roundRect">
            <a:avLst>
              <a:gd name="adj" fmla="val 49999"/>
            </a:avLst>
          </a:prstGeom>
          <a:solidFill>
            <a:srgbClr val="5C5C61"/>
          </a:solidFill>
          <a:ln/>
        </p:spPr>
      </p:sp>
      <p:sp>
        <p:nvSpPr>
          <p:cNvPr id="20" name="Shape 18"/>
          <p:cNvSpPr/>
          <p:nvPr/>
        </p:nvSpPr>
        <p:spPr>
          <a:xfrm>
            <a:off x="6833272" y="2375495"/>
            <a:ext cx="94950" cy="94952"/>
          </a:xfrm>
          <a:prstGeom prst="ellipse">
            <a:avLst/>
          </a:prstGeom>
          <a:solidFill>
            <a:srgbClr val="FDC4C4"/>
          </a:solidFill>
          <a:ln/>
        </p:spPr>
      </p:sp>
      <p:sp>
        <p:nvSpPr>
          <p:cNvPr id="21" name="Text 19"/>
          <p:cNvSpPr/>
          <p:nvPr/>
        </p:nvSpPr>
        <p:spPr>
          <a:xfrm>
            <a:off x="5497970" y="2802830"/>
            <a:ext cx="2765653" cy="197743"/>
          </a:xfrm>
          <a:prstGeom prst="rect">
            <a:avLst/>
          </a:prstGeom>
          <a:noFill/>
          <a:ln/>
        </p:spPr>
        <p:txBody>
          <a:bodyPr wrap="none" lIns="0" tIns="0" rIns="0" bIns="0" rtlCol="0" anchor="t"/>
          <a:lstStyle/>
          <a:p>
            <a:pPr marL="0" indent="0" algn="ctr">
              <a:lnSpc>
                <a:spcPct val="104000"/>
              </a:lnSpc>
              <a:buNone/>
            </a:pPr>
            <a:r>
              <a:rPr lang="en-US" sz="1200" dirty="0">
                <a:solidFill>
                  <a:srgbClr val="C7CDD6"/>
                </a:solidFill>
                <a:latin typeface="Instrument Sans Medium" pitchFamily="34" charset="0"/>
                <a:ea typeface="Instrument Sans Medium" pitchFamily="34" charset="-122"/>
                <a:cs typeface="Instrument Sans Medium" pitchFamily="34" charset="-120"/>
              </a:rPr>
              <a:t>Large Language Models</a:t>
            </a:r>
            <a:endParaRPr lang="en-US" sz="1200" dirty="0"/>
          </a:p>
        </p:txBody>
      </p:sp>
      <p:sp>
        <p:nvSpPr>
          <p:cNvPr id="22" name="Text 20"/>
          <p:cNvSpPr/>
          <p:nvPr/>
        </p:nvSpPr>
        <p:spPr>
          <a:xfrm>
            <a:off x="5497970" y="3058716"/>
            <a:ext cx="2765653" cy="178792"/>
          </a:xfrm>
          <a:prstGeom prst="rect">
            <a:avLst/>
          </a:prstGeom>
          <a:noFill/>
          <a:ln/>
        </p:spPr>
        <p:txBody>
          <a:bodyPr wrap="none" lIns="0" tIns="0" rIns="0" bIns="0" rtlCol="0" anchor="t"/>
          <a:lstStyle/>
          <a:p>
            <a:pPr marL="0" indent="0" algn="ctr">
              <a:lnSpc>
                <a:spcPct val="118000"/>
              </a:lnSpc>
              <a:buNone/>
            </a:pPr>
            <a:r>
              <a:rPr lang="en-US" sz="950" dirty="0">
                <a:solidFill>
                  <a:srgbClr val="C7CDD6"/>
                </a:solidFill>
                <a:latin typeface="Inter" pitchFamily="34" charset="0"/>
                <a:ea typeface="Inter" pitchFamily="34" charset="-122"/>
                <a:cs typeface="Inter" pitchFamily="34" charset="-120"/>
              </a:rPr>
              <a:t>Contextual, semantic code understanding</a:t>
            </a:r>
            <a:endParaRPr lang="en-US" sz="950" dirty="0"/>
          </a:p>
        </p:txBody>
      </p:sp>
      <p:sp>
        <p:nvSpPr>
          <p:cNvPr id="23" name="Shape 21"/>
          <p:cNvSpPr/>
          <p:nvPr/>
        </p:nvSpPr>
        <p:spPr>
          <a:xfrm>
            <a:off x="8444396" y="2169864"/>
            <a:ext cx="12700" cy="253206"/>
          </a:xfrm>
          <a:prstGeom prst="roundRect">
            <a:avLst>
              <a:gd name="adj" fmla="val 49999"/>
            </a:avLst>
          </a:prstGeom>
          <a:solidFill>
            <a:srgbClr val="5C5C61"/>
          </a:solidFill>
          <a:ln/>
        </p:spPr>
      </p:sp>
      <p:sp>
        <p:nvSpPr>
          <p:cNvPr id="24" name="Shape 22"/>
          <p:cNvSpPr/>
          <p:nvPr/>
        </p:nvSpPr>
        <p:spPr>
          <a:xfrm>
            <a:off x="8403271" y="2375495"/>
            <a:ext cx="94950" cy="94952"/>
          </a:xfrm>
          <a:prstGeom prst="ellipse">
            <a:avLst/>
          </a:prstGeom>
          <a:solidFill>
            <a:srgbClr val="FDC4C4"/>
          </a:solidFill>
          <a:ln/>
        </p:spPr>
      </p:sp>
      <p:sp>
        <p:nvSpPr>
          <p:cNvPr id="25" name="Text 23"/>
          <p:cNvSpPr/>
          <p:nvPr/>
        </p:nvSpPr>
        <p:spPr>
          <a:xfrm>
            <a:off x="7067968" y="1608534"/>
            <a:ext cx="2765653" cy="197743"/>
          </a:xfrm>
          <a:prstGeom prst="rect">
            <a:avLst/>
          </a:prstGeom>
          <a:noFill/>
          <a:ln/>
        </p:spPr>
        <p:txBody>
          <a:bodyPr wrap="none" lIns="0" tIns="0" rIns="0" bIns="0" rtlCol="0" anchor="t"/>
          <a:lstStyle/>
          <a:p>
            <a:pPr marL="0" indent="0" algn="ctr">
              <a:lnSpc>
                <a:spcPct val="104000"/>
              </a:lnSpc>
              <a:buNone/>
            </a:pPr>
            <a:r>
              <a:rPr lang="en-US" sz="1200" dirty="0">
                <a:solidFill>
                  <a:srgbClr val="C7CDD6"/>
                </a:solidFill>
                <a:latin typeface="Instrument Sans Medium" pitchFamily="34" charset="0"/>
                <a:ea typeface="Instrument Sans Medium" pitchFamily="34" charset="-122"/>
                <a:cs typeface="Instrument Sans Medium" pitchFamily="34" charset="-120"/>
              </a:rPr>
              <a:t>AI-Assisted Code Review</a:t>
            </a:r>
            <a:endParaRPr lang="en-US" sz="1200" dirty="0"/>
          </a:p>
        </p:txBody>
      </p:sp>
      <p:sp>
        <p:nvSpPr>
          <p:cNvPr id="26" name="Text 24"/>
          <p:cNvSpPr/>
          <p:nvPr/>
        </p:nvSpPr>
        <p:spPr>
          <a:xfrm>
            <a:off x="7067968" y="1864420"/>
            <a:ext cx="2765653" cy="178792"/>
          </a:xfrm>
          <a:prstGeom prst="rect">
            <a:avLst/>
          </a:prstGeom>
          <a:noFill/>
          <a:ln/>
        </p:spPr>
        <p:txBody>
          <a:bodyPr wrap="none" lIns="0" tIns="0" rIns="0" bIns="0" rtlCol="0" anchor="t"/>
          <a:lstStyle/>
          <a:p>
            <a:pPr marL="0" indent="0" algn="ctr">
              <a:lnSpc>
                <a:spcPct val="118000"/>
              </a:lnSpc>
              <a:buNone/>
            </a:pPr>
            <a:r>
              <a:rPr lang="en-US" sz="950" dirty="0">
                <a:solidFill>
                  <a:srgbClr val="C7CDD6"/>
                </a:solidFill>
                <a:latin typeface="Inter" pitchFamily="34" charset="0"/>
                <a:ea typeface="Inter" pitchFamily="34" charset="-122"/>
                <a:cs typeface="Inter" pitchFamily="34" charset="-120"/>
              </a:rPr>
              <a:t>LLM-powered suggestions and summaries</a:t>
            </a:r>
            <a:endParaRPr lang="en-US" sz="950" dirty="0"/>
          </a:p>
        </p:txBody>
      </p:sp>
      <p:sp>
        <p:nvSpPr>
          <p:cNvPr id="27" name="Shape 25"/>
          <p:cNvSpPr/>
          <p:nvPr/>
        </p:nvSpPr>
        <p:spPr>
          <a:xfrm>
            <a:off x="10014394" y="2422971"/>
            <a:ext cx="12700" cy="253206"/>
          </a:xfrm>
          <a:prstGeom prst="roundRect">
            <a:avLst>
              <a:gd name="adj" fmla="val 49999"/>
            </a:avLst>
          </a:prstGeom>
          <a:solidFill>
            <a:srgbClr val="5C5C61"/>
          </a:solidFill>
          <a:ln/>
        </p:spPr>
      </p:sp>
      <p:sp>
        <p:nvSpPr>
          <p:cNvPr id="28" name="Shape 26"/>
          <p:cNvSpPr/>
          <p:nvPr/>
        </p:nvSpPr>
        <p:spPr>
          <a:xfrm>
            <a:off x="9973269" y="2375495"/>
            <a:ext cx="94950" cy="94952"/>
          </a:xfrm>
          <a:prstGeom prst="ellipse">
            <a:avLst/>
          </a:prstGeom>
          <a:solidFill>
            <a:srgbClr val="FDC4C4"/>
          </a:solidFill>
          <a:ln/>
        </p:spPr>
      </p:sp>
      <p:sp>
        <p:nvSpPr>
          <p:cNvPr id="29" name="Text 27"/>
          <p:cNvSpPr/>
          <p:nvPr/>
        </p:nvSpPr>
        <p:spPr>
          <a:xfrm>
            <a:off x="8637967" y="2802830"/>
            <a:ext cx="2765653" cy="197743"/>
          </a:xfrm>
          <a:prstGeom prst="rect">
            <a:avLst/>
          </a:prstGeom>
          <a:noFill/>
          <a:ln/>
        </p:spPr>
        <p:txBody>
          <a:bodyPr wrap="none" lIns="0" tIns="0" rIns="0" bIns="0" rtlCol="0" anchor="t"/>
          <a:lstStyle/>
          <a:p>
            <a:pPr marL="0" indent="0" algn="ctr">
              <a:lnSpc>
                <a:spcPct val="104000"/>
              </a:lnSpc>
              <a:buNone/>
            </a:pPr>
            <a:r>
              <a:rPr lang="en-US" sz="1200" dirty="0">
                <a:solidFill>
                  <a:srgbClr val="C7CDD6"/>
                </a:solidFill>
                <a:latin typeface="Instrument Sans Medium" pitchFamily="34" charset="0"/>
                <a:ea typeface="Instrument Sans Medium" pitchFamily="34" charset="-122"/>
                <a:cs typeface="Instrument Sans Medium" pitchFamily="34" charset="-120"/>
              </a:rPr>
              <a:t>Proposed: CodeInsight AI</a:t>
            </a:r>
            <a:endParaRPr lang="en-US" sz="1200" dirty="0"/>
          </a:p>
        </p:txBody>
      </p:sp>
      <p:sp>
        <p:nvSpPr>
          <p:cNvPr id="30" name="Text 28"/>
          <p:cNvSpPr/>
          <p:nvPr/>
        </p:nvSpPr>
        <p:spPr>
          <a:xfrm>
            <a:off x="8637967" y="3058716"/>
            <a:ext cx="2765653" cy="178792"/>
          </a:xfrm>
          <a:prstGeom prst="rect">
            <a:avLst/>
          </a:prstGeom>
          <a:noFill/>
          <a:ln/>
        </p:spPr>
        <p:txBody>
          <a:bodyPr wrap="none" lIns="0" tIns="0" rIns="0" bIns="0" rtlCol="0" anchor="t"/>
          <a:lstStyle/>
          <a:p>
            <a:pPr marL="0" indent="0" algn="ctr">
              <a:lnSpc>
                <a:spcPct val="118000"/>
              </a:lnSpc>
              <a:buNone/>
            </a:pPr>
            <a:r>
              <a:rPr lang="en-US" sz="950" dirty="0">
                <a:solidFill>
                  <a:srgbClr val="C7CDD6"/>
                </a:solidFill>
                <a:latin typeface="Inter" pitchFamily="34" charset="0"/>
                <a:ea typeface="Inter" pitchFamily="34" charset="-122"/>
                <a:cs typeface="Inter" pitchFamily="34" charset="-120"/>
              </a:rPr>
              <a:t>Integrated AI review with dashboard</a:t>
            </a:r>
            <a:endParaRPr lang="en-US" sz="950" dirty="0"/>
          </a:p>
        </p:txBody>
      </p:sp>
      <p:sp>
        <p:nvSpPr>
          <p:cNvPr id="31" name="Shape 29"/>
          <p:cNvSpPr/>
          <p:nvPr/>
        </p:nvSpPr>
        <p:spPr>
          <a:xfrm>
            <a:off x="661475" y="3346549"/>
            <a:ext cx="10868745" cy="2248694"/>
          </a:xfrm>
          <a:prstGeom prst="roundRect">
            <a:avLst>
              <a:gd name="adj" fmla="val 845"/>
            </a:avLst>
          </a:prstGeom>
          <a:noFill/>
          <a:ln w="6350">
            <a:solidFill>
              <a:srgbClr val="FFFFFF">
                <a:alpha val="24000"/>
              </a:srgbClr>
            </a:solidFill>
            <a:prstDash val="solid"/>
          </a:ln>
        </p:spPr>
      </p:sp>
      <p:sp>
        <p:nvSpPr>
          <p:cNvPr id="32" name="Shape 30"/>
          <p:cNvSpPr/>
          <p:nvPr/>
        </p:nvSpPr>
        <p:spPr>
          <a:xfrm>
            <a:off x="661475" y="3663851"/>
            <a:ext cx="10868745" cy="7914"/>
          </a:xfrm>
          <a:prstGeom prst="rect">
            <a:avLst/>
          </a:prstGeom>
          <a:solidFill>
            <a:srgbClr val="FFFFFF">
              <a:alpha val="24000"/>
            </a:srgbClr>
          </a:solidFill>
          <a:ln/>
        </p:spPr>
      </p:sp>
      <p:sp>
        <p:nvSpPr>
          <p:cNvPr id="33" name="Shape 31"/>
          <p:cNvSpPr/>
          <p:nvPr/>
        </p:nvSpPr>
        <p:spPr>
          <a:xfrm>
            <a:off x="661475" y="3977977"/>
            <a:ext cx="10868745" cy="7914"/>
          </a:xfrm>
          <a:prstGeom prst="rect">
            <a:avLst/>
          </a:prstGeom>
          <a:solidFill>
            <a:srgbClr val="FFFFFF">
              <a:alpha val="24000"/>
            </a:srgbClr>
          </a:solidFill>
          <a:ln/>
        </p:spPr>
      </p:sp>
      <p:sp>
        <p:nvSpPr>
          <p:cNvPr id="34" name="Shape 32"/>
          <p:cNvSpPr/>
          <p:nvPr/>
        </p:nvSpPr>
        <p:spPr>
          <a:xfrm>
            <a:off x="661475" y="4292104"/>
            <a:ext cx="10868745" cy="7914"/>
          </a:xfrm>
          <a:prstGeom prst="rect">
            <a:avLst/>
          </a:prstGeom>
          <a:solidFill>
            <a:srgbClr val="FFFFFF">
              <a:alpha val="24000"/>
            </a:srgbClr>
          </a:solidFill>
          <a:ln/>
        </p:spPr>
      </p:sp>
      <p:sp>
        <p:nvSpPr>
          <p:cNvPr id="35" name="Shape 33"/>
          <p:cNvSpPr/>
          <p:nvPr/>
        </p:nvSpPr>
        <p:spPr>
          <a:xfrm>
            <a:off x="661475" y="4785023"/>
            <a:ext cx="10868745" cy="7914"/>
          </a:xfrm>
          <a:prstGeom prst="rect">
            <a:avLst/>
          </a:prstGeom>
          <a:solidFill>
            <a:srgbClr val="FFFFFF">
              <a:alpha val="24000"/>
            </a:srgbClr>
          </a:solidFill>
          <a:ln/>
        </p:spPr>
      </p:sp>
      <p:sp>
        <p:nvSpPr>
          <p:cNvPr id="36" name="Shape 34"/>
          <p:cNvSpPr/>
          <p:nvPr/>
        </p:nvSpPr>
        <p:spPr>
          <a:xfrm>
            <a:off x="661475" y="5277941"/>
            <a:ext cx="10868745" cy="7914"/>
          </a:xfrm>
          <a:prstGeom prst="rect">
            <a:avLst/>
          </a:prstGeom>
          <a:solidFill>
            <a:srgbClr val="FFFFFF">
              <a:alpha val="24000"/>
            </a:srgbClr>
          </a:solidFill>
          <a:ln/>
        </p:spPr>
      </p:sp>
      <p:sp>
        <p:nvSpPr>
          <p:cNvPr id="37" name="Text 35"/>
          <p:cNvSpPr/>
          <p:nvPr/>
        </p:nvSpPr>
        <p:spPr>
          <a:xfrm>
            <a:off x="795615" y="3417391"/>
            <a:ext cx="3974306" cy="178792"/>
          </a:xfrm>
          <a:prstGeom prst="rect">
            <a:avLst/>
          </a:prstGeom>
          <a:noFill/>
          <a:ln/>
        </p:spPr>
        <p:txBody>
          <a:bodyPr wrap="none" lIns="0" tIns="0" rIns="0" bIns="0" rtlCol="0" anchor="t"/>
          <a:lstStyle/>
          <a:p>
            <a:pPr marL="0" indent="0" algn="l">
              <a:lnSpc>
                <a:spcPct val="118000"/>
              </a:lnSpc>
              <a:buNone/>
            </a:pPr>
            <a:r>
              <a:rPr lang="en-US" sz="950" b="1" dirty="0">
                <a:solidFill>
                  <a:srgbClr val="C7CDD6"/>
                </a:solidFill>
                <a:latin typeface="Inter Bold" pitchFamily="34" charset="0"/>
                <a:ea typeface="Inter Bold" pitchFamily="34" charset="-122"/>
                <a:cs typeface="Inter Bold" pitchFamily="34" charset="-120"/>
              </a:rPr>
              <a:t>Paper / Year</a:t>
            </a:r>
            <a:endParaRPr lang="en-US" sz="950" dirty="0"/>
          </a:p>
        </p:txBody>
      </p:sp>
      <p:sp>
        <p:nvSpPr>
          <p:cNvPr id="38" name="Text 36"/>
          <p:cNvSpPr/>
          <p:nvPr/>
        </p:nvSpPr>
        <p:spPr>
          <a:xfrm>
            <a:off x="4413536" y="3417391"/>
            <a:ext cx="3974306" cy="178792"/>
          </a:xfrm>
          <a:prstGeom prst="rect">
            <a:avLst/>
          </a:prstGeom>
          <a:noFill/>
          <a:ln/>
        </p:spPr>
        <p:txBody>
          <a:bodyPr wrap="none" lIns="0" tIns="0" rIns="0" bIns="0" rtlCol="0" anchor="t"/>
          <a:lstStyle/>
          <a:p>
            <a:pPr marL="0" indent="0" algn="l">
              <a:lnSpc>
                <a:spcPct val="118000"/>
              </a:lnSpc>
              <a:buNone/>
            </a:pPr>
            <a:r>
              <a:rPr lang="en-US" sz="950" b="1" dirty="0">
                <a:solidFill>
                  <a:srgbClr val="C7CDD6"/>
                </a:solidFill>
                <a:latin typeface="Inter Bold" pitchFamily="34" charset="0"/>
                <a:ea typeface="Inter Bold" pitchFamily="34" charset="-122"/>
                <a:cs typeface="Inter Bold" pitchFamily="34" charset="-120"/>
              </a:rPr>
              <a:t>Main Contribution</a:t>
            </a:r>
            <a:endParaRPr lang="en-US" sz="950" dirty="0"/>
          </a:p>
        </p:txBody>
      </p:sp>
      <p:sp>
        <p:nvSpPr>
          <p:cNvPr id="39" name="Text 37"/>
          <p:cNvSpPr/>
          <p:nvPr/>
        </p:nvSpPr>
        <p:spPr>
          <a:xfrm>
            <a:off x="8031458" y="3417391"/>
            <a:ext cx="3974306" cy="178792"/>
          </a:xfrm>
          <a:prstGeom prst="rect">
            <a:avLst/>
          </a:prstGeom>
          <a:noFill/>
          <a:ln/>
        </p:spPr>
        <p:txBody>
          <a:bodyPr wrap="none" lIns="0" tIns="0" rIns="0" bIns="0" rtlCol="0" anchor="t"/>
          <a:lstStyle/>
          <a:p>
            <a:pPr marL="0" indent="0" algn="l">
              <a:lnSpc>
                <a:spcPct val="118000"/>
              </a:lnSpc>
              <a:buNone/>
            </a:pPr>
            <a:r>
              <a:rPr lang="en-US" sz="950" b="1" dirty="0">
                <a:solidFill>
                  <a:srgbClr val="C7CDD6"/>
                </a:solidFill>
                <a:latin typeface="Inter Bold" pitchFamily="34" charset="0"/>
                <a:ea typeface="Inter Bold" pitchFamily="34" charset="-122"/>
                <a:cs typeface="Inter Bold" pitchFamily="34" charset="-120"/>
              </a:rPr>
              <a:t>Relevance</a:t>
            </a:r>
            <a:endParaRPr lang="en-US" sz="950" dirty="0"/>
          </a:p>
        </p:txBody>
      </p:sp>
      <p:sp>
        <p:nvSpPr>
          <p:cNvPr id="40" name="Text 38"/>
          <p:cNvSpPr/>
          <p:nvPr/>
        </p:nvSpPr>
        <p:spPr>
          <a:xfrm>
            <a:off x="795615" y="3731518"/>
            <a:ext cx="3974306" cy="178792"/>
          </a:xfrm>
          <a:prstGeom prst="rect">
            <a:avLst/>
          </a:prstGeom>
          <a:noFill/>
          <a:ln/>
        </p:spPr>
        <p:txBody>
          <a:bodyPr wrap="none" lIns="0" tIns="0" rIns="0" bIns="0" rtlCol="0" anchor="t"/>
          <a:lstStyle/>
          <a:p>
            <a:pPr marL="0" indent="0" algn="l">
              <a:lnSpc>
                <a:spcPct val="118000"/>
              </a:lnSpc>
              <a:buNone/>
            </a:pPr>
            <a:r>
              <a:rPr lang="en-US" sz="950" dirty="0">
                <a:solidFill>
                  <a:srgbClr val="C7CDD6"/>
                </a:solidFill>
                <a:latin typeface="Inter" pitchFamily="34" charset="0"/>
                <a:ea typeface="Inter" pitchFamily="34" charset="-122"/>
                <a:cs typeface="Inter" pitchFamily="34" charset="-120"/>
              </a:rPr>
              <a:t>Reducing human effort… using automatic static analysis</a:t>
            </a:r>
            <a:endParaRPr lang="en-US" sz="950" dirty="0"/>
          </a:p>
        </p:txBody>
      </p:sp>
      <p:sp>
        <p:nvSpPr>
          <p:cNvPr id="41" name="Text 39"/>
          <p:cNvSpPr/>
          <p:nvPr/>
        </p:nvSpPr>
        <p:spPr>
          <a:xfrm>
            <a:off x="4413536" y="3731518"/>
            <a:ext cx="3974306" cy="178792"/>
          </a:xfrm>
          <a:prstGeom prst="rect">
            <a:avLst/>
          </a:prstGeom>
          <a:noFill/>
          <a:ln/>
        </p:spPr>
        <p:txBody>
          <a:bodyPr wrap="none" lIns="0" tIns="0" rIns="0" bIns="0" rtlCol="0" anchor="t"/>
          <a:lstStyle/>
          <a:p>
            <a:pPr marL="0" indent="0" algn="l">
              <a:lnSpc>
                <a:spcPct val="118000"/>
              </a:lnSpc>
              <a:buNone/>
            </a:pPr>
            <a:r>
              <a:rPr lang="en-US" sz="950" dirty="0">
                <a:solidFill>
                  <a:srgbClr val="C7CDD6"/>
                </a:solidFill>
                <a:latin typeface="Inter" pitchFamily="34" charset="0"/>
                <a:ea typeface="Inter" pitchFamily="34" charset="-122"/>
                <a:cs typeface="Inter" pitchFamily="34" charset="-120"/>
              </a:rPr>
              <a:t>Automated analysis reduces manual review effort</a:t>
            </a:r>
            <a:endParaRPr lang="en-US" sz="950" dirty="0"/>
          </a:p>
        </p:txBody>
      </p:sp>
      <p:sp>
        <p:nvSpPr>
          <p:cNvPr id="42" name="Text 40"/>
          <p:cNvSpPr/>
          <p:nvPr/>
        </p:nvSpPr>
        <p:spPr>
          <a:xfrm>
            <a:off x="8031458" y="3731518"/>
            <a:ext cx="3974306" cy="178792"/>
          </a:xfrm>
          <a:prstGeom prst="rect">
            <a:avLst/>
          </a:prstGeom>
          <a:noFill/>
          <a:ln/>
        </p:spPr>
        <p:txBody>
          <a:bodyPr wrap="none" lIns="0" tIns="0" rIns="0" bIns="0" rtlCol="0" anchor="t"/>
          <a:lstStyle/>
          <a:p>
            <a:pPr marL="0" indent="0" algn="l">
              <a:lnSpc>
                <a:spcPct val="118000"/>
              </a:lnSpc>
              <a:buNone/>
            </a:pPr>
            <a:r>
              <a:rPr lang="en-US" sz="950" dirty="0">
                <a:solidFill>
                  <a:srgbClr val="C7CDD6"/>
                </a:solidFill>
                <a:latin typeface="Inter" pitchFamily="34" charset="0"/>
                <a:ea typeface="Inter" pitchFamily="34" charset="-122"/>
                <a:cs typeface="Inter" pitchFamily="34" charset="-120"/>
              </a:rPr>
              <a:t>Motivates automation in code review</a:t>
            </a:r>
            <a:endParaRPr lang="en-US" sz="950" dirty="0"/>
          </a:p>
        </p:txBody>
      </p:sp>
      <p:sp>
        <p:nvSpPr>
          <p:cNvPr id="43" name="Text 41"/>
          <p:cNvSpPr/>
          <p:nvPr/>
        </p:nvSpPr>
        <p:spPr>
          <a:xfrm>
            <a:off x="795615" y="4045645"/>
            <a:ext cx="3974306" cy="178792"/>
          </a:xfrm>
          <a:prstGeom prst="rect">
            <a:avLst/>
          </a:prstGeom>
          <a:noFill/>
          <a:ln/>
        </p:spPr>
        <p:txBody>
          <a:bodyPr wrap="none" lIns="0" tIns="0" rIns="0" bIns="0" rtlCol="0" anchor="t"/>
          <a:lstStyle/>
          <a:p>
            <a:pPr marL="0" indent="0" algn="l">
              <a:lnSpc>
                <a:spcPct val="118000"/>
              </a:lnSpc>
              <a:buNone/>
            </a:pPr>
            <a:r>
              <a:rPr lang="en-US" sz="950" dirty="0">
                <a:solidFill>
                  <a:srgbClr val="C7CDD6"/>
                </a:solidFill>
                <a:latin typeface="Inter" pitchFamily="34" charset="0"/>
                <a:ea typeface="Inter" pitchFamily="34" charset="-122"/>
                <a:cs typeface="Inter" pitchFamily="34" charset="-120"/>
              </a:rPr>
              <a:t>Fan et al., </a:t>
            </a:r>
            <a:r>
              <a:rPr lang="en-US" sz="950" i="1" dirty="0">
                <a:solidFill>
                  <a:srgbClr val="C7CDD6"/>
                </a:solidFill>
                <a:latin typeface="Inter" pitchFamily="34" charset="0"/>
                <a:ea typeface="Inter" pitchFamily="34" charset="-122"/>
                <a:cs typeface="Inter" pitchFamily="34" charset="-120"/>
              </a:rPr>
              <a:t>LLMs for Software Engineering</a:t>
            </a:r>
            <a:r>
              <a:rPr lang="en-US" sz="950" dirty="0">
                <a:solidFill>
                  <a:srgbClr val="C7CDD6"/>
                </a:solidFill>
                <a:latin typeface="Inter" pitchFamily="34" charset="0"/>
                <a:ea typeface="Inter" pitchFamily="34" charset="-122"/>
                <a:cs typeface="Inter" pitchFamily="34" charset="-120"/>
              </a:rPr>
              <a:t>, 2023</a:t>
            </a:r>
            <a:endParaRPr lang="en-US" sz="950" dirty="0"/>
          </a:p>
        </p:txBody>
      </p:sp>
      <p:sp>
        <p:nvSpPr>
          <p:cNvPr id="44" name="Text 42"/>
          <p:cNvSpPr/>
          <p:nvPr/>
        </p:nvSpPr>
        <p:spPr>
          <a:xfrm>
            <a:off x="4413536" y="4045645"/>
            <a:ext cx="3974306" cy="178792"/>
          </a:xfrm>
          <a:prstGeom prst="rect">
            <a:avLst/>
          </a:prstGeom>
          <a:noFill/>
          <a:ln/>
        </p:spPr>
        <p:txBody>
          <a:bodyPr wrap="none" lIns="0" tIns="0" rIns="0" bIns="0" rtlCol="0" anchor="t"/>
          <a:lstStyle/>
          <a:p>
            <a:pPr marL="0" indent="0" algn="l">
              <a:lnSpc>
                <a:spcPct val="118000"/>
              </a:lnSpc>
              <a:buNone/>
            </a:pPr>
            <a:r>
              <a:rPr lang="en-US" sz="950" dirty="0">
                <a:solidFill>
                  <a:srgbClr val="C7CDD6"/>
                </a:solidFill>
                <a:latin typeface="Inter" pitchFamily="34" charset="0"/>
                <a:ea typeface="Inter" pitchFamily="34" charset="-122"/>
                <a:cs typeface="Inter" pitchFamily="34" charset="-120"/>
              </a:rPr>
              <a:t>LLM applications in SE; reliability challenges</a:t>
            </a:r>
            <a:endParaRPr lang="en-US" sz="950" dirty="0"/>
          </a:p>
        </p:txBody>
      </p:sp>
      <p:sp>
        <p:nvSpPr>
          <p:cNvPr id="45" name="Text 43"/>
          <p:cNvSpPr/>
          <p:nvPr/>
        </p:nvSpPr>
        <p:spPr>
          <a:xfrm>
            <a:off x="8031458" y="4045645"/>
            <a:ext cx="3974306" cy="178792"/>
          </a:xfrm>
          <a:prstGeom prst="rect">
            <a:avLst/>
          </a:prstGeom>
          <a:noFill/>
          <a:ln/>
        </p:spPr>
        <p:txBody>
          <a:bodyPr wrap="none" lIns="0" tIns="0" rIns="0" bIns="0" rtlCol="0" anchor="t"/>
          <a:lstStyle/>
          <a:p>
            <a:pPr marL="0" indent="0" algn="l">
              <a:lnSpc>
                <a:spcPct val="118000"/>
              </a:lnSpc>
              <a:buNone/>
            </a:pPr>
            <a:r>
              <a:rPr lang="en-US" sz="950" dirty="0">
                <a:solidFill>
                  <a:srgbClr val="C7CDD6"/>
                </a:solidFill>
                <a:latin typeface="Inter" pitchFamily="34" charset="0"/>
                <a:ea typeface="Inter" pitchFamily="34" charset="-122"/>
                <a:cs typeface="Inter" pitchFamily="34" charset="-120"/>
              </a:rPr>
              <a:t>Supports AI/LLM use; highlights reliability needs</a:t>
            </a:r>
            <a:endParaRPr lang="en-US" sz="950" dirty="0"/>
          </a:p>
        </p:txBody>
      </p:sp>
      <p:sp>
        <p:nvSpPr>
          <p:cNvPr id="46" name="Text 44"/>
          <p:cNvSpPr/>
          <p:nvPr/>
        </p:nvSpPr>
        <p:spPr>
          <a:xfrm>
            <a:off x="795615" y="4359771"/>
            <a:ext cx="3364721" cy="357584"/>
          </a:xfrm>
          <a:prstGeom prst="rect">
            <a:avLst/>
          </a:prstGeom>
          <a:noFill/>
          <a:ln/>
        </p:spPr>
        <p:txBody>
          <a:bodyPr wrap="square" lIns="0" tIns="0" rIns="0" bIns="0" rtlCol="0" anchor="t">
            <a:normAutofit/>
          </a:bodyPr>
          <a:lstStyle/>
          <a:p>
            <a:pPr marL="0" indent="0" algn="l">
              <a:lnSpc>
                <a:spcPct val="118000"/>
              </a:lnSpc>
              <a:buNone/>
            </a:pPr>
            <a:r>
              <a:rPr lang="en-US" sz="950" i="1" dirty="0">
                <a:solidFill>
                  <a:srgbClr val="C7CDD6"/>
                </a:solidFill>
                <a:latin typeface="Inter" pitchFamily="34" charset="0"/>
                <a:ea typeface="Inter" pitchFamily="34" charset="-122"/>
                <a:cs typeface="Inter" pitchFamily="34" charset="-120"/>
              </a:rPr>
              <a:t>Automated Code Review in Practice</a:t>
            </a:r>
            <a:r>
              <a:rPr lang="en-US" sz="950" dirty="0">
                <a:solidFill>
                  <a:srgbClr val="C7CDD6"/>
                </a:solidFill>
                <a:latin typeface="Inter" pitchFamily="34" charset="0"/>
                <a:ea typeface="Inter" pitchFamily="34" charset="-122"/>
                <a:cs typeface="Inter" pitchFamily="34" charset="-120"/>
              </a:rPr>
              <a:t>, IEEE/ACM ICSE-SEIP, 2025</a:t>
            </a:r>
            <a:endParaRPr lang="en-US" sz="950" dirty="0"/>
          </a:p>
        </p:txBody>
      </p:sp>
      <p:sp>
        <p:nvSpPr>
          <p:cNvPr id="47" name="Text 45"/>
          <p:cNvSpPr/>
          <p:nvPr/>
        </p:nvSpPr>
        <p:spPr>
          <a:xfrm>
            <a:off x="4413536" y="4359771"/>
            <a:ext cx="3974306" cy="178792"/>
          </a:xfrm>
          <a:prstGeom prst="rect">
            <a:avLst/>
          </a:prstGeom>
          <a:noFill/>
          <a:ln/>
        </p:spPr>
        <p:txBody>
          <a:bodyPr wrap="none" lIns="0" tIns="0" rIns="0" bIns="0" rtlCol="0" anchor="t"/>
          <a:lstStyle/>
          <a:p>
            <a:pPr marL="0" indent="0" algn="l">
              <a:lnSpc>
                <a:spcPct val="118000"/>
              </a:lnSpc>
              <a:buNone/>
            </a:pPr>
            <a:r>
              <a:rPr lang="en-US" sz="950" dirty="0">
                <a:solidFill>
                  <a:srgbClr val="C7CDD6"/>
                </a:solidFill>
                <a:latin typeface="Inter" pitchFamily="34" charset="0"/>
                <a:ea typeface="Inter" pitchFamily="34" charset="-122"/>
                <a:cs typeface="Inter" pitchFamily="34" charset="-120"/>
              </a:rPr>
              <a:t>Industrial evaluation of LLM-based code review</a:t>
            </a:r>
            <a:endParaRPr lang="en-US" sz="950" dirty="0"/>
          </a:p>
        </p:txBody>
      </p:sp>
      <p:sp>
        <p:nvSpPr>
          <p:cNvPr id="48" name="Text 46"/>
          <p:cNvSpPr/>
          <p:nvPr/>
        </p:nvSpPr>
        <p:spPr>
          <a:xfrm>
            <a:off x="8031458" y="4359771"/>
            <a:ext cx="3974306" cy="178792"/>
          </a:xfrm>
          <a:prstGeom prst="rect">
            <a:avLst/>
          </a:prstGeom>
          <a:noFill/>
          <a:ln/>
        </p:spPr>
        <p:txBody>
          <a:bodyPr wrap="none" lIns="0" tIns="0" rIns="0" bIns="0" rtlCol="0" anchor="t"/>
          <a:lstStyle/>
          <a:p>
            <a:pPr marL="0" indent="0" algn="l">
              <a:lnSpc>
                <a:spcPct val="118000"/>
              </a:lnSpc>
              <a:buNone/>
            </a:pPr>
            <a:r>
              <a:rPr lang="en-US" sz="950" dirty="0">
                <a:solidFill>
                  <a:srgbClr val="C7CDD6"/>
                </a:solidFill>
                <a:latin typeface="Inter" pitchFamily="34" charset="0"/>
                <a:ea typeface="Inter" pitchFamily="34" charset="-122"/>
                <a:cs typeface="Inter" pitchFamily="34" charset="-120"/>
              </a:rPr>
              <a:t>Shows practical value and limits of AI review</a:t>
            </a:r>
            <a:endParaRPr lang="en-US" sz="950" dirty="0"/>
          </a:p>
        </p:txBody>
      </p:sp>
      <p:sp>
        <p:nvSpPr>
          <p:cNvPr id="49" name="Text 47"/>
          <p:cNvSpPr/>
          <p:nvPr/>
        </p:nvSpPr>
        <p:spPr>
          <a:xfrm>
            <a:off x="795615" y="4852690"/>
            <a:ext cx="3364721" cy="357584"/>
          </a:xfrm>
          <a:prstGeom prst="rect">
            <a:avLst/>
          </a:prstGeom>
          <a:noFill/>
          <a:ln/>
        </p:spPr>
        <p:txBody>
          <a:bodyPr wrap="square" lIns="0" tIns="0" rIns="0" bIns="0" rtlCol="0" anchor="t">
            <a:normAutofit/>
          </a:bodyPr>
          <a:lstStyle/>
          <a:p>
            <a:pPr marL="0" indent="0" algn="l">
              <a:lnSpc>
                <a:spcPct val="118000"/>
              </a:lnSpc>
              <a:buNone/>
            </a:pPr>
            <a:r>
              <a:rPr lang="en-US" sz="950" i="1" dirty="0">
                <a:solidFill>
                  <a:srgbClr val="C7CDD6"/>
                </a:solidFill>
                <a:latin typeface="Inter" pitchFamily="34" charset="0"/>
                <a:ea typeface="Inter" pitchFamily="34" charset="-122"/>
                <a:cs typeface="Inter" pitchFamily="34" charset="-120"/>
              </a:rPr>
              <a:t>Automated Code Review Using LLMs with Symbolic Reasoning</a:t>
            </a:r>
            <a:r>
              <a:rPr lang="en-US" sz="950" dirty="0">
                <a:solidFill>
                  <a:srgbClr val="C7CDD6"/>
                </a:solidFill>
                <a:latin typeface="Inter" pitchFamily="34" charset="0"/>
                <a:ea typeface="Inter" pitchFamily="34" charset="-122"/>
                <a:cs typeface="Inter" pitchFamily="34" charset="-120"/>
              </a:rPr>
              <a:t>, 2025</a:t>
            </a:r>
            <a:endParaRPr lang="en-US" sz="950" dirty="0"/>
          </a:p>
        </p:txBody>
      </p:sp>
      <p:sp>
        <p:nvSpPr>
          <p:cNvPr id="50" name="Text 48"/>
          <p:cNvSpPr/>
          <p:nvPr/>
        </p:nvSpPr>
        <p:spPr>
          <a:xfrm>
            <a:off x="4413536" y="4852690"/>
            <a:ext cx="3974306" cy="178792"/>
          </a:xfrm>
          <a:prstGeom prst="rect">
            <a:avLst/>
          </a:prstGeom>
          <a:noFill/>
          <a:ln/>
        </p:spPr>
        <p:txBody>
          <a:bodyPr wrap="none" lIns="0" tIns="0" rIns="0" bIns="0" rtlCol="0" anchor="t"/>
          <a:lstStyle/>
          <a:p>
            <a:pPr marL="0" indent="0" algn="l">
              <a:lnSpc>
                <a:spcPct val="118000"/>
              </a:lnSpc>
              <a:buNone/>
            </a:pPr>
            <a:r>
              <a:rPr lang="en-US" sz="950" dirty="0">
                <a:solidFill>
                  <a:srgbClr val="C7CDD6"/>
                </a:solidFill>
                <a:latin typeface="Inter" pitchFamily="34" charset="0"/>
                <a:ea typeface="Inter" pitchFamily="34" charset="-122"/>
                <a:cs typeface="Inter" pitchFamily="34" charset="-120"/>
              </a:rPr>
              <a:t>LLMs + symbolic reasoning for improved accuracy</a:t>
            </a:r>
            <a:endParaRPr lang="en-US" sz="950" dirty="0"/>
          </a:p>
        </p:txBody>
      </p:sp>
      <p:sp>
        <p:nvSpPr>
          <p:cNvPr id="51" name="Text 49"/>
          <p:cNvSpPr/>
          <p:nvPr/>
        </p:nvSpPr>
        <p:spPr>
          <a:xfrm>
            <a:off x="8031458" y="4852690"/>
            <a:ext cx="3974306" cy="178792"/>
          </a:xfrm>
          <a:prstGeom prst="rect">
            <a:avLst/>
          </a:prstGeom>
          <a:noFill/>
          <a:ln/>
        </p:spPr>
        <p:txBody>
          <a:bodyPr wrap="none" lIns="0" tIns="0" rIns="0" bIns="0" rtlCol="0" anchor="t"/>
          <a:lstStyle/>
          <a:p>
            <a:pPr marL="0" indent="0" algn="l">
              <a:lnSpc>
                <a:spcPct val="118000"/>
              </a:lnSpc>
              <a:buNone/>
            </a:pPr>
            <a:r>
              <a:rPr lang="en-US" sz="950" dirty="0">
                <a:solidFill>
                  <a:srgbClr val="C7CDD6"/>
                </a:solidFill>
                <a:latin typeface="Inter" pitchFamily="34" charset="0"/>
                <a:ea typeface="Inter" pitchFamily="34" charset="-122"/>
                <a:cs typeface="Inter" pitchFamily="34" charset="-120"/>
              </a:rPr>
              <a:t>Demonstrates enhanced reasoning in code review</a:t>
            </a:r>
            <a:endParaRPr lang="en-US" sz="950" dirty="0"/>
          </a:p>
        </p:txBody>
      </p:sp>
      <p:sp>
        <p:nvSpPr>
          <p:cNvPr id="52" name="Text 50"/>
          <p:cNvSpPr/>
          <p:nvPr/>
        </p:nvSpPr>
        <p:spPr>
          <a:xfrm>
            <a:off x="795615" y="5345609"/>
            <a:ext cx="3974306" cy="178792"/>
          </a:xfrm>
          <a:prstGeom prst="rect">
            <a:avLst/>
          </a:prstGeom>
          <a:noFill/>
          <a:ln/>
        </p:spPr>
        <p:txBody>
          <a:bodyPr wrap="none" lIns="0" tIns="0" rIns="0" bIns="0" rtlCol="0" anchor="t"/>
          <a:lstStyle/>
          <a:p>
            <a:pPr marL="0" indent="0" algn="l">
              <a:lnSpc>
                <a:spcPct val="118000"/>
              </a:lnSpc>
              <a:buNone/>
            </a:pPr>
            <a:r>
              <a:rPr lang="en-US" sz="950" i="1" dirty="0">
                <a:solidFill>
                  <a:srgbClr val="C7CDD6"/>
                </a:solidFill>
                <a:latin typeface="Inter" pitchFamily="34" charset="0"/>
                <a:ea typeface="Inter" pitchFamily="34" charset="-122"/>
                <a:cs typeface="Inter" pitchFamily="34" charset="-120"/>
              </a:rPr>
              <a:t>The Impact of LLMs on Code Review Process</a:t>
            </a:r>
            <a:r>
              <a:rPr lang="en-US" sz="950" dirty="0">
                <a:solidFill>
                  <a:srgbClr val="C7CDD6"/>
                </a:solidFill>
                <a:latin typeface="Inter" pitchFamily="34" charset="0"/>
                <a:ea typeface="Inter" pitchFamily="34" charset="-122"/>
                <a:cs typeface="Inter" pitchFamily="34" charset="-120"/>
              </a:rPr>
              <a:t>, 2025</a:t>
            </a:r>
            <a:endParaRPr lang="en-US" sz="950" dirty="0"/>
          </a:p>
        </p:txBody>
      </p:sp>
      <p:sp>
        <p:nvSpPr>
          <p:cNvPr id="53" name="Text 51"/>
          <p:cNvSpPr/>
          <p:nvPr/>
        </p:nvSpPr>
        <p:spPr>
          <a:xfrm>
            <a:off x="4413536" y="5345609"/>
            <a:ext cx="3974306" cy="178792"/>
          </a:xfrm>
          <a:prstGeom prst="rect">
            <a:avLst/>
          </a:prstGeom>
          <a:noFill/>
          <a:ln/>
        </p:spPr>
        <p:txBody>
          <a:bodyPr wrap="none" lIns="0" tIns="0" rIns="0" bIns="0" rtlCol="0" anchor="t"/>
          <a:lstStyle/>
          <a:p>
            <a:pPr marL="0" indent="0" algn="l">
              <a:lnSpc>
                <a:spcPct val="118000"/>
              </a:lnSpc>
              <a:buNone/>
            </a:pPr>
            <a:r>
              <a:rPr lang="en-US" sz="950" dirty="0">
                <a:solidFill>
                  <a:srgbClr val="C7CDD6"/>
                </a:solidFill>
                <a:latin typeface="Inter" pitchFamily="34" charset="0"/>
                <a:ea typeface="Inter" pitchFamily="34" charset="-122"/>
                <a:cs typeface="Inter" pitchFamily="34" charset="-120"/>
              </a:rPr>
              <a:t>LLM effects on GitHub PR workflows</a:t>
            </a:r>
            <a:endParaRPr lang="en-US" sz="950" dirty="0"/>
          </a:p>
        </p:txBody>
      </p:sp>
      <p:sp>
        <p:nvSpPr>
          <p:cNvPr id="54" name="Text 52"/>
          <p:cNvSpPr/>
          <p:nvPr/>
        </p:nvSpPr>
        <p:spPr>
          <a:xfrm>
            <a:off x="8031458" y="5345609"/>
            <a:ext cx="3974306" cy="178792"/>
          </a:xfrm>
          <a:prstGeom prst="rect">
            <a:avLst/>
          </a:prstGeom>
          <a:noFill/>
          <a:ln/>
        </p:spPr>
        <p:txBody>
          <a:bodyPr wrap="none" lIns="0" tIns="0" rIns="0" bIns="0" rtlCol="0" anchor="t"/>
          <a:lstStyle/>
          <a:p>
            <a:pPr marL="0" indent="0" algn="l">
              <a:lnSpc>
                <a:spcPct val="118000"/>
              </a:lnSpc>
              <a:buNone/>
            </a:pPr>
            <a:r>
              <a:rPr lang="en-US" sz="950" dirty="0">
                <a:solidFill>
                  <a:srgbClr val="C7CDD6"/>
                </a:solidFill>
                <a:latin typeface="Inter" pitchFamily="34" charset="0"/>
                <a:ea typeface="Inter" pitchFamily="34" charset="-122"/>
                <a:cs typeface="Inter" pitchFamily="34" charset="-120"/>
              </a:rPr>
              <a:t>Supports AI-assisted review for reduced effort</a:t>
            </a:r>
            <a:endParaRPr lang="en-US" sz="950" dirty="0"/>
          </a:p>
        </p:txBody>
      </p:sp>
      <p:sp>
        <p:nvSpPr>
          <p:cNvPr id="55" name="Shape 53"/>
          <p:cNvSpPr/>
          <p:nvPr/>
        </p:nvSpPr>
        <p:spPr>
          <a:xfrm>
            <a:off x="661475" y="5704284"/>
            <a:ext cx="10868745" cy="605036"/>
          </a:xfrm>
          <a:prstGeom prst="roundRect">
            <a:avLst>
              <a:gd name="adj" fmla="val 3139"/>
            </a:avLst>
          </a:prstGeom>
          <a:solidFill>
            <a:srgbClr val="7B0404"/>
          </a:solidFill>
          <a:ln/>
        </p:spPr>
      </p:sp>
      <p:pic>
        <p:nvPicPr>
          <p:cNvPr id="56" name="Image 0" descr="preencoded.png"/>
          <p:cNvPicPr>
            <a:picLocks noChangeAspect="1"/>
          </p:cNvPicPr>
          <p:nvPr/>
        </p:nvPicPr>
        <p:blipFill>
          <a:blip r:embed="rId3"/>
          <a:stretch>
            <a:fillRect/>
          </a:stretch>
        </p:blipFill>
        <p:spPr>
          <a:xfrm>
            <a:off x="788075" y="5842695"/>
            <a:ext cx="158250" cy="126603"/>
          </a:xfrm>
          <a:prstGeom prst="rect">
            <a:avLst/>
          </a:prstGeom>
        </p:spPr>
      </p:pic>
      <p:sp>
        <p:nvSpPr>
          <p:cNvPr id="57" name="Text 54"/>
          <p:cNvSpPr/>
          <p:nvPr/>
        </p:nvSpPr>
        <p:spPr>
          <a:xfrm>
            <a:off x="1072925" y="5832872"/>
            <a:ext cx="10330695" cy="357584"/>
          </a:xfrm>
          <a:prstGeom prst="rect">
            <a:avLst/>
          </a:prstGeom>
          <a:noFill/>
          <a:ln/>
        </p:spPr>
        <p:txBody>
          <a:bodyPr wrap="square" lIns="0" tIns="0" rIns="0" bIns="0" rtlCol="0" anchor="t">
            <a:normAutofit/>
          </a:bodyPr>
          <a:lstStyle/>
          <a:p>
            <a:pPr marL="0" indent="0" algn="l">
              <a:lnSpc>
                <a:spcPct val="118000"/>
              </a:lnSpc>
              <a:buNone/>
            </a:pPr>
            <a:r>
              <a:rPr lang="en-US" sz="950" b="1" dirty="0">
                <a:solidFill>
                  <a:srgbClr val="FFFFFF"/>
                </a:solidFill>
                <a:latin typeface="Inter Bold" pitchFamily="34" charset="0"/>
                <a:ea typeface="Inter Bold" pitchFamily="34" charset="-122"/>
                <a:cs typeface="Inter Bold" pitchFamily="34" charset="-120"/>
              </a:rPr>
              <a:t>Research Gap:</a:t>
            </a:r>
            <a:r>
              <a:rPr lang="en-US" sz="950" dirty="0">
                <a:solidFill>
                  <a:srgbClr val="FFFFFF"/>
                </a:solidFill>
                <a:latin typeface="Inter" pitchFamily="34" charset="0"/>
                <a:ea typeface="Inter" pitchFamily="34" charset="-122"/>
                <a:cs typeface="Inter" pitchFamily="34" charset="-120"/>
              </a:rPr>
              <a:t> Existing approaches show promise, but practical systems still need understandable feedback, useful suggestions, quality assessment, and developer-workflow integration.</a:t>
            </a:r>
            <a:endParaRPr lang="en-US" sz="950" dirty="0"/>
          </a:p>
        </p:txBody>
      </p:sp>
      <p:sp>
        <p:nvSpPr>
          <p:cNvPr id="58" name="Rectangle 57">
            <a:extLst>
              <a:ext uri="{FF2B5EF4-FFF2-40B4-BE49-F238E27FC236}">
                <a16:creationId xmlns:a16="http://schemas.microsoft.com/office/drawing/2014/main" id="{E0D803E6-0682-D0CD-CCBF-454DD9ED80FA}"/>
              </a:ext>
            </a:extLst>
          </p:cNvPr>
          <p:cNvSpPr/>
          <p:nvPr/>
        </p:nvSpPr>
        <p:spPr>
          <a:xfrm>
            <a:off x="10945906" y="6364941"/>
            <a:ext cx="1246094" cy="430306"/>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844649"/>
            <a:ext cx="2801074" cy="251420"/>
          </a:xfrm>
          <a:prstGeom prst="roundRect">
            <a:avLst>
              <a:gd name="adj" fmla="val 7894"/>
            </a:avLst>
          </a:prstGeom>
          <a:noFill/>
          <a:ln w="6350">
            <a:solidFill>
              <a:srgbClr val="FDC4C4"/>
            </a:solidFill>
            <a:prstDash val="solid"/>
          </a:ln>
        </p:spPr>
      </p:sp>
      <p:sp>
        <p:nvSpPr>
          <p:cNvPr id="3" name="Text 1"/>
          <p:cNvSpPr/>
          <p:nvPr/>
        </p:nvSpPr>
        <p:spPr>
          <a:xfrm>
            <a:off x="760691" y="894259"/>
            <a:ext cx="3212226" cy="152202"/>
          </a:xfrm>
          <a:prstGeom prst="rect">
            <a:avLst/>
          </a:prstGeom>
          <a:noFill/>
          <a:ln/>
        </p:spPr>
        <p:txBody>
          <a:bodyPr wrap="none" lIns="0" tIns="0" rIns="0" bIns="0" rtlCol="0" anchor="t"/>
          <a:lstStyle/>
          <a:p>
            <a:pPr marL="0" indent="0" algn="l">
              <a:lnSpc>
                <a:spcPct val="96000"/>
              </a:lnSpc>
              <a:buNone/>
            </a:pPr>
            <a:r>
              <a:rPr lang="en-US" sz="1000" dirty="0">
                <a:solidFill>
                  <a:srgbClr val="FDC4C4"/>
                </a:solidFill>
                <a:latin typeface="Inter" pitchFamily="34" charset="0"/>
                <a:ea typeface="Inter" pitchFamily="34" charset="-122"/>
                <a:cs typeface="Inter" pitchFamily="34" charset="-120"/>
              </a:rPr>
              <a:t>RESEARCH GAP &amp; PROPOSED SOLUTION</a:t>
            </a:r>
            <a:endParaRPr lang="en-US" sz="1000" dirty="0"/>
          </a:p>
        </p:txBody>
      </p:sp>
      <p:sp>
        <p:nvSpPr>
          <p:cNvPr id="4" name="Text 2"/>
          <p:cNvSpPr/>
          <p:nvPr/>
        </p:nvSpPr>
        <p:spPr>
          <a:xfrm>
            <a:off x="661475" y="1162149"/>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EFD5FA"/>
                </a:solidFill>
                <a:latin typeface="Instrument Sans Medium" pitchFamily="34" charset="0"/>
                <a:ea typeface="Instrument Sans Medium" pitchFamily="34" charset="-122"/>
                <a:cs typeface="Instrument Sans Medium" pitchFamily="34" charset="-120"/>
              </a:rPr>
              <a:t>Research Gap &amp; Proposed Solution</a:t>
            </a:r>
            <a:endParaRPr lang="en-US" sz="3250" dirty="0"/>
          </a:p>
        </p:txBody>
      </p:sp>
      <p:sp>
        <p:nvSpPr>
          <p:cNvPr id="5" name="Text 3"/>
          <p:cNvSpPr/>
          <p:nvPr/>
        </p:nvSpPr>
        <p:spPr>
          <a:xfrm>
            <a:off x="661475" y="1926927"/>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C7CDD6"/>
                </a:solidFill>
                <a:latin typeface="Inter" pitchFamily="34" charset="0"/>
                <a:ea typeface="Inter" pitchFamily="34" charset="-122"/>
                <a:cs typeface="Inter" pitchFamily="34" charset="-120"/>
              </a:rPr>
              <a:t>Existing approaches highlight the potential of automated code review, but practical gaps remain in feedback quality, consistency, and workflow integration. CodeInsight AI addresses these gaps through an AI-powered, end-to-end review system.</a:t>
            </a:r>
            <a:endParaRPr lang="en-US" sz="1300" dirty="0"/>
          </a:p>
        </p:txBody>
      </p:sp>
      <p:sp>
        <p:nvSpPr>
          <p:cNvPr id="6" name="Shape 4"/>
          <p:cNvSpPr/>
          <p:nvPr/>
        </p:nvSpPr>
        <p:spPr>
          <a:xfrm>
            <a:off x="542415" y="2642195"/>
            <a:ext cx="5470785" cy="2523827"/>
          </a:xfrm>
          <a:prstGeom prst="roundRect">
            <a:avLst>
              <a:gd name="adj" fmla="val 983"/>
            </a:avLst>
          </a:prstGeom>
          <a:solidFill>
            <a:srgbClr val="FDC4C4"/>
          </a:solidFill>
          <a:ln/>
        </p:spPr>
      </p:sp>
      <p:sp>
        <p:nvSpPr>
          <p:cNvPr id="7" name="Text 5"/>
          <p:cNvSpPr/>
          <p:nvPr/>
        </p:nvSpPr>
        <p:spPr>
          <a:xfrm>
            <a:off x="707710" y="2807494"/>
            <a:ext cx="5140196" cy="258465"/>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Instrument Sans Medium" pitchFamily="34" charset="0"/>
                <a:ea typeface="Instrument Sans Medium" pitchFamily="34" charset="-122"/>
                <a:cs typeface="Instrument Sans Medium" pitchFamily="34" charset="-120"/>
              </a:rPr>
              <a:t>Existing Challenges</a:t>
            </a:r>
            <a:endParaRPr lang="en-US" sz="1600" dirty="0"/>
          </a:p>
        </p:txBody>
      </p:sp>
      <p:sp>
        <p:nvSpPr>
          <p:cNvPr id="8" name="Text 6"/>
          <p:cNvSpPr/>
          <p:nvPr/>
        </p:nvSpPr>
        <p:spPr>
          <a:xfrm>
            <a:off x="707710" y="3231257"/>
            <a:ext cx="5140196" cy="1554460"/>
          </a:xfrm>
          <a:prstGeom prst="rect">
            <a:avLst/>
          </a:prstGeom>
          <a:noFill/>
          <a:ln/>
        </p:spPr>
        <p:txBody>
          <a:bodyPr wrap="square" lIns="0" tIns="66156" rIns="0" bIns="0" rtlCol="0" anchor="t">
            <a:normAutofit/>
          </a:bodyPr>
          <a:lstStyle/>
          <a:p>
            <a:pPr marL="264160" indent="-264160" algn="l">
              <a:lnSpc>
                <a:spcPct val="133000"/>
              </a:lnSpc>
              <a:buSzPct val="100000"/>
              <a:buChar char="•"/>
            </a:pPr>
            <a:r>
              <a:rPr lang="en-US" sz="1300" dirty="0">
                <a:solidFill>
                  <a:srgbClr val="000000"/>
                </a:solidFill>
                <a:latin typeface="Inter" pitchFamily="34" charset="0"/>
                <a:ea typeface="Inter" pitchFamily="34" charset="-122"/>
                <a:cs typeface="Inter" pitchFamily="34" charset="-120"/>
              </a:rPr>
              <a:t>Manual reviews require significant time and effort</a:t>
            </a:r>
            <a:endParaRPr lang="en-US" sz="1300" dirty="0"/>
          </a:p>
          <a:p>
            <a:pPr marL="264160" indent="-264160" algn="l">
              <a:lnSpc>
                <a:spcPct val="133000"/>
              </a:lnSpc>
              <a:buSzPct val="100000"/>
              <a:buChar char="•"/>
            </a:pPr>
            <a:r>
              <a:rPr lang="en-US" sz="1300" dirty="0">
                <a:solidFill>
                  <a:srgbClr val="000000"/>
                </a:solidFill>
                <a:latin typeface="Inter" pitchFamily="34" charset="0"/>
                <a:ea typeface="Inter" pitchFamily="34" charset="-122"/>
                <a:cs typeface="Inter" pitchFamily="34" charset="-120"/>
              </a:rPr>
              <a:t>Reviews can be inconsistent across reviewers</a:t>
            </a:r>
            <a:endParaRPr lang="en-US" sz="1300" dirty="0"/>
          </a:p>
          <a:p>
            <a:pPr marL="264160" indent="-264160" algn="l">
              <a:lnSpc>
                <a:spcPct val="133000"/>
              </a:lnSpc>
              <a:buSzPct val="100000"/>
              <a:buChar char="•"/>
            </a:pPr>
            <a:r>
              <a:rPr lang="en-US" sz="1300" dirty="0">
                <a:solidFill>
                  <a:srgbClr val="000000"/>
                </a:solidFill>
                <a:latin typeface="Inter" pitchFamily="34" charset="0"/>
                <a:ea typeface="Inter" pitchFamily="34" charset="-122"/>
                <a:cs typeface="Inter" pitchFamily="34" charset="-120"/>
              </a:rPr>
              <a:t>Important issues may be overlooked in large codebases</a:t>
            </a:r>
            <a:endParaRPr lang="en-US" sz="1300" dirty="0"/>
          </a:p>
          <a:p>
            <a:pPr marL="264160" indent="-264160" algn="l">
              <a:lnSpc>
                <a:spcPct val="133000"/>
              </a:lnSpc>
              <a:buSzPct val="100000"/>
              <a:buChar char="•"/>
            </a:pPr>
            <a:r>
              <a:rPr lang="en-US" sz="1300" dirty="0">
                <a:solidFill>
                  <a:srgbClr val="000000"/>
                </a:solidFill>
                <a:latin typeface="Inter" pitchFamily="34" charset="0"/>
                <a:ea typeface="Inter" pitchFamily="34" charset="-122"/>
                <a:cs typeface="Inter" pitchFamily="34" charset="-120"/>
              </a:rPr>
              <a:t>Rule-based tools depend on predefined patterns</a:t>
            </a:r>
            <a:endParaRPr lang="en-US" sz="1300" dirty="0"/>
          </a:p>
          <a:p>
            <a:pPr marL="264160" indent="-264160" algn="l">
              <a:lnSpc>
                <a:spcPct val="133000"/>
              </a:lnSpc>
              <a:buSzPct val="100000"/>
              <a:buChar char="•"/>
            </a:pPr>
            <a:r>
              <a:rPr lang="en-US" sz="1300" dirty="0">
                <a:solidFill>
                  <a:srgbClr val="000000"/>
                </a:solidFill>
                <a:latin typeface="Inter" pitchFamily="34" charset="0"/>
                <a:ea typeface="Inter" pitchFamily="34" charset="-122"/>
                <a:cs typeface="Inter" pitchFamily="34" charset="-120"/>
              </a:rPr>
              <a:t>Developers need clearer explanations and suggestions</a:t>
            </a:r>
            <a:endParaRPr lang="en-US" sz="1300" dirty="0"/>
          </a:p>
        </p:txBody>
      </p:sp>
      <p:sp>
        <p:nvSpPr>
          <p:cNvPr id="9" name="Text 7"/>
          <p:cNvSpPr/>
          <p:nvPr/>
        </p:nvSpPr>
        <p:spPr>
          <a:xfrm>
            <a:off x="6303904" y="2807494"/>
            <a:ext cx="5232666" cy="258465"/>
          </a:xfrm>
          <a:prstGeom prst="rect">
            <a:avLst/>
          </a:prstGeom>
          <a:noFill/>
          <a:ln/>
        </p:spPr>
        <p:txBody>
          <a:bodyPr wrap="none" lIns="0" tIns="0" rIns="0" bIns="0" rtlCol="0" anchor="t"/>
          <a:lstStyle/>
          <a:p>
            <a:pPr marL="0" indent="0" algn="l">
              <a:lnSpc>
                <a:spcPct val="104000"/>
              </a:lnSpc>
              <a:buNone/>
            </a:pPr>
            <a:r>
              <a:rPr lang="en-US" sz="1600" dirty="0">
                <a:solidFill>
                  <a:srgbClr val="EFD5FA"/>
                </a:solidFill>
                <a:latin typeface="Instrument Sans Medium" pitchFamily="34" charset="0"/>
                <a:ea typeface="Instrument Sans Medium" pitchFamily="34" charset="-122"/>
                <a:cs typeface="Instrument Sans Medium" pitchFamily="34" charset="-120"/>
              </a:rPr>
              <a:t>CodeInsight AI Approach</a:t>
            </a:r>
            <a:endParaRPr lang="en-US" sz="1600" dirty="0"/>
          </a:p>
        </p:txBody>
      </p:sp>
      <p:sp>
        <p:nvSpPr>
          <p:cNvPr id="10" name="Text 8"/>
          <p:cNvSpPr/>
          <p:nvPr/>
        </p:nvSpPr>
        <p:spPr>
          <a:xfrm>
            <a:off x="6303904" y="3231257"/>
            <a:ext cx="5232666" cy="1876921"/>
          </a:xfrm>
          <a:prstGeom prst="rect">
            <a:avLst/>
          </a:prstGeom>
          <a:noFill/>
          <a:ln/>
        </p:spPr>
        <p:txBody>
          <a:bodyPr wrap="square" lIns="0" tIns="66156" rIns="0" bIns="0" rtlCol="0" anchor="t">
            <a:normAutofit/>
          </a:bodyPr>
          <a:lstStyle/>
          <a:p>
            <a:pPr marL="264160" indent="-264160" algn="l">
              <a:lnSpc>
                <a:spcPct val="133000"/>
              </a:lnSpc>
              <a:buSzPct val="100000"/>
              <a:buChar char="•"/>
            </a:pPr>
            <a:r>
              <a:rPr lang="en-US" sz="1300" dirty="0">
                <a:solidFill>
                  <a:srgbClr val="C7CDD6"/>
                </a:solidFill>
                <a:latin typeface="Inter" pitchFamily="34" charset="0"/>
                <a:ea typeface="Inter" pitchFamily="34" charset="-122"/>
                <a:cs typeface="Inter" pitchFamily="34" charset="-120"/>
              </a:rPr>
              <a:t>Upload source code or connect a GitHub repository</a:t>
            </a:r>
            <a:endParaRPr lang="en-US" sz="1300" dirty="0"/>
          </a:p>
          <a:p>
            <a:pPr marL="264160" indent="-264160" algn="l">
              <a:lnSpc>
                <a:spcPct val="133000"/>
              </a:lnSpc>
              <a:buSzPct val="100000"/>
              <a:buChar char="•"/>
            </a:pPr>
            <a:r>
              <a:rPr lang="en-US" sz="1300" dirty="0">
                <a:solidFill>
                  <a:srgbClr val="C7CDD6"/>
                </a:solidFill>
                <a:latin typeface="Inter" pitchFamily="34" charset="0"/>
                <a:ea typeface="Inter" pitchFamily="34" charset="-122"/>
                <a:cs typeface="Inter" pitchFamily="34" charset="-120"/>
              </a:rPr>
              <a:t>Process submitted code through FastAPI backend</a:t>
            </a:r>
            <a:endParaRPr lang="en-US" sz="1300" dirty="0"/>
          </a:p>
          <a:p>
            <a:pPr marL="264160" indent="-264160" algn="l">
              <a:lnSpc>
                <a:spcPct val="133000"/>
              </a:lnSpc>
              <a:buSzPct val="100000"/>
              <a:buChar char="•"/>
            </a:pPr>
            <a:r>
              <a:rPr lang="en-US" sz="1300" dirty="0">
                <a:solidFill>
                  <a:srgbClr val="C7CDD6"/>
                </a:solidFill>
                <a:latin typeface="Inter" pitchFamily="34" charset="0"/>
                <a:ea typeface="Inter" pitchFamily="34" charset="-122"/>
                <a:cs typeface="Inter" pitchFamily="34" charset="-120"/>
              </a:rPr>
              <a:t>Analyze code using Gemini AI API</a:t>
            </a:r>
            <a:endParaRPr lang="en-US" sz="1300" dirty="0"/>
          </a:p>
          <a:p>
            <a:pPr marL="264160" indent="-264160" algn="l">
              <a:lnSpc>
                <a:spcPct val="133000"/>
              </a:lnSpc>
              <a:buSzPct val="100000"/>
              <a:buChar char="•"/>
            </a:pPr>
            <a:r>
              <a:rPr lang="en-US" sz="1300" dirty="0">
                <a:solidFill>
                  <a:srgbClr val="C7CDD6"/>
                </a:solidFill>
                <a:latin typeface="Inter" pitchFamily="34" charset="0"/>
                <a:ea typeface="Inter" pitchFamily="34" charset="-122"/>
                <a:cs typeface="Inter" pitchFamily="34" charset="-120"/>
              </a:rPr>
              <a:t>Detect potential bugs and coding issues</a:t>
            </a:r>
            <a:endParaRPr lang="en-US" sz="1300" dirty="0"/>
          </a:p>
          <a:p>
            <a:pPr marL="264160" indent="-264160" algn="l">
              <a:lnSpc>
                <a:spcPct val="133000"/>
              </a:lnSpc>
              <a:buSzPct val="100000"/>
              <a:buChar char="•"/>
            </a:pPr>
            <a:r>
              <a:rPr lang="en-US" sz="1300" dirty="0">
                <a:solidFill>
                  <a:srgbClr val="C7CDD6"/>
                </a:solidFill>
                <a:latin typeface="Inter" pitchFamily="34" charset="0"/>
                <a:ea typeface="Inter" pitchFamily="34" charset="-122"/>
                <a:cs typeface="Inter" pitchFamily="34" charset="-120"/>
              </a:rPr>
              <a:t>Generate improvement suggestions and quality score</a:t>
            </a:r>
            <a:endParaRPr lang="en-US" sz="1300" dirty="0"/>
          </a:p>
          <a:p>
            <a:pPr marL="264160" indent="-264160" algn="l">
              <a:lnSpc>
                <a:spcPct val="133000"/>
              </a:lnSpc>
              <a:buSzPct val="100000"/>
              <a:buChar char="•"/>
            </a:pPr>
            <a:r>
              <a:rPr lang="en-US" sz="1300" dirty="0">
                <a:solidFill>
                  <a:srgbClr val="C7CDD6"/>
                </a:solidFill>
                <a:latin typeface="Inter" pitchFamily="34" charset="0"/>
                <a:ea typeface="Inter" pitchFamily="34" charset="-122"/>
                <a:cs typeface="Inter" pitchFamily="34" charset="-120"/>
              </a:rPr>
              <a:t>Store and display results via a review dashboard</a:t>
            </a:r>
            <a:endParaRPr lang="en-US" sz="1300" dirty="0"/>
          </a:p>
        </p:txBody>
      </p:sp>
      <p:sp>
        <p:nvSpPr>
          <p:cNvPr id="11" name="Shape 9"/>
          <p:cNvSpPr/>
          <p:nvPr/>
        </p:nvSpPr>
        <p:spPr>
          <a:xfrm>
            <a:off x="661475" y="5352058"/>
            <a:ext cx="10868745" cy="661293"/>
          </a:xfrm>
          <a:prstGeom prst="roundRect">
            <a:avLst>
              <a:gd name="adj" fmla="val 3752"/>
            </a:avLst>
          </a:prstGeom>
          <a:solidFill>
            <a:srgbClr val="7B0404"/>
          </a:solidFill>
          <a:ln/>
        </p:spPr>
      </p:sp>
      <p:pic>
        <p:nvPicPr>
          <p:cNvPr id="12" name="Image 0" descr="preencoded.png"/>
          <p:cNvPicPr>
            <a:picLocks noChangeAspect="1"/>
          </p:cNvPicPr>
          <p:nvPr/>
        </p:nvPicPr>
        <p:blipFill>
          <a:blip r:embed="rId3"/>
          <a:stretch>
            <a:fillRect/>
          </a:stretch>
        </p:blipFill>
        <p:spPr>
          <a:xfrm>
            <a:off x="826769" y="5591770"/>
            <a:ext cx="206667" cy="165298"/>
          </a:xfrm>
          <a:prstGeom prst="rect">
            <a:avLst/>
          </a:prstGeom>
        </p:spPr>
      </p:pic>
      <p:sp>
        <p:nvSpPr>
          <p:cNvPr id="13" name="Text 10"/>
          <p:cNvSpPr/>
          <p:nvPr/>
        </p:nvSpPr>
        <p:spPr>
          <a:xfrm>
            <a:off x="1198731" y="5558631"/>
            <a:ext cx="10775780" cy="264616"/>
          </a:xfrm>
          <a:prstGeom prst="rect">
            <a:avLst/>
          </a:prstGeom>
          <a:noFill/>
          <a:ln/>
        </p:spPr>
        <p:txBody>
          <a:bodyPr wrap="none" lIns="0" tIns="0" rIns="0" bIns="0" rtlCol="0" anchor="t"/>
          <a:lstStyle/>
          <a:p>
            <a:pPr marL="0" indent="0" algn="l">
              <a:lnSpc>
                <a:spcPct val="133000"/>
              </a:lnSpc>
              <a:buNone/>
            </a:pPr>
            <a:r>
              <a:rPr lang="en-US" sz="1300" b="1" dirty="0">
                <a:solidFill>
                  <a:srgbClr val="FFFFFF"/>
                </a:solidFill>
                <a:latin typeface="Inter Bold" pitchFamily="34" charset="0"/>
                <a:ea typeface="Inter Bold" pitchFamily="34" charset="-122"/>
                <a:cs typeface="Inter Bold" pitchFamily="34" charset="-120"/>
              </a:rPr>
              <a:t>Goal:</a:t>
            </a:r>
            <a:r>
              <a:rPr lang="en-US" sz="1300" dirty="0">
                <a:solidFill>
                  <a:srgbClr val="FFFFFF"/>
                </a:solidFill>
                <a:latin typeface="Inter" pitchFamily="34" charset="0"/>
                <a:ea typeface="Inter" pitchFamily="34" charset="-122"/>
                <a:cs typeface="Inter" pitchFamily="34" charset="-120"/>
              </a:rPr>
              <a:t> Reduce manual effort while providing understandable and actionable AI-assisted code review.</a:t>
            </a:r>
            <a:endParaRPr lang="en-US" sz="1300" dirty="0"/>
          </a:p>
        </p:txBody>
      </p:sp>
      <p:sp>
        <p:nvSpPr>
          <p:cNvPr id="14" name="Rectangle 13">
            <a:extLst>
              <a:ext uri="{FF2B5EF4-FFF2-40B4-BE49-F238E27FC236}">
                <a16:creationId xmlns:a16="http://schemas.microsoft.com/office/drawing/2014/main" id="{C28AA908-460E-AB5D-0645-586FCF1D0EC9}"/>
              </a:ext>
            </a:extLst>
          </p:cNvPr>
          <p:cNvSpPr/>
          <p:nvPr/>
        </p:nvSpPr>
        <p:spPr>
          <a:xfrm>
            <a:off x="10945906" y="6364941"/>
            <a:ext cx="1246094" cy="430306"/>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454819"/>
            <a:ext cx="1018455" cy="125710"/>
          </a:xfrm>
          <a:prstGeom prst="roundRect">
            <a:avLst>
              <a:gd name="adj" fmla="val 7894"/>
            </a:avLst>
          </a:prstGeom>
          <a:noFill/>
          <a:ln w="6350">
            <a:solidFill>
              <a:srgbClr val="FDC4C4"/>
            </a:solidFill>
            <a:prstDash val="solid"/>
          </a:ln>
        </p:spPr>
      </p:sp>
      <p:sp>
        <p:nvSpPr>
          <p:cNvPr id="3" name="Text 1"/>
          <p:cNvSpPr/>
          <p:nvPr/>
        </p:nvSpPr>
        <p:spPr>
          <a:xfrm>
            <a:off x="711083" y="479623"/>
            <a:ext cx="1528823" cy="76101"/>
          </a:xfrm>
          <a:prstGeom prst="rect">
            <a:avLst/>
          </a:prstGeom>
          <a:noFill/>
          <a:ln/>
        </p:spPr>
        <p:txBody>
          <a:bodyPr wrap="none" lIns="0" tIns="0" rIns="0" bIns="0" rtlCol="0" anchor="t"/>
          <a:lstStyle/>
          <a:p>
            <a:pPr marL="0" indent="0" algn="l">
              <a:lnSpc>
                <a:spcPct val="96000"/>
              </a:lnSpc>
              <a:buNone/>
            </a:pPr>
            <a:r>
              <a:rPr lang="en-US" sz="500" dirty="0">
                <a:solidFill>
                  <a:srgbClr val="FDC4C4"/>
                </a:solidFill>
                <a:latin typeface="Inter" pitchFamily="34" charset="0"/>
                <a:ea typeface="Inter" pitchFamily="34" charset="-122"/>
                <a:cs typeface="Inter" pitchFamily="34" charset="-120"/>
              </a:rPr>
              <a:t>WORKFLOW ARCHITECTURE</a:t>
            </a:r>
            <a:endParaRPr lang="en-US" sz="500" dirty="0"/>
          </a:p>
        </p:txBody>
      </p:sp>
      <p:sp>
        <p:nvSpPr>
          <p:cNvPr id="4" name="Text 2"/>
          <p:cNvSpPr/>
          <p:nvPr/>
        </p:nvSpPr>
        <p:spPr>
          <a:xfrm>
            <a:off x="661475" y="596999"/>
            <a:ext cx="10868745" cy="258465"/>
          </a:xfrm>
          <a:prstGeom prst="rect">
            <a:avLst/>
          </a:prstGeom>
          <a:noFill/>
          <a:ln/>
        </p:spPr>
        <p:txBody>
          <a:bodyPr wrap="none" lIns="0" tIns="0" rIns="0" bIns="0" rtlCol="0" anchor="t"/>
          <a:lstStyle/>
          <a:p>
            <a:pPr marL="0" indent="0" algn="l">
              <a:lnSpc>
                <a:spcPct val="104000"/>
              </a:lnSpc>
              <a:buNone/>
            </a:pPr>
            <a:r>
              <a:rPr lang="en-US" sz="1600" dirty="0">
                <a:solidFill>
                  <a:srgbClr val="EFD5FA"/>
                </a:solidFill>
                <a:latin typeface="Instrument Sans Medium" pitchFamily="34" charset="0"/>
                <a:ea typeface="Instrument Sans Medium" pitchFamily="34" charset="-122"/>
                <a:cs typeface="Instrument Sans Medium" pitchFamily="34" charset="-120"/>
              </a:rPr>
              <a:t>Workflow Architecture</a:t>
            </a:r>
            <a:endParaRPr lang="en-US" sz="1600" dirty="0"/>
          </a:p>
        </p:txBody>
      </p:sp>
      <p:sp>
        <p:nvSpPr>
          <p:cNvPr id="5" name="Text 3"/>
          <p:cNvSpPr/>
          <p:nvPr/>
        </p:nvSpPr>
        <p:spPr>
          <a:xfrm>
            <a:off x="661475" y="917476"/>
            <a:ext cx="10868745" cy="198239"/>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C7CDD6"/>
                </a:solidFill>
                <a:latin typeface="Inter" pitchFamily="34" charset="0"/>
                <a:ea typeface="Inter" pitchFamily="34" charset="-122"/>
                <a:cs typeface="Inter" pitchFamily="34" charset="-120"/>
              </a:rPr>
              <a:t>The system follows a client-server architecture with AI-powered analysis at its core. The React.js frontend handles user interaction and code submission. The FastAPI backend orchestrates AI analysis via the Gemini AI API, stores results in SQLite, and serves them through a review dashboard. GitHub integration enables direct repository analysis.</a:t>
            </a:r>
            <a:endParaRPr lang="en-US" sz="650" dirty="0"/>
          </a:p>
        </p:txBody>
      </p:sp>
      <p:pic>
        <p:nvPicPr>
          <p:cNvPr id="6" name="Image 0" descr="preencoded.png"/>
          <p:cNvPicPr>
            <a:picLocks noChangeAspect="1"/>
          </p:cNvPicPr>
          <p:nvPr/>
        </p:nvPicPr>
        <p:blipFill>
          <a:blip r:embed="rId3"/>
          <a:stretch>
            <a:fillRect/>
          </a:stretch>
        </p:blipFill>
        <p:spPr>
          <a:xfrm>
            <a:off x="661475" y="1162149"/>
            <a:ext cx="9753356" cy="5486400"/>
          </a:xfrm>
          <a:prstGeom prst="rect">
            <a:avLst/>
          </a:prstGeom>
        </p:spPr>
      </p:pic>
      <p:sp>
        <p:nvSpPr>
          <p:cNvPr id="7" name="Shape 4"/>
          <p:cNvSpPr/>
          <p:nvPr/>
        </p:nvSpPr>
        <p:spPr>
          <a:xfrm>
            <a:off x="601945" y="6694984"/>
            <a:ext cx="5452628" cy="892770"/>
          </a:xfrm>
          <a:prstGeom prst="roundRect">
            <a:avLst>
              <a:gd name="adj" fmla="val 1389"/>
            </a:avLst>
          </a:prstGeom>
          <a:solidFill>
            <a:srgbClr val="FDC4C4"/>
          </a:solidFill>
          <a:ln/>
        </p:spPr>
      </p:sp>
      <p:sp>
        <p:nvSpPr>
          <p:cNvPr id="8" name="Text 5"/>
          <p:cNvSpPr/>
          <p:nvPr/>
        </p:nvSpPr>
        <p:spPr>
          <a:xfrm>
            <a:off x="684592" y="6736259"/>
            <a:ext cx="5287334" cy="129183"/>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Instrument Sans Medium" pitchFamily="34" charset="0"/>
                <a:ea typeface="Instrument Sans Medium" pitchFamily="34" charset="-122"/>
                <a:cs typeface="Instrument Sans Medium" pitchFamily="34" charset="-120"/>
              </a:rPr>
              <a:t>Technology Stack</a:t>
            </a:r>
            <a:endParaRPr lang="en-US" sz="800" dirty="0"/>
          </a:p>
        </p:txBody>
      </p:sp>
      <p:sp>
        <p:nvSpPr>
          <p:cNvPr id="9" name="Text 6"/>
          <p:cNvSpPr/>
          <p:nvPr/>
        </p:nvSpPr>
        <p:spPr>
          <a:xfrm>
            <a:off x="684592" y="6906716"/>
            <a:ext cx="5287334" cy="666651"/>
          </a:xfrm>
          <a:prstGeom prst="rect">
            <a:avLst/>
          </a:prstGeom>
          <a:noFill/>
          <a:ln/>
        </p:spPr>
        <p:txBody>
          <a:bodyPr wrap="square" lIns="0" tIns="33078" rIns="0" bIns="0" rtlCol="0" anchor="t">
            <a:normAutofit/>
          </a:bodyPr>
          <a:lstStyle/>
          <a:p>
            <a:pPr marL="132080" indent="-132080" algn="l">
              <a:lnSpc>
                <a:spcPct val="100000"/>
              </a:lnSpc>
              <a:buSzPct val="100000"/>
              <a:buChar char="•"/>
            </a:pPr>
            <a:r>
              <a:rPr lang="en-US" sz="650" b="1" dirty="0">
                <a:solidFill>
                  <a:srgbClr val="000000"/>
                </a:solidFill>
                <a:latin typeface="Inter Bold" pitchFamily="34" charset="0"/>
                <a:ea typeface="Inter Bold" pitchFamily="34" charset="-122"/>
                <a:cs typeface="Inter Bold" pitchFamily="34" charset="-120"/>
              </a:rPr>
              <a:t>Frontend:</a:t>
            </a:r>
            <a:r>
              <a:rPr lang="en-US" sz="650" dirty="0">
                <a:solidFill>
                  <a:srgbClr val="000000"/>
                </a:solidFill>
                <a:latin typeface="Inter" pitchFamily="34" charset="0"/>
                <a:ea typeface="Inter" pitchFamily="34" charset="-122"/>
                <a:cs typeface="Inter" pitchFamily="34" charset="-120"/>
              </a:rPr>
              <a:t> React.js</a:t>
            </a:r>
            <a:endParaRPr lang="en-US" sz="650" dirty="0"/>
          </a:p>
          <a:p>
            <a:pPr marL="132080" indent="-132080" algn="l">
              <a:lnSpc>
                <a:spcPct val="100000"/>
              </a:lnSpc>
              <a:buSzPct val="100000"/>
              <a:buChar char="•"/>
            </a:pPr>
            <a:r>
              <a:rPr lang="en-US" sz="650" b="1" dirty="0">
                <a:solidFill>
                  <a:srgbClr val="000000"/>
                </a:solidFill>
                <a:latin typeface="Inter Bold" pitchFamily="34" charset="0"/>
                <a:ea typeface="Inter Bold" pitchFamily="34" charset="-122"/>
                <a:cs typeface="Inter Bold" pitchFamily="34" charset="-120"/>
              </a:rPr>
              <a:t>Backend:</a:t>
            </a:r>
            <a:r>
              <a:rPr lang="en-US" sz="650" dirty="0">
                <a:solidFill>
                  <a:srgbClr val="000000"/>
                </a:solidFill>
                <a:latin typeface="Inter" pitchFamily="34" charset="0"/>
                <a:ea typeface="Inter" pitchFamily="34" charset="-122"/>
                <a:cs typeface="Inter" pitchFamily="34" charset="-120"/>
              </a:rPr>
              <a:t> FastAPI + Python</a:t>
            </a:r>
            <a:endParaRPr lang="en-US" sz="650" dirty="0"/>
          </a:p>
          <a:p>
            <a:pPr marL="132080" indent="-132080" algn="l">
              <a:lnSpc>
                <a:spcPct val="100000"/>
              </a:lnSpc>
              <a:buSzPct val="100000"/>
              <a:buChar char="•"/>
            </a:pPr>
            <a:r>
              <a:rPr lang="en-US" sz="650" b="1" dirty="0">
                <a:solidFill>
                  <a:srgbClr val="000000"/>
                </a:solidFill>
                <a:latin typeface="Inter Bold" pitchFamily="34" charset="0"/>
                <a:ea typeface="Inter Bold" pitchFamily="34" charset="-122"/>
                <a:cs typeface="Inter Bold" pitchFamily="34" charset="-120"/>
              </a:rPr>
              <a:t>AI:</a:t>
            </a:r>
            <a:r>
              <a:rPr lang="en-US" sz="650" dirty="0">
                <a:solidFill>
                  <a:srgbClr val="000000"/>
                </a:solidFill>
                <a:latin typeface="Inter" pitchFamily="34" charset="0"/>
                <a:ea typeface="Inter" pitchFamily="34" charset="-122"/>
                <a:cs typeface="Inter" pitchFamily="34" charset="-120"/>
              </a:rPr>
              <a:t> Gemini AI API</a:t>
            </a:r>
            <a:endParaRPr lang="en-US" sz="650" dirty="0"/>
          </a:p>
          <a:p>
            <a:pPr marL="132080" indent="-132080" algn="l">
              <a:lnSpc>
                <a:spcPct val="100000"/>
              </a:lnSpc>
              <a:buSzPct val="100000"/>
              <a:buChar char="•"/>
            </a:pPr>
            <a:r>
              <a:rPr lang="en-US" sz="650" b="1" dirty="0">
                <a:solidFill>
                  <a:srgbClr val="000000"/>
                </a:solidFill>
                <a:latin typeface="Inter Bold" pitchFamily="34" charset="0"/>
                <a:ea typeface="Inter Bold" pitchFamily="34" charset="-122"/>
                <a:cs typeface="Inter Bold" pitchFamily="34" charset="-120"/>
              </a:rPr>
              <a:t>Database:</a:t>
            </a:r>
            <a:r>
              <a:rPr lang="en-US" sz="650" dirty="0">
                <a:solidFill>
                  <a:srgbClr val="000000"/>
                </a:solidFill>
                <a:latin typeface="Inter" pitchFamily="34" charset="0"/>
                <a:ea typeface="Inter" pitchFamily="34" charset="-122"/>
                <a:cs typeface="Inter" pitchFamily="34" charset="-120"/>
              </a:rPr>
              <a:t> SQLite</a:t>
            </a:r>
            <a:endParaRPr lang="en-US" sz="650" dirty="0"/>
          </a:p>
          <a:p>
            <a:pPr marL="132080" indent="-132080" algn="l">
              <a:lnSpc>
                <a:spcPct val="100000"/>
              </a:lnSpc>
              <a:buSzPct val="100000"/>
              <a:buChar char="•"/>
            </a:pPr>
            <a:r>
              <a:rPr lang="en-US" sz="650" b="1" dirty="0">
                <a:solidFill>
                  <a:srgbClr val="000000"/>
                </a:solidFill>
                <a:latin typeface="Inter Bold" pitchFamily="34" charset="0"/>
                <a:ea typeface="Inter Bold" pitchFamily="34" charset="-122"/>
                <a:cs typeface="Inter Bold" pitchFamily="34" charset="-120"/>
              </a:rPr>
              <a:t>Version Control:</a:t>
            </a:r>
            <a:r>
              <a:rPr lang="en-US" sz="650" dirty="0">
                <a:solidFill>
                  <a:srgbClr val="000000"/>
                </a:solidFill>
                <a:latin typeface="Inter" pitchFamily="34" charset="0"/>
                <a:ea typeface="Inter" pitchFamily="34" charset="-122"/>
                <a:cs typeface="Inter" pitchFamily="34" charset="-120"/>
              </a:rPr>
              <a:t> Git + GitHub / GitHub API</a:t>
            </a:r>
            <a:endParaRPr lang="en-US" sz="650" dirty="0"/>
          </a:p>
          <a:p>
            <a:pPr marL="132080" indent="-132080" algn="l">
              <a:lnSpc>
                <a:spcPct val="100000"/>
              </a:lnSpc>
              <a:buSzPct val="100000"/>
              <a:buChar char="•"/>
            </a:pPr>
            <a:r>
              <a:rPr lang="en-US" sz="650" b="1" dirty="0">
                <a:solidFill>
                  <a:srgbClr val="000000"/>
                </a:solidFill>
                <a:latin typeface="Inter Bold" pitchFamily="34" charset="0"/>
                <a:ea typeface="Inter Bold" pitchFamily="34" charset="-122"/>
                <a:cs typeface="Inter Bold" pitchFamily="34" charset="-120"/>
              </a:rPr>
              <a:t>Automation:</a:t>
            </a:r>
            <a:r>
              <a:rPr lang="en-US" sz="650" dirty="0">
                <a:solidFill>
                  <a:srgbClr val="000000"/>
                </a:solidFill>
                <a:latin typeface="Inter" pitchFamily="34" charset="0"/>
                <a:ea typeface="Inter" pitchFamily="34" charset="-122"/>
                <a:cs typeface="Inter" pitchFamily="34" charset="-120"/>
              </a:rPr>
              <a:t> GitHub Actions</a:t>
            </a:r>
            <a:endParaRPr lang="en-US" sz="650" dirty="0"/>
          </a:p>
        </p:txBody>
      </p:sp>
      <p:sp>
        <p:nvSpPr>
          <p:cNvPr id="10" name="Text 7"/>
          <p:cNvSpPr/>
          <p:nvPr/>
        </p:nvSpPr>
        <p:spPr>
          <a:xfrm>
            <a:off x="6203001" y="6736259"/>
            <a:ext cx="5333569" cy="129183"/>
          </a:xfrm>
          <a:prstGeom prst="rect">
            <a:avLst/>
          </a:prstGeom>
          <a:noFill/>
          <a:ln/>
        </p:spPr>
        <p:txBody>
          <a:bodyPr wrap="none" lIns="0" tIns="0" rIns="0" bIns="0" rtlCol="0" anchor="t"/>
          <a:lstStyle/>
          <a:p>
            <a:pPr marL="0" indent="0" algn="l">
              <a:lnSpc>
                <a:spcPct val="104000"/>
              </a:lnSpc>
              <a:buNone/>
            </a:pPr>
            <a:r>
              <a:rPr lang="en-US" sz="800" dirty="0">
                <a:solidFill>
                  <a:srgbClr val="EFD5FA"/>
                </a:solidFill>
                <a:latin typeface="Instrument Sans Medium" pitchFamily="34" charset="0"/>
                <a:ea typeface="Instrument Sans Medium" pitchFamily="34" charset="-122"/>
                <a:cs typeface="Instrument Sans Medium" pitchFamily="34" charset="-120"/>
              </a:rPr>
              <a:t>Data Flow</a:t>
            </a:r>
            <a:endParaRPr lang="en-US" sz="800" dirty="0"/>
          </a:p>
        </p:txBody>
      </p:sp>
      <p:sp>
        <p:nvSpPr>
          <p:cNvPr id="11" name="Text 8"/>
          <p:cNvSpPr/>
          <p:nvPr/>
        </p:nvSpPr>
        <p:spPr>
          <a:xfrm>
            <a:off x="6203001" y="6906716"/>
            <a:ext cx="5333569" cy="235446"/>
          </a:xfrm>
          <a:prstGeom prst="rect">
            <a:avLst/>
          </a:prstGeom>
          <a:noFill/>
          <a:ln/>
        </p:spPr>
        <p:txBody>
          <a:bodyPr wrap="square" lIns="0" tIns="0" rIns="0" bIns="0" rtlCol="0" anchor="t"/>
          <a:lstStyle/>
          <a:p>
            <a:pPr marL="0" indent="0" algn="l">
              <a:lnSpc>
                <a:spcPct val="100000"/>
              </a:lnSpc>
              <a:spcAft>
                <a:spcPts val="250"/>
              </a:spcAft>
              <a:buNone/>
            </a:pPr>
            <a:r>
              <a:rPr lang="en-US" sz="650" dirty="0">
                <a:solidFill>
                  <a:srgbClr val="C7CDD6"/>
                </a:solidFill>
                <a:latin typeface="Inter" pitchFamily="34" charset="0"/>
                <a:ea typeface="Inter" pitchFamily="34" charset="-122"/>
                <a:cs typeface="Inter" pitchFamily="34" charset="-120"/>
              </a:rPr>
              <a:t>User → Code Input → Backend → AI Analysis → Results → Database → Dashboard</a:t>
            </a:r>
            <a:endParaRPr lang="en-US" sz="650" dirty="0"/>
          </a:p>
          <a:p>
            <a:pPr marL="0" indent="0" algn="l">
              <a:lnSpc>
                <a:spcPct val="100000"/>
              </a:lnSpc>
              <a:buNone/>
            </a:pPr>
            <a:r>
              <a:rPr lang="en-US" sz="650" dirty="0">
                <a:solidFill>
                  <a:srgbClr val="C7CDD6"/>
                </a:solidFill>
                <a:latin typeface="Inter" pitchFamily="34" charset="0"/>
                <a:ea typeface="Inter" pitchFamily="34" charset="-122"/>
                <a:cs typeface="Inter" pitchFamily="34" charset="-120"/>
              </a:rPr>
              <a:t>The GitHub API connects directly to the repository input stage, enabling seamless code retrieval for analysis.</a:t>
            </a:r>
            <a:endParaRPr lang="en-US" sz="650" dirty="0"/>
          </a:p>
        </p:txBody>
      </p:sp>
      <p:sp>
        <p:nvSpPr>
          <p:cNvPr id="12" name="Rectangle 11">
            <a:extLst>
              <a:ext uri="{FF2B5EF4-FFF2-40B4-BE49-F238E27FC236}">
                <a16:creationId xmlns:a16="http://schemas.microsoft.com/office/drawing/2014/main" id="{6EF06A83-16A6-38FB-58B9-5CC4004CB8CB}"/>
              </a:ext>
            </a:extLst>
          </p:cNvPr>
          <p:cNvSpPr/>
          <p:nvPr/>
        </p:nvSpPr>
        <p:spPr>
          <a:xfrm>
            <a:off x="10945906" y="6364941"/>
            <a:ext cx="1246094" cy="430306"/>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511770"/>
            <a:ext cx="1298046" cy="227806"/>
          </a:xfrm>
          <a:prstGeom prst="roundRect">
            <a:avLst>
              <a:gd name="adj" fmla="val 7895"/>
            </a:avLst>
          </a:prstGeom>
          <a:noFill/>
          <a:ln w="6350">
            <a:solidFill>
              <a:srgbClr val="FDC4C4"/>
            </a:solidFill>
            <a:prstDash val="solid"/>
          </a:ln>
        </p:spPr>
      </p:sp>
      <p:sp>
        <p:nvSpPr>
          <p:cNvPr id="3" name="Text 1"/>
          <p:cNvSpPr/>
          <p:nvPr/>
        </p:nvSpPr>
        <p:spPr>
          <a:xfrm>
            <a:off x="751365" y="556716"/>
            <a:ext cx="1727851" cy="137914"/>
          </a:xfrm>
          <a:prstGeom prst="rect">
            <a:avLst/>
          </a:prstGeom>
          <a:noFill/>
          <a:ln/>
        </p:spPr>
        <p:txBody>
          <a:bodyPr wrap="none" lIns="0" tIns="0" rIns="0" bIns="0" rtlCol="0" anchor="t"/>
          <a:lstStyle/>
          <a:p>
            <a:pPr marL="0" indent="0" algn="l">
              <a:lnSpc>
                <a:spcPct val="96000"/>
              </a:lnSpc>
              <a:buNone/>
            </a:pPr>
            <a:r>
              <a:rPr lang="en-US" sz="900" dirty="0">
                <a:solidFill>
                  <a:srgbClr val="FDC4C4"/>
                </a:solidFill>
                <a:latin typeface="Inter" pitchFamily="34" charset="0"/>
                <a:ea typeface="Inter" pitchFamily="34" charset="-122"/>
                <a:cs typeface="Inter" pitchFamily="34" charset="-120"/>
              </a:rPr>
              <a:t>SYSTEM MODULES</a:t>
            </a:r>
            <a:endParaRPr lang="en-US" sz="900" dirty="0"/>
          </a:p>
        </p:txBody>
      </p:sp>
      <p:sp>
        <p:nvSpPr>
          <p:cNvPr id="4" name="Text 2"/>
          <p:cNvSpPr/>
          <p:nvPr/>
        </p:nvSpPr>
        <p:spPr>
          <a:xfrm>
            <a:off x="661475" y="793849"/>
            <a:ext cx="10868745" cy="468412"/>
          </a:xfrm>
          <a:prstGeom prst="rect">
            <a:avLst/>
          </a:prstGeom>
          <a:noFill/>
          <a:ln/>
        </p:spPr>
        <p:txBody>
          <a:bodyPr wrap="none" lIns="0" tIns="0" rIns="0" bIns="0" rtlCol="0" anchor="t"/>
          <a:lstStyle/>
          <a:p>
            <a:pPr marL="0" indent="0" algn="l">
              <a:lnSpc>
                <a:spcPct val="104000"/>
              </a:lnSpc>
              <a:buNone/>
            </a:pPr>
            <a:r>
              <a:rPr lang="en-US" sz="2950" dirty="0">
                <a:solidFill>
                  <a:srgbClr val="EFD5FA"/>
                </a:solidFill>
                <a:latin typeface="Instrument Sans Medium" pitchFamily="34" charset="0"/>
                <a:ea typeface="Instrument Sans Medium" pitchFamily="34" charset="-122"/>
                <a:cs typeface="Instrument Sans Medium" pitchFamily="34" charset="-120"/>
              </a:rPr>
              <a:t>System Modules</a:t>
            </a:r>
            <a:endParaRPr lang="en-US" sz="2950" dirty="0"/>
          </a:p>
        </p:txBody>
      </p:sp>
      <p:sp>
        <p:nvSpPr>
          <p:cNvPr id="5" name="Text 3"/>
          <p:cNvSpPr/>
          <p:nvPr/>
        </p:nvSpPr>
        <p:spPr>
          <a:xfrm>
            <a:off x="661475" y="1465957"/>
            <a:ext cx="10868745"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C7CDD6"/>
                </a:solidFill>
                <a:latin typeface="Inter" pitchFamily="34" charset="0"/>
                <a:ea typeface="Inter" pitchFamily="34" charset="-122"/>
                <a:cs typeface="Inter" pitchFamily="34" charset="-120"/>
              </a:rPr>
              <a:t>CodeInsight AI is organized into six interconnected modules, each handling a distinct stage of the code review pipeline from authentication through result presentation.</a:t>
            </a:r>
            <a:endParaRPr lang="en-US" sz="1150" dirty="0"/>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075954"/>
            <a:ext cx="299732" cy="299740"/>
          </a:xfrm>
          <a:prstGeom prst="rect">
            <a:avLst/>
          </a:prstGeom>
        </p:spPr>
      </p:pic>
      <p:sp>
        <p:nvSpPr>
          <p:cNvPr id="7" name="Text 4"/>
          <p:cNvSpPr/>
          <p:nvPr/>
        </p:nvSpPr>
        <p:spPr>
          <a:xfrm>
            <a:off x="661475" y="2545457"/>
            <a:ext cx="5349444" cy="234156"/>
          </a:xfrm>
          <a:prstGeom prst="rect">
            <a:avLst/>
          </a:prstGeom>
          <a:noFill/>
          <a:ln/>
        </p:spPr>
        <p:txBody>
          <a:bodyPr wrap="none" lIns="0" tIns="0" rIns="0" bIns="0" rtlCol="0" anchor="t"/>
          <a:lstStyle/>
          <a:p>
            <a:pPr marL="0" indent="0" algn="l">
              <a:lnSpc>
                <a:spcPct val="104000"/>
              </a:lnSpc>
              <a:buNone/>
            </a:pPr>
            <a:r>
              <a:rPr lang="en-US" sz="1450" dirty="0">
                <a:solidFill>
                  <a:srgbClr val="C7CDD6"/>
                </a:solidFill>
                <a:latin typeface="Instrument Sans Medium" pitchFamily="34" charset="0"/>
                <a:ea typeface="Instrument Sans Medium" pitchFamily="34" charset="-122"/>
                <a:cs typeface="Instrument Sans Medium" pitchFamily="34" charset="-120"/>
              </a:rPr>
              <a:t>User Authentication</a:t>
            </a:r>
            <a:endParaRPr lang="en-US" sz="1450" dirty="0"/>
          </a:p>
        </p:txBody>
      </p:sp>
      <p:sp>
        <p:nvSpPr>
          <p:cNvPr id="8" name="Text 5"/>
          <p:cNvSpPr/>
          <p:nvPr/>
        </p:nvSpPr>
        <p:spPr>
          <a:xfrm>
            <a:off x="661475" y="2861072"/>
            <a:ext cx="5349444" cy="228600"/>
          </a:xfrm>
          <a:prstGeom prst="rect">
            <a:avLst/>
          </a:prstGeom>
          <a:noFill/>
          <a:ln/>
        </p:spPr>
        <p:txBody>
          <a:bodyPr wrap="none" lIns="0" tIns="0" rIns="0" bIns="0" rtlCol="0" anchor="t"/>
          <a:lstStyle/>
          <a:p>
            <a:pPr marL="0" indent="0" algn="l">
              <a:lnSpc>
                <a:spcPct val="127000"/>
              </a:lnSpc>
              <a:buNone/>
            </a:pPr>
            <a:r>
              <a:rPr lang="en-US" sz="1150" dirty="0">
                <a:solidFill>
                  <a:srgbClr val="C7CDD6"/>
                </a:solidFill>
                <a:latin typeface="Inter" pitchFamily="34" charset="0"/>
                <a:ea typeface="Inter" pitchFamily="34" charset="-122"/>
                <a:cs typeface="Inter" pitchFamily="34" charset="-120"/>
              </a:rPr>
              <a:t>Allows users to securely access the application.</a:t>
            </a:r>
            <a:endParaRPr lang="en-US" sz="1150" dirty="0"/>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80677" y="2075954"/>
            <a:ext cx="299732" cy="299740"/>
          </a:xfrm>
          <a:prstGeom prst="rect">
            <a:avLst/>
          </a:prstGeom>
        </p:spPr>
      </p:pic>
      <p:sp>
        <p:nvSpPr>
          <p:cNvPr id="10" name="Text 6"/>
          <p:cNvSpPr/>
          <p:nvPr/>
        </p:nvSpPr>
        <p:spPr>
          <a:xfrm>
            <a:off x="6180677" y="2545457"/>
            <a:ext cx="5349543" cy="234156"/>
          </a:xfrm>
          <a:prstGeom prst="rect">
            <a:avLst/>
          </a:prstGeom>
          <a:noFill/>
          <a:ln/>
        </p:spPr>
        <p:txBody>
          <a:bodyPr wrap="none" lIns="0" tIns="0" rIns="0" bIns="0" rtlCol="0" anchor="t"/>
          <a:lstStyle/>
          <a:p>
            <a:pPr marL="0" indent="0" algn="l">
              <a:lnSpc>
                <a:spcPct val="104000"/>
              </a:lnSpc>
              <a:buNone/>
            </a:pPr>
            <a:r>
              <a:rPr lang="en-US" sz="1450" dirty="0">
                <a:solidFill>
                  <a:srgbClr val="C7CDD6"/>
                </a:solidFill>
                <a:latin typeface="Instrument Sans Medium" pitchFamily="34" charset="0"/>
                <a:ea typeface="Instrument Sans Medium" pitchFamily="34" charset="-122"/>
                <a:cs typeface="Instrument Sans Medium" pitchFamily="34" charset="-120"/>
              </a:rPr>
              <a:t>Code Upload / GitHub Integration</a:t>
            </a:r>
            <a:endParaRPr lang="en-US" sz="1450" dirty="0"/>
          </a:p>
        </p:txBody>
      </p:sp>
      <p:sp>
        <p:nvSpPr>
          <p:cNvPr id="11" name="Text 7"/>
          <p:cNvSpPr/>
          <p:nvPr/>
        </p:nvSpPr>
        <p:spPr>
          <a:xfrm>
            <a:off x="6180677" y="2861072"/>
            <a:ext cx="5349543"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C7CDD6"/>
                </a:solidFill>
                <a:latin typeface="Inter" pitchFamily="34" charset="0"/>
                <a:ea typeface="Inter" pitchFamily="34" charset="-122"/>
                <a:cs typeface="Inter" pitchFamily="34" charset="-120"/>
              </a:rPr>
              <a:t>Accepts source code uploads or retrieves code from a GitHub repository via GitHub API.</a:t>
            </a:r>
            <a:endParaRPr lang="en-US" sz="1150" dirty="0"/>
          </a:p>
        </p:txBody>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589933"/>
            <a:ext cx="299732" cy="299740"/>
          </a:xfrm>
          <a:prstGeom prst="rect">
            <a:avLst/>
          </a:prstGeom>
        </p:spPr>
      </p:pic>
      <p:sp>
        <p:nvSpPr>
          <p:cNvPr id="13" name="Text 8"/>
          <p:cNvSpPr/>
          <p:nvPr/>
        </p:nvSpPr>
        <p:spPr>
          <a:xfrm>
            <a:off x="661475" y="4059436"/>
            <a:ext cx="5349444" cy="234156"/>
          </a:xfrm>
          <a:prstGeom prst="rect">
            <a:avLst/>
          </a:prstGeom>
          <a:noFill/>
          <a:ln/>
        </p:spPr>
        <p:txBody>
          <a:bodyPr wrap="none" lIns="0" tIns="0" rIns="0" bIns="0" rtlCol="0" anchor="t"/>
          <a:lstStyle/>
          <a:p>
            <a:pPr marL="0" indent="0" algn="l">
              <a:lnSpc>
                <a:spcPct val="104000"/>
              </a:lnSpc>
              <a:buNone/>
            </a:pPr>
            <a:r>
              <a:rPr lang="en-US" sz="1450" dirty="0">
                <a:solidFill>
                  <a:srgbClr val="C7CDD6"/>
                </a:solidFill>
                <a:latin typeface="Instrument Sans Medium" pitchFamily="34" charset="0"/>
                <a:ea typeface="Instrument Sans Medium" pitchFamily="34" charset="-122"/>
                <a:cs typeface="Instrument Sans Medium" pitchFamily="34" charset="-120"/>
              </a:rPr>
              <a:t>AI Code Analysis</a:t>
            </a:r>
            <a:endParaRPr lang="en-US" sz="1450" dirty="0"/>
          </a:p>
        </p:txBody>
      </p:sp>
      <p:sp>
        <p:nvSpPr>
          <p:cNvPr id="14" name="Text 9"/>
          <p:cNvSpPr/>
          <p:nvPr/>
        </p:nvSpPr>
        <p:spPr>
          <a:xfrm>
            <a:off x="661475" y="4375051"/>
            <a:ext cx="5349444"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C7CDD6"/>
                </a:solidFill>
                <a:latin typeface="Inter" pitchFamily="34" charset="0"/>
                <a:ea typeface="Inter" pitchFamily="34" charset="-122"/>
                <a:cs typeface="Inter" pitchFamily="34" charset="-120"/>
              </a:rPr>
              <a:t>Uses the Gemini AI API to analyze submitted code for bugs, issues, and quality.</a:t>
            </a:r>
            <a:endParaRPr lang="en-US" sz="1150" dirty="0"/>
          </a:p>
        </p:txBody>
      </p:sp>
      <p:pic>
        <p:nvPicPr>
          <p:cNvPr id="15"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80677" y="3589933"/>
            <a:ext cx="299732" cy="299740"/>
          </a:xfrm>
          <a:prstGeom prst="rect">
            <a:avLst/>
          </a:prstGeom>
        </p:spPr>
      </p:pic>
      <p:sp>
        <p:nvSpPr>
          <p:cNvPr id="16" name="Text 10"/>
          <p:cNvSpPr/>
          <p:nvPr/>
        </p:nvSpPr>
        <p:spPr>
          <a:xfrm>
            <a:off x="6180677" y="4059436"/>
            <a:ext cx="5349543" cy="234156"/>
          </a:xfrm>
          <a:prstGeom prst="rect">
            <a:avLst/>
          </a:prstGeom>
          <a:noFill/>
          <a:ln/>
        </p:spPr>
        <p:txBody>
          <a:bodyPr wrap="none" lIns="0" tIns="0" rIns="0" bIns="0" rtlCol="0" anchor="t"/>
          <a:lstStyle/>
          <a:p>
            <a:pPr marL="0" indent="0" algn="l">
              <a:lnSpc>
                <a:spcPct val="104000"/>
              </a:lnSpc>
              <a:buNone/>
            </a:pPr>
            <a:r>
              <a:rPr lang="en-US" sz="1450" dirty="0">
                <a:solidFill>
                  <a:srgbClr val="C7CDD6"/>
                </a:solidFill>
                <a:latin typeface="Instrument Sans Medium" pitchFamily="34" charset="0"/>
                <a:ea typeface="Instrument Sans Medium" pitchFamily="34" charset="-122"/>
                <a:cs typeface="Instrument Sans Medium" pitchFamily="34" charset="-120"/>
              </a:rPr>
              <a:t>Bug Detection</a:t>
            </a:r>
            <a:endParaRPr lang="en-US" sz="1450" dirty="0"/>
          </a:p>
        </p:txBody>
      </p:sp>
      <p:sp>
        <p:nvSpPr>
          <p:cNvPr id="17" name="Text 11"/>
          <p:cNvSpPr/>
          <p:nvPr/>
        </p:nvSpPr>
        <p:spPr>
          <a:xfrm>
            <a:off x="6180677" y="4375051"/>
            <a:ext cx="5349543" cy="228600"/>
          </a:xfrm>
          <a:prstGeom prst="rect">
            <a:avLst/>
          </a:prstGeom>
          <a:noFill/>
          <a:ln/>
        </p:spPr>
        <p:txBody>
          <a:bodyPr wrap="none" lIns="0" tIns="0" rIns="0" bIns="0" rtlCol="0" anchor="t"/>
          <a:lstStyle/>
          <a:p>
            <a:pPr marL="0" indent="0" algn="l">
              <a:lnSpc>
                <a:spcPct val="127000"/>
              </a:lnSpc>
              <a:buNone/>
            </a:pPr>
            <a:r>
              <a:rPr lang="en-US" sz="1150" dirty="0">
                <a:solidFill>
                  <a:srgbClr val="C7CDD6"/>
                </a:solidFill>
                <a:latin typeface="Inter" pitchFamily="34" charset="0"/>
                <a:ea typeface="Inter" pitchFamily="34" charset="-122"/>
                <a:cs typeface="Inter" pitchFamily="34" charset="-120"/>
              </a:rPr>
              <a:t>Identifies potential bugs and coding issues within the analyzed code.</a:t>
            </a:r>
            <a:endParaRPr lang="en-US" sz="1150" dirty="0"/>
          </a:p>
        </p:txBody>
      </p:sp>
      <p:pic>
        <p:nvPicPr>
          <p:cNvPr id="18"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61475" y="5103912"/>
            <a:ext cx="299732" cy="299740"/>
          </a:xfrm>
          <a:prstGeom prst="rect">
            <a:avLst/>
          </a:prstGeom>
        </p:spPr>
      </p:pic>
      <p:sp>
        <p:nvSpPr>
          <p:cNvPr id="19" name="Text 12"/>
          <p:cNvSpPr/>
          <p:nvPr/>
        </p:nvSpPr>
        <p:spPr>
          <a:xfrm>
            <a:off x="661475" y="5573415"/>
            <a:ext cx="5349444" cy="234156"/>
          </a:xfrm>
          <a:prstGeom prst="rect">
            <a:avLst/>
          </a:prstGeom>
          <a:noFill/>
          <a:ln/>
        </p:spPr>
        <p:txBody>
          <a:bodyPr wrap="none" lIns="0" tIns="0" rIns="0" bIns="0" rtlCol="0" anchor="t"/>
          <a:lstStyle/>
          <a:p>
            <a:pPr marL="0" indent="0" algn="l">
              <a:lnSpc>
                <a:spcPct val="104000"/>
              </a:lnSpc>
              <a:buNone/>
            </a:pPr>
            <a:r>
              <a:rPr lang="en-US" sz="1450" dirty="0">
                <a:solidFill>
                  <a:srgbClr val="C7CDD6"/>
                </a:solidFill>
                <a:latin typeface="Instrument Sans Medium" pitchFamily="34" charset="0"/>
                <a:ea typeface="Instrument Sans Medium" pitchFamily="34" charset="-122"/>
                <a:cs typeface="Instrument Sans Medium" pitchFamily="34" charset="-120"/>
              </a:rPr>
              <a:t>Report Generation</a:t>
            </a:r>
            <a:endParaRPr lang="en-US" sz="1450" dirty="0"/>
          </a:p>
        </p:txBody>
      </p:sp>
      <p:sp>
        <p:nvSpPr>
          <p:cNvPr id="20" name="Text 13"/>
          <p:cNvSpPr/>
          <p:nvPr/>
        </p:nvSpPr>
        <p:spPr>
          <a:xfrm>
            <a:off x="661475" y="5889030"/>
            <a:ext cx="5349444"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C7CDD6"/>
                </a:solidFill>
                <a:latin typeface="Inter" pitchFamily="34" charset="0"/>
                <a:ea typeface="Inter" pitchFamily="34" charset="-122"/>
                <a:cs typeface="Inter" pitchFamily="34" charset="-120"/>
              </a:rPr>
              <a:t>Produces improvement suggestions, a review summary, and a code quality score.</a:t>
            </a:r>
            <a:endParaRPr lang="en-US" sz="1150" dirty="0"/>
          </a:p>
        </p:txBody>
      </p:sp>
      <p:pic>
        <p:nvPicPr>
          <p:cNvPr id="21"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180677" y="5103912"/>
            <a:ext cx="299732" cy="299740"/>
          </a:xfrm>
          <a:prstGeom prst="rect">
            <a:avLst/>
          </a:prstGeom>
        </p:spPr>
      </p:pic>
      <p:sp>
        <p:nvSpPr>
          <p:cNvPr id="22" name="Text 14"/>
          <p:cNvSpPr/>
          <p:nvPr/>
        </p:nvSpPr>
        <p:spPr>
          <a:xfrm>
            <a:off x="6180677" y="5573415"/>
            <a:ext cx="5349543" cy="234156"/>
          </a:xfrm>
          <a:prstGeom prst="rect">
            <a:avLst/>
          </a:prstGeom>
          <a:noFill/>
          <a:ln/>
        </p:spPr>
        <p:txBody>
          <a:bodyPr wrap="none" lIns="0" tIns="0" rIns="0" bIns="0" rtlCol="0" anchor="t"/>
          <a:lstStyle/>
          <a:p>
            <a:pPr marL="0" indent="0" algn="l">
              <a:lnSpc>
                <a:spcPct val="104000"/>
              </a:lnSpc>
              <a:buNone/>
            </a:pPr>
            <a:r>
              <a:rPr lang="en-US" sz="1450" dirty="0">
                <a:solidFill>
                  <a:srgbClr val="C7CDD6"/>
                </a:solidFill>
                <a:latin typeface="Instrument Sans Medium" pitchFamily="34" charset="0"/>
                <a:ea typeface="Instrument Sans Medium" pitchFamily="34" charset="-122"/>
                <a:cs typeface="Instrument Sans Medium" pitchFamily="34" charset="-120"/>
              </a:rPr>
              <a:t>Review Dashboard</a:t>
            </a:r>
            <a:endParaRPr lang="en-US" sz="1450" dirty="0"/>
          </a:p>
        </p:txBody>
      </p:sp>
      <p:sp>
        <p:nvSpPr>
          <p:cNvPr id="23" name="Text 15"/>
          <p:cNvSpPr/>
          <p:nvPr/>
        </p:nvSpPr>
        <p:spPr>
          <a:xfrm>
            <a:off x="6180677" y="5889030"/>
            <a:ext cx="5349543"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C7CDD6"/>
                </a:solidFill>
                <a:latin typeface="Inter" pitchFamily="34" charset="0"/>
                <a:ea typeface="Inter" pitchFamily="34" charset="-122"/>
                <a:cs typeface="Inter" pitchFamily="34" charset="-120"/>
              </a:rPr>
              <a:t>Allows users to view current and previous code review results stored in the database.</a:t>
            </a:r>
            <a:endParaRPr lang="en-US" sz="1150" dirty="0"/>
          </a:p>
        </p:txBody>
      </p:sp>
      <p:sp>
        <p:nvSpPr>
          <p:cNvPr id="24" name="Rectangle 23">
            <a:extLst>
              <a:ext uri="{FF2B5EF4-FFF2-40B4-BE49-F238E27FC236}">
                <a16:creationId xmlns:a16="http://schemas.microsoft.com/office/drawing/2014/main" id="{079652FC-45ED-8643-235A-9A322AF063C5}"/>
              </a:ext>
            </a:extLst>
          </p:cNvPr>
          <p:cNvSpPr/>
          <p:nvPr/>
        </p:nvSpPr>
        <p:spPr>
          <a:xfrm>
            <a:off x="10945906" y="6364941"/>
            <a:ext cx="1246094" cy="430306"/>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532110"/>
            <a:ext cx="917056" cy="211832"/>
          </a:xfrm>
          <a:prstGeom prst="roundRect">
            <a:avLst>
              <a:gd name="adj" fmla="val 7905"/>
            </a:avLst>
          </a:prstGeom>
          <a:noFill/>
          <a:ln w="6350">
            <a:solidFill>
              <a:srgbClr val="FDC4C4"/>
            </a:solidFill>
            <a:prstDash val="solid"/>
          </a:ln>
        </p:spPr>
      </p:sp>
      <p:sp>
        <p:nvSpPr>
          <p:cNvPr id="3" name="Text 1"/>
          <p:cNvSpPr/>
          <p:nvPr/>
        </p:nvSpPr>
        <p:spPr>
          <a:xfrm>
            <a:off x="745114" y="573881"/>
            <a:ext cx="1359362" cy="128290"/>
          </a:xfrm>
          <a:prstGeom prst="rect">
            <a:avLst/>
          </a:prstGeom>
          <a:noFill/>
          <a:ln/>
        </p:spPr>
        <p:txBody>
          <a:bodyPr wrap="none" lIns="0" tIns="0" rIns="0" bIns="0" rtlCol="0" anchor="t"/>
          <a:lstStyle/>
          <a:p>
            <a:pPr marL="0" indent="0" algn="l">
              <a:lnSpc>
                <a:spcPct val="96000"/>
              </a:lnSpc>
              <a:buNone/>
            </a:pPr>
            <a:r>
              <a:rPr lang="en-US" sz="850" dirty="0">
                <a:solidFill>
                  <a:srgbClr val="FDC4C4"/>
                </a:solidFill>
                <a:latin typeface="Inter" pitchFamily="34" charset="0"/>
                <a:ea typeface="Inter" pitchFamily="34" charset="-122"/>
                <a:cs typeface="Inter" pitchFamily="34" charset="-120"/>
              </a:rPr>
              <a:t>CONCLUSION</a:t>
            </a:r>
            <a:endParaRPr lang="en-US" sz="850" dirty="0"/>
          </a:p>
        </p:txBody>
      </p:sp>
      <p:sp>
        <p:nvSpPr>
          <p:cNvPr id="4" name="Text 2"/>
          <p:cNvSpPr/>
          <p:nvPr/>
        </p:nvSpPr>
        <p:spPr>
          <a:xfrm>
            <a:off x="661475" y="790972"/>
            <a:ext cx="10868745" cy="436066"/>
          </a:xfrm>
          <a:prstGeom prst="rect">
            <a:avLst/>
          </a:prstGeom>
          <a:noFill/>
          <a:ln/>
        </p:spPr>
        <p:txBody>
          <a:bodyPr wrap="none" lIns="0" tIns="0" rIns="0" bIns="0" rtlCol="0" anchor="t"/>
          <a:lstStyle/>
          <a:p>
            <a:pPr marL="0" indent="0" algn="l">
              <a:lnSpc>
                <a:spcPct val="104000"/>
              </a:lnSpc>
              <a:buNone/>
            </a:pPr>
            <a:r>
              <a:rPr lang="en-US" sz="2700" dirty="0">
                <a:solidFill>
                  <a:srgbClr val="EFD5FA"/>
                </a:solidFill>
                <a:latin typeface="Instrument Sans Medium" pitchFamily="34" charset="0"/>
                <a:ea typeface="Instrument Sans Medium" pitchFamily="34" charset="-122"/>
                <a:cs typeface="Instrument Sans Medium" pitchFamily="34" charset="-120"/>
              </a:rPr>
              <a:t>Conclusion</a:t>
            </a:r>
            <a:endParaRPr lang="en-US" sz="2700" dirty="0"/>
          </a:p>
        </p:txBody>
      </p:sp>
      <p:sp>
        <p:nvSpPr>
          <p:cNvPr id="5" name="Text 3"/>
          <p:cNvSpPr/>
          <p:nvPr/>
        </p:nvSpPr>
        <p:spPr>
          <a:xfrm>
            <a:off x="661475" y="1403648"/>
            <a:ext cx="10868745"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C7CDD6"/>
                </a:solidFill>
                <a:latin typeface="Inter" pitchFamily="34" charset="0"/>
                <a:ea typeface="Inter" pitchFamily="34" charset="-122"/>
                <a:cs typeface="Inter" pitchFamily="34" charset="-120"/>
              </a:rPr>
              <a:t>CodeInsight AI demonstrates how Artificial Intelligence can be integrated into software development workflows to support faster, more consistent, and understandable code reviews.</a:t>
            </a:r>
            <a:endParaRPr lang="en-US" sz="1050" dirty="0"/>
          </a:p>
        </p:txBody>
      </p:sp>
      <p:sp>
        <p:nvSpPr>
          <p:cNvPr id="6" name="Shape 4"/>
          <p:cNvSpPr/>
          <p:nvPr/>
        </p:nvSpPr>
        <p:spPr>
          <a:xfrm>
            <a:off x="661475" y="1947863"/>
            <a:ext cx="5375537" cy="979388"/>
          </a:xfrm>
          <a:prstGeom prst="roundRect">
            <a:avLst>
              <a:gd name="adj" fmla="val 2137"/>
            </a:avLst>
          </a:prstGeom>
          <a:solidFill>
            <a:srgbClr val="434348"/>
          </a:solidFill>
          <a:ln/>
        </p:spPr>
      </p:sp>
      <p:sp>
        <p:nvSpPr>
          <p:cNvPr id="7" name="Text 5"/>
          <p:cNvSpPr/>
          <p:nvPr/>
        </p:nvSpPr>
        <p:spPr>
          <a:xfrm>
            <a:off x="800973" y="2087364"/>
            <a:ext cx="5096541" cy="217984"/>
          </a:xfrm>
          <a:prstGeom prst="rect">
            <a:avLst/>
          </a:prstGeom>
          <a:noFill/>
          <a:ln/>
        </p:spPr>
        <p:txBody>
          <a:bodyPr wrap="none" lIns="0" tIns="0" rIns="0" bIns="0" rtlCol="0" anchor="t"/>
          <a:lstStyle/>
          <a:p>
            <a:pPr marL="0" indent="0" algn="l">
              <a:lnSpc>
                <a:spcPct val="104000"/>
              </a:lnSpc>
              <a:buNone/>
            </a:pPr>
            <a:r>
              <a:rPr lang="en-US" sz="1350" dirty="0">
                <a:solidFill>
                  <a:srgbClr val="C7CDD6"/>
                </a:solidFill>
                <a:latin typeface="Instrument Sans Medium" pitchFamily="34" charset="0"/>
                <a:ea typeface="Instrument Sans Medium" pitchFamily="34" charset="-122"/>
                <a:cs typeface="Instrument Sans Medium" pitchFamily="34" charset="-120"/>
              </a:rPr>
              <a:t>Automated Review</a:t>
            </a:r>
            <a:endParaRPr lang="en-US" sz="1350" dirty="0"/>
          </a:p>
        </p:txBody>
      </p:sp>
      <p:sp>
        <p:nvSpPr>
          <p:cNvPr id="8" name="Text 6"/>
          <p:cNvSpPr/>
          <p:nvPr/>
        </p:nvSpPr>
        <p:spPr>
          <a:xfrm>
            <a:off x="800973" y="2375991"/>
            <a:ext cx="5096541"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C7CDD6"/>
                </a:solidFill>
                <a:latin typeface="Inter" pitchFamily="34" charset="0"/>
                <a:ea typeface="Inter" pitchFamily="34" charset="-122"/>
                <a:cs typeface="Inter" pitchFamily="34" charset="-120"/>
              </a:rPr>
              <a:t>Automates key parts of the code-review process, reducing manual effort and inconsistency.</a:t>
            </a:r>
            <a:endParaRPr lang="en-US" sz="1050" dirty="0"/>
          </a:p>
        </p:txBody>
      </p:sp>
      <p:sp>
        <p:nvSpPr>
          <p:cNvPr id="9" name="Shape 7"/>
          <p:cNvSpPr/>
          <p:nvPr/>
        </p:nvSpPr>
        <p:spPr>
          <a:xfrm>
            <a:off x="6154683" y="1947863"/>
            <a:ext cx="5375537" cy="979388"/>
          </a:xfrm>
          <a:prstGeom prst="roundRect">
            <a:avLst>
              <a:gd name="adj" fmla="val 2137"/>
            </a:avLst>
          </a:prstGeom>
          <a:solidFill>
            <a:srgbClr val="434348"/>
          </a:solidFill>
          <a:ln/>
        </p:spPr>
      </p:sp>
      <p:sp>
        <p:nvSpPr>
          <p:cNvPr id="10" name="Text 8"/>
          <p:cNvSpPr/>
          <p:nvPr/>
        </p:nvSpPr>
        <p:spPr>
          <a:xfrm>
            <a:off x="6294181" y="2087364"/>
            <a:ext cx="5096541" cy="217984"/>
          </a:xfrm>
          <a:prstGeom prst="rect">
            <a:avLst/>
          </a:prstGeom>
          <a:noFill/>
          <a:ln/>
        </p:spPr>
        <p:txBody>
          <a:bodyPr wrap="none" lIns="0" tIns="0" rIns="0" bIns="0" rtlCol="0" anchor="t"/>
          <a:lstStyle/>
          <a:p>
            <a:pPr marL="0" indent="0" algn="l">
              <a:lnSpc>
                <a:spcPct val="104000"/>
              </a:lnSpc>
              <a:buNone/>
            </a:pPr>
            <a:r>
              <a:rPr lang="en-US" sz="1350" dirty="0">
                <a:solidFill>
                  <a:srgbClr val="C7CDD6"/>
                </a:solidFill>
                <a:latin typeface="Instrument Sans Medium" pitchFamily="34" charset="0"/>
                <a:ea typeface="Instrument Sans Medium" pitchFamily="34" charset="-122"/>
                <a:cs typeface="Instrument Sans Medium" pitchFamily="34" charset="-120"/>
              </a:rPr>
              <a:t>Integrated System</a:t>
            </a:r>
            <a:endParaRPr lang="en-US" sz="1350" dirty="0"/>
          </a:p>
        </p:txBody>
      </p:sp>
      <p:sp>
        <p:nvSpPr>
          <p:cNvPr id="11" name="Text 9"/>
          <p:cNvSpPr/>
          <p:nvPr/>
        </p:nvSpPr>
        <p:spPr>
          <a:xfrm>
            <a:off x="6294181" y="2375991"/>
            <a:ext cx="5096541"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C7CDD6"/>
                </a:solidFill>
                <a:latin typeface="Inter" pitchFamily="34" charset="0"/>
                <a:ea typeface="Inter" pitchFamily="34" charset="-122"/>
                <a:cs typeface="Inter" pitchFamily="34" charset="-120"/>
              </a:rPr>
              <a:t>Combines a web interface, backend processing, AI analysis, GitHub integration, and database storage.</a:t>
            </a:r>
            <a:endParaRPr lang="en-US" sz="1050" dirty="0"/>
          </a:p>
        </p:txBody>
      </p:sp>
      <p:sp>
        <p:nvSpPr>
          <p:cNvPr id="12" name="Shape 10"/>
          <p:cNvSpPr/>
          <p:nvPr/>
        </p:nvSpPr>
        <p:spPr>
          <a:xfrm>
            <a:off x="661475" y="3044924"/>
            <a:ext cx="5375537" cy="979388"/>
          </a:xfrm>
          <a:prstGeom prst="roundRect">
            <a:avLst>
              <a:gd name="adj" fmla="val 2137"/>
            </a:avLst>
          </a:prstGeom>
          <a:solidFill>
            <a:srgbClr val="434348"/>
          </a:solidFill>
          <a:ln/>
        </p:spPr>
      </p:sp>
      <p:sp>
        <p:nvSpPr>
          <p:cNvPr id="13" name="Text 11"/>
          <p:cNvSpPr/>
          <p:nvPr/>
        </p:nvSpPr>
        <p:spPr>
          <a:xfrm>
            <a:off x="800973" y="3184426"/>
            <a:ext cx="5096541" cy="217984"/>
          </a:xfrm>
          <a:prstGeom prst="rect">
            <a:avLst/>
          </a:prstGeom>
          <a:noFill/>
          <a:ln/>
        </p:spPr>
        <p:txBody>
          <a:bodyPr wrap="none" lIns="0" tIns="0" rIns="0" bIns="0" rtlCol="0" anchor="t"/>
          <a:lstStyle/>
          <a:p>
            <a:pPr marL="0" indent="0" algn="l">
              <a:lnSpc>
                <a:spcPct val="104000"/>
              </a:lnSpc>
              <a:buNone/>
            </a:pPr>
            <a:r>
              <a:rPr lang="en-US" sz="1350" dirty="0">
                <a:solidFill>
                  <a:srgbClr val="C7CDD6"/>
                </a:solidFill>
                <a:latin typeface="Instrument Sans Medium" pitchFamily="34" charset="0"/>
                <a:ea typeface="Instrument Sans Medium" pitchFamily="34" charset="-122"/>
                <a:cs typeface="Instrument Sans Medium" pitchFamily="34" charset="-120"/>
              </a:rPr>
              <a:t>Actionable Output</a:t>
            </a:r>
            <a:endParaRPr lang="en-US" sz="1350" dirty="0"/>
          </a:p>
        </p:txBody>
      </p:sp>
      <p:sp>
        <p:nvSpPr>
          <p:cNvPr id="14" name="Text 12"/>
          <p:cNvSpPr/>
          <p:nvPr/>
        </p:nvSpPr>
        <p:spPr>
          <a:xfrm>
            <a:off x="800973" y="3473053"/>
            <a:ext cx="5096541"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C7CDD6"/>
                </a:solidFill>
                <a:latin typeface="Inter" pitchFamily="34" charset="0"/>
                <a:ea typeface="Inter" pitchFamily="34" charset="-122"/>
                <a:cs typeface="Inter" pitchFamily="34" charset="-120"/>
              </a:rPr>
              <a:t>Provides understandable suggestions, a code quality score, and a structured review summary.</a:t>
            </a:r>
            <a:endParaRPr lang="en-US" sz="1050" dirty="0"/>
          </a:p>
        </p:txBody>
      </p:sp>
      <p:sp>
        <p:nvSpPr>
          <p:cNvPr id="15" name="Shape 13"/>
          <p:cNvSpPr/>
          <p:nvPr/>
        </p:nvSpPr>
        <p:spPr>
          <a:xfrm>
            <a:off x="6154683" y="3044924"/>
            <a:ext cx="5375537" cy="979388"/>
          </a:xfrm>
          <a:prstGeom prst="roundRect">
            <a:avLst>
              <a:gd name="adj" fmla="val 2137"/>
            </a:avLst>
          </a:prstGeom>
          <a:solidFill>
            <a:srgbClr val="434348"/>
          </a:solidFill>
          <a:ln/>
        </p:spPr>
      </p:sp>
      <p:sp>
        <p:nvSpPr>
          <p:cNvPr id="16" name="Text 14"/>
          <p:cNvSpPr/>
          <p:nvPr/>
        </p:nvSpPr>
        <p:spPr>
          <a:xfrm>
            <a:off x="6294181" y="3184426"/>
            <a:ext cx="5096541" cy="217984"/>
          </a:xfrm>
          <a:prstGeom prst="rect">
            <a:avLst/>
          </a:prstGeom>
          <a:noFill/>
          <a:ln/>
        </p:spPr>
        <p:txBody>
          <a:bodyPr wrap="none" lIns="0" tIns="0" rIns="0" bIns="0" rtlCol="0" anchor="t"/>
          <a:lstStyle/>
          <a:p>
            <a:pPr marL="0" indent="0" algn="l">
              <a:lnSpc>
                <a:spcPct val="104000"/>
              </a:lnSpc>
              <a:buNone/>
            </a:pPr>
            <a:r>
              <a:rPr lang="en-US" sz="1350" dirty="0">
                <a:solidFill>
                  <a:srgbClr val="C7CDD6"/>
                </a:solidFill>
                <a:latin typeface="Instrument Sans Medium" pitchFamily="34" charset="0"/>
                <a:ea typeface="Instrument Sans Medium" pitchFamily="34" charset="-122"/>
                <a:cs typeface="Instrument Sans Medium" pitchFamily="34" charset="-120"/>
              </a:rPr>
              <a:t>Review History</a:t>
            </a:r>
            <a:endParaRPr lang="en-US" sz="1350" dirty="0"/>
          </a:p>
        </p:txBody>
      </p:sp>
      <p:sp>
        <p:nvSpPr>
          <p:cNvPr id="17" name="Text 15"/>
          <p:cNvSpPr/>
          <p:nvPr/>
        </p:nvSpPr>
        <p:spPr>
          <a:xfrm>
            <a:off x="6294181" y="3473053"/>
            <a:ext cx="5096541"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C7CDD6"/>
                </a:solidFill>
                <a:latin typeface="Inter" pitchFamily="34" charset="0"/>
                <a:ea typeface="Inter" pitchFamily="34" charset="-122"/>
                <a:cs typeface="Inter" pitchFamily="34" charset="-120"/>
              </a:rPr>
              <a:t>Maintains a history of previous analyses, allowing developers to track code quality over time.</a:t>
            </a:r>
            <a:endParaRPr lang="en-US" sz="1050" dirty="0"/>
          </a:p>
        </p:txBody>
      </p:sp>
      <p:sp>
        <p:nvSpPr>
          <p:cNvPr id="18" name="Text 16"/>
          <p:cNvSpPr/>
          <p:nvPr/>
        </p:nvSpPr>
        <p:spPr>
          <a:xfrm>
            <a:off x="870722" y="4289227"/>
            <a:ext cx="11269083" cy="205879"/>
          </a:xfrm>
          <a:prstGeom prst="rect">
            <a:avLst/>
          </a:prstGeom>
          <a:noFill/>
          <a:ln/>
        </p:spPr>
        <p:txBody>
          <a:bodyPr wrap="none" lIns="0" tIns="0" rIns="0" bIns="0" rtlCol="0" anchor="t"/>
          <a:lstStyle/>
          <a:p>
            <a:pPr marL="0" indent="0" algn="l">
              <a:lnSpc>
                <a:spcPct val="123000"/>
              </a:lnSpc>
              <a:buNone/>
            </a:pPr>
            <a:r>
              <a:rPr lang="en-US" sz="1050" b="1" dirty="0">
                <a:solidFill>
                  <a:srgbClr val="C7CDD6"/>
                </a:solidFill>
                <a:latin typeface="Inter Bold" pitchFamily="34" charset="0"/>
                <a:ea typeface="Inter Bold" pitchFamily="34" charset="-122"/>
                <a:cs typeface="Inter Bold" pitchFamily="34" charset="-120"/>
              </a:rPr>
              <a:t>CodeInsight AI aims to support developers with faster, more consistent, and understandable AI-assisted code reviews.</a:t>
            </a:r>
            <a:endParaRPr lang="en-US" sz="1050" dirty="0"/>
          </a:p>
        </p:txBody>
      </p:sp>
      <p:sp>
        <p:nvSpPr>
          <p:cNvPr id="19" name="Shape 17"/>
          <p:cNvSpPr/>
          <p:nvPr/>
        </p:nvSpPr>
        <p:spPr>
          <a:xfrm>
            <a:off x="661475" y="4156770"/>
            <a:ext cx="19050" cy="470793"/>
          </a:xfrm>
          <a:prstGeom prst="roundRect">
            <a:avLst>
              <a:gd name="adj" fmla="val 49999"/>
            </a:avLst>
          </a:prstGeom>
          <a:solidFill>
            <a:srgbClr val="FDC4C4"/>
          </a:solidFill>
          <a:ln/>
        </p:spPr>
      </p:sp>
      <p:sp>
        <p:nvSpPr>
          <p:cNvPr id="20" name="Shape 18"/>
          <p:cNvSpPr/>
          <p:nvPr/>
        </p:nvSpPr>
        <p:spPr>
          <a:xfrm>
            <a:off x="661475" y="4794845"/>
            <a:ext cx="10868745" cy="19050"/>
          </a:xfrm>
          <a:prstGeom prst="roundRect">
            <a:avLst>
              <a:gd name="adj" fmla="val 49999"/>
            </a:avLst>
          </a:prstGeom>
          <a:solidFill>
            <a:srgbClr val="C7CDD6">
              <a:alpha val="50000"/>
            </a:srgbClr>
          </a:solidFill>
          <a:ln/>
        </p:spPr>
      </p:sp>
      <p:sp>
        <p:nvSpPr>
          <p:cNvPr id="21" name="Text 19"/>
          <p:cNvSpPr/>
          <p:nvPr/>
        </p:nvSpPr>
        <p:spPr>
          <a:xfrm>
            <a:off x="661475" y="5025330"/>
            <a:ext cx="10868745" cy="217984"/>
          </a:xfrm>
          <a:prstGeom prst="rect">
            <a:avLst/>
          </a:prstGeom>
          <a:noFill/>
          <a:ln/>
        </p:spPr>
        <p:txBody>
          <a:bodyPr wrap="none" lIns="0" tIns="0" rIns="0" bIns="0" rtlCol="0" anchor="t"/>
          <a:lstStyle/>
          <a:p>
            <a:pPr marL="0" indent="0" algn="l">
              <a:lnSpc>
                <a:spcPct val="104000"/>
              </a:lnSpc>
              <a:buNone/>
            </a:pPr>
            <a:r>
              <a:rPr lang="en-US" sz="1350" dirty="0">
                <a:solidFill>
                  <a:srgbClr val="EFD5FA"/>
                </a:solidFill>
                <a:latin typeface="Instrument Sans Medium" pitchFamily="34" charset="0"/>
                <a:ea typeface="Instrument Sans Medium" pitchFamily="34" charset="-122"/>
                <a:cs typeface="Instrument Sans Medium" pitchFamily="34" charset="-120"/>
              </a:rPr>
              <a:t>References</a:t>
            </a:r>
            <a:endParaRPr lang="en-US" sz="1350" dirty="0"/>
          </a:p>
        </p:txBody>
      </p:sp>
      <p:sp>
        <p:nvSpPr>
          <p:cNvPr id="22" name="Text 20"/>
          <p:cNvSpPr/>
          <p:nvPr/>
        </p:nvSpPr>
        <p:spPr>
          <a:xfrm>
            <a:off x="661475" y="5419923"/>
            <a:ext cx="10868745" cy="905867"/>
          </a:xfrm>
          <a:prstGeom prst="rect">
            <a:avLst/>
          </a:prstGeom>
          <a:noFill/>
          <a:ln/>
        </p:spPr>
        <p:txBody>
          <a:bodyPr wrap="square" lIns="0" tIns="55820" rIns="0" bIns="0" rtlCol="0" anchor="t">
            <a:normAutofit/>
          </a:bodyPr>
          <a:lstStyle/>
          <a:p>
            <a:pPr marL="213360" indent="-213360" algn="l">
              <a:lnSpc>
                <a:spcPct val="123000"/>
              </a:lnSpc>
              <a:buSzPct val="100000"/>
              <a:buChar char="•"/>
            </a:pPr>
            <a:r>
              <a:rPr lang="en-US" sz="1050" dirty="0">
                <a:solidFill>
                  <a:srgbClr val="C7CDD6"/>
                </a:solidFill>
                <a:latin typeface="Inter" pitchFamily="34" charset="0"/>
                <a:ea typeface="Inter" pitchFamily="34" charset="-122"/>
                <a:cs typeface="Inter" pitchFamily="34" charset="-120"/>
              </a:rPr>
              <a:t>Fan, A., Gokkaya, B., Harman, M., Lyubarskiy, M., Sengupta, S., Yoo, S., &amp; Zhang, J. M. (2023). </a:t>
            </a:r>
            <a:r>
              <a:rPr lang="en-US" sz="1050" i="1" dirty="0">
                <a:solidFill>
                  <a:srgbClr val="C7CDD6"/>
                </a:solidFill>
                <a:latin typeface="Inter" pitchFamily="34" charset="0"/>
                <a:ea typeface="Inter" pitchFamily="34" charset="-122"/>
                <a:cs typeface="Inter" pitchFamily="34" charset="-120"/>
              </a:rPr>
              <a:t>Large Language Models for Software Engineering: Survey and Open Problems.</a:t>
            </a:r>
            <a:r>
              <a:rPr lang="en-US" sz="1050" dirty="0">
                <a:solidFill>
                  <a:srgbClr val="C7CDD6"/>
                </a:solidFill>
                <a:latin typeface="Inter" pitchFamily="34" charset="0"/>
                <a:ea typeface="Inter" pitchFamily="34" charset="-122"/>
                <a:cs typeface="Inter" pitchFamily="34" charset="-120"/>
              </a:rPr>
              <a:t> arXiv preprint.</a:t>
            </a:r>
            <a:endParaRPr lang="en-US" sz="1050" dirty="0"/>
          </a:p>
          <a:p>
            <a:pPr marL="213360" indent="-213360" algn="l">
              <a:lnSpc>
                <a:spcPct val="123000"/>
              </a:lnSpc>
              <a:buSzPct val="100000"/>
              <a:buChar char="•"/>
            </a:pPr>
            <a:r>
              <a:rPr lang="en-US" sz="1050" dirty="0">
                <a:solidFill>
                  <a:srgbClr val="C7CDD6"/>
                </a:solidFill>
                <a:latin typeface="Inter" pitchFamily="34" charset="0"/>
                <a:ea typeface="Inter" pitchFamily="34" charset="-122"/>
                <a:cs typeface="Inter" pitchFamily="34" charset="-120"/>
              </a:rPr>
              <a:t>IEEE/ACM International Conference on Software Engineering: Software Engineering in Practice (ICSE-SEIP). (2025). </a:t>
            </a:r>
            <a:r>
              <a:rPr lang="en-US" sz="1050" i="1" dirty="0">
                <a:solidFill>
                  <a:srgbClr val="C7CDD6"/>
                </a:solidFill>
                <a:latin typeface="Inter" pitchFamily="34" charset="0"/>
                <a:ea typeface="Inter" pitchFamily="34" charset="-122"/>
                <a:cs typeface="Inter" pitchFamily="34" charset="-120"/>
              </a:rPr>
              <a:t>Automated Code Review in Practice.</a:t>
            </a:r>
            <a:endParaRPr lang="en-US" sz="1050" dirty="0"/>
          </a:p>
          <a:p>
            <a:pPr marL="213360" indent="-213360" algn="l">
              <a:lnSpc>
                <a:spcPct val="123000"/>
              </a:lnSpc>
              <a:buSzPct val="100000"/>
              <a:buChar char="•"/>
            </a:pPr>
            <a:r>
              <a:rPr lang="en-US" sz="1050" dirty="0">
                <a:solidFill>
                  <a:srgbClr val="C7CDD6"/>
                </a:solidFill>
                <a:latin typeface="Inter" pitchFamily="34" charset="0"/>
                <a:ea typeface="Inter" pitchFamily="34" charset="-122"/>
                <a:cs typeface="Inter" pitchFamily="34" charset="-120"/>
              </a:rPr>
              <a:t>Additional references on automated static analysis, LLM-based code review with symbolic reasoning, and LLM impact on GitHub pull-request workflows (2025).</a:t>
            </a:r>
            <a:endParaRPr lang="en-US" sz="1050" dirty="0"/>
          </a:p>
        </p:txBody>
      </p:sp>
      <p:sp>
        <p:nvSpPr>
          <p:cNvPr id="23" name="Rectangle 22">
            <a:extLst>
              <a:ext uri="{FF2B5EF4-FFF2-40B4-BE49-F238E27FC236}">
                <a16:creationId xmlns:a16="http://schemas.microsoft.com/office/drawing/2014/main" id="{219A90DA-1F64-28BE-B36F-D2479BF8D751}"/>
              </a:ext>
            </a:extLst>
          </p:cNvPr>
          <p:cNvSpPr/>
          <p:nvPr/>
        </p:nvSpPr>
        <p:spPr>
          <a:xfrm>
            <a:off x="10945906" y="6364941"/>
            <a:ext cx="1246094" cy="430306"/>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1184</Words>
  <Application>Microsoft Office PowerPoint</Application>
  <PresentationFormat>Widescreen</PresentationFormat>
  <Paragraphs>142</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Instrument Sans Medium</vt:lpstr>
      <vt:lpstr>Arial</vt:lpstr>
      <vt:lpstr>Inter</vt:lpstr>
      <vt:lpstr>Inter Bold</vt:lpstr>
      <vt:lpstr>Instrument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bha shetty</cp:lastModifiedBy>
  <cp:revision>3</cp:revision>
  <dcterms:created xsi:type="dcterms:W3CDTF">2026-08-24T15:35:25Z</dcterms:created>
  <dcterms:modified xsi:type="dcterms:W3CDTF">2026-08-26T04:48:23Z</dcterms:modified>
</cp:coreProperties>
</file>