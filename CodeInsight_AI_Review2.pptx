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15"/>
    <p:sldId id="268" r:id="rId19"/>
    <p:sldId id="265" r:id="rId16"/>
    <p:sldId id="266" r:id="rId17"/>
    <p:sldId id="269" r:id="rId20"/>
    <p:sldId id="270" r:id="rId21"/>
    <p:sldId id="262" r:id="rId8"/>
    <p:sldId id="267" r:id="rId18"/>
    <p:sldId id="271" r:id="rId22"/>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8" Type="http://schemas.openxmlformats.org/officeDocument/2006/relationships/slide" Target="slides/slide7.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  <Relationship Id="rId15" Type="http://schemas.openxmlformats.org/officeDocument/2006/relationships/slide" Target="slides/slide9.xml"/>
  <Relationship Id="rId16" Type="http://schemas.openxmlformats.org/officeDocument/2006/relationships/slide" Target="slides/slide10.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Text 2"/>
          <p:cNvSpPr/>
          <p:nvPr/>
        </p:nvSpPr>
        <p:spPr>
          <a:xfrm>
            <a:off x="640080" y="868680"/>
            <a:ext cx="7315200" cy="292608"/>
          </a:xfrm>
          <a:prstGeom prst="rect">
            <a:avLst/>
          </a:prstGeom>
          <a:noFill/>
          <a:ln/>
        </p:spPr>
        <p:txBody>
          <a:bodyPr wrap="square" lIns="0" tIns="0" rIns="0" bIns="0" rtlCol="0" anchor="ctr"/>
          <a:lstStyle/>
          <a:p>
            <a:pPr indent="0" marL="0">
              <a:buNone/>
            </a:pPr>
            <a:r>
              <a:rPr lang="en-US" sz="1200" b="1" spc="150" kern="0" dirty="0">
                <a:solidFill>
                  <a:srgbClr val="C00000"/>
                </a:solidFill>
                <a:latin typeface="Calibri" pitchFamily="34" charset="0"/>
                <a:ea typeface="Calibri" pitchFamily="34" charset="-122"/>
                <a:cs typeface="Calibri" pitchFamily="34" charset="-120"/>
              </a:rPr>
              <a:t>ENGINEERING CAPSTONE PROJECT – 1  ·  A.Y. 2026–2027</a:t>
            </a:r>
            <a:endParaRPr lang="en-US" sz="1200" dirty="0"/>
          </a:p>
        </p:txBody>
      </p:sp>
      <p:sp>
        <p:nvSpPr>
          <p:cNvPr id="7" name="Shape 3"/>
          <p:cNvSpPr/>
          <p:nvPr/>
        </p:nvSpPr>
        <p:spPr>
          <a:xfrm>
            <a:off x="3078328" y="1371600"/>
            <a:ext cx="6035040" cy="960120"/>
          </a:xfrm>
          <a:prstGeom prst="rect">
            <a:avLst/>
          </a:prstGeom>
          <a:solidFill>
            <a:srgbClr val="C00000"/>
          </a:solidFill>
          <a:ln/>
        </p:spPr>
      </p:sp>
      <p:sp>
        <p:nvSpPr>
          <p:cNvPr id="8" name="Text 4"/>
          <p:cNvSpPr/>
          <p:nvPr/>
        </p:nvSpPr>
        <p:spPr>
          <a:xfrm>
            <a:off x="3078328" y="1371600"/>
            <a:ext cx="603504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CodeInsight AI</a:t>
            </a:r>
            <a:endParaRPr lang="en-US" sz="4000" dirty="0"/>
          </a:p>
        </p:txBody>
      </p:sp>
      <p:sp>
        <p:nvSpPr>
          <p:cNvPr id="9" name="Text 5"/>
          <p:cNvSpPr/>
          <p:nvPr/>
        </p:nvSpPr>
        <p:spPr>
          <a:xfrm>
            <a:off x="640080" y="2514600"/>
            <a:ext cx="10972800" cy="457200"/>
          </a:xfrm>
          <a:prstGeom prst="rect">
            <a:avLst/>
          </a:prstGeom>
          <a:noFill/>
          <a:ln/>
        </p:spPr>
        <p:txBody>
          <a:bodyPr wrap="square" lIns="0" tIns="0" rIns="0" bIns="0" rtlCol="0" anchor="ctr"/>
          <a:lstStyle/>
          <a:p>
            <a:pPr algn="ctr" indent="0" marL="0">
              <a:buNone/>
            </a:pPr>
            <a:r>
              <a:rPr lang="en-US" sz="1900" dirty="0">
                <a:solidFill>
                  <a:srgbClr val="262626"/>
                </a:solidFill>
                <a:latin typeface="Calibri" pitchFamily="34" charset="0"/>
                <a:ea typeface="Calibri" pitchFamily="34" charset="-122"/>
                <a:cs typeface="Calibri" pitchFamily="34" charset="-120"/>
              </a:rPr>
              <a:t>AI-Powered Code Review &amp; Bug Detection</a:t>
            </a:r>
            <a:endParaRPr lang="en-US" sz="1900" dirty="0"/>
          </a:p>
        </p:txBody>
      </p:sp>
      <p:sp>
        <p:nvSpPr>
          <p:cNvPr id="10" name="Shape 6"/>
          <p:cNvSpPr/>
          <p:nvPr/>
        </p:nvSpPr>
        <p:spPr>
          <a:xfrm>
            <a:off x="3383280" y="3154680"/>
            <a:ext cx="5394960" cy="0"/>
          </a:xfrm>
          <a:prstGeom prst="line">
            <a:avLst/>
          </a:prstGeom>
          <a:noFill/>
          <a:ln w="12700">
            <a:solidFill>
              <a:srgbClr val="D9D9D9"/>
            </a:solidFill>
            <a:prstDash val="solid"/>
          </a:ln>
        </p:spPr>
      </p:sp>
      <p:sp>
        <p:nvSpPr>
          <p:cNvPr id="11" name="Text 7"/>
          <p:cNvSpPr/>
          <p:nvPr/>
        </p:nvSpPr>
        <p:spPr>
          <a:xfrm>
            <a:off x="640080" y="3337560"/>
            <a:ext cx="10972800" cy="320040"/>
          </a:xfrm>
          <a:prstGeom prst="rect">
            <a:avLst/>
          </a:prstGeom>
          <a:noFill/>
          <a:ln/>
        </p:spPr>
        <p:txBody>
          <a:bodyPr wrap="square" lIns="0" tIns="0" rIns="0" bIns="0" rtlCol="0" anchor="ctr"/>
          <a:lstStyle/>
          <a:p>
            <a:pPr algn="ctr" indent="0" marL="0">
              <a:buNone/>
            </a:pPr>
            <a:r>
              <a:rPr lang="en-US" sz="1300" dirty="0">
                <a:solidFill>
                  <a:srgbClr val="555555"/>
                </a:solidFill>
                <a:latin typeface="Calibri" pitchFamily="34" charset="0"/>
                <a:ea typeface="Calibri" pitchFamily="34" charset="-122"/>
                <a:cs typeface="Calibri" pitchFamily="34" charset="-120"/>
              </a:rPr>
              <a:t>Department of Computer Science &amp; Engineering  ·  Engineering Capstone Project – 1</a:t>
            </a:r>
            <a:endParaRPr lang="en-US" sz="1300" dirty="0"/>
          </a:p>
        </p:txBody>
      </p:sp>
      <p:sp>
        <p:nvSpPr>
          <p:cNvPr id="12" name="Text 8"/>
          <p:cNvSpPr/>
          <p:nvPr/>
        </p:nvSpPr>
        <p:spPr>
          <a:xfrm>
            <a:off x="792328" y="3977640"/>
            <a:ext cx="2468880" cy="292608"/>
          </a:xfrm>
          <a:prstGeom prst="rect">
            <a:avLst/>
          </a:prstGeom>
          <a:noFill/>
          <a:ln/>
        </p:spPr>
        <p:txBody>
          <a:bodyPr wrap="square" lIns="0" tIns="0" rIns="0" bIns="0" rtlCol="0" anchor="ctr"/>
          <a:lstStyle/>
          <a:p>
            <a:pPr algn="ctr" indent="0" marL="0">
              <a:buNone/>
            </a:pPr>
            <a:r>
              <a:rPr lang="en-US" sz="1300" b="1" dirty="0">
                <a:solidFill>
                  <a:srgbClr val="262626"/>
                </a:solidFill>
                <a:latin typeface="Calibri" pitchFamily="34" charset="0"/>
                <a:ea typeface="Calibri" pitchFamily="34" charset="-122"/>
                <a:cs typeface="Calibri" pitchFamily="34" charset="-120"/>
              </a:rPr>
              <a:t>Bhashetty Shaanvi</a:t>
            </a:r>
            <a:endParaRPr lang="en-US" sz="1300" dirty="0"/>
          </a:p>
        </p:txBody>
      </p:sp>
      <p:sp>
        <p:nvSpPr>
          <p:cNvPr id="13" name="Text 9"/>
          <p:cNvSpPr/>
          <p:nvPr/>
        </p:nvSpPr>
        <p:spPr>
          <a:xfrm>
            <a:off x="792328" y="4288536"/>
            <a:ext cx="2468880" cy="27432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Roll No: 2420039806</a:t>
            </a:r>
            <a:endParaRPr lang="en-US" sz="1050" dirty="0"/>
          </a:p>
        </p:txBody>
      </p:sp>
      <p:sp>
        <p:nvSpPr>
          <p:cNvPr id="14" name="Text 10"/>
          <p:cNvSpPr/>
          <p:nvPr/>
        </p:nvSpPr>
        <p:spPr>
          <a:xfrm>
            <a:off x="3444088" y="3977640"/>
            <a:ext cx="2468880" cy="292608"/>
          </a:xfrm>
          <a:prstGeom prst="rect">
            <a:avLst/>
          </a:prstGeom>
          <a:noFill/>
          <a:ln/>
        </p:spPr>
        <p:txBody>
          <a:bodyPr wrap="square" lIns="0" tIns="0" rIns="0" bIns="0" rtlCol="0" anchor="ctr"/>
          <a:lstStyle/>
          <a:p>
            <a:pPr algn="ctr" indent="0" marL="0">
              <a:buNone/>
            </a:pPr>
            <a:r>
              <a:rPr lang="en-US" sz="1300" b="1" dirty="0">
                <a:solidFill>
                  <a:srgbClr val="262626"/>
                </a:solidFill>
                <a:latin typeface="Calibri" pitchFamily="34" charset="0"/>
                <a:ea typeface="Calibri" pitchFamily="34" charset="-122"/>
                <a:cs typeface="Calibri" pitchFamily="34" charset="-120"/>
              </a:rPr>
              <a:t>Manaswi Divi</a:t>
            </a:r>
            <a:endParaRPr lang="en-US" sz="1300" dirty="0"/>
          </a:p>
        </p:txBody>
      </p:sp>
      <p:sp>
        <p:nvSpPr>
          <p:cNvPr id="15" name="Text 11"/>
          <p:cNvSpPr/>
          <p:nvPr/>
        </p:nvSpPr>
        <p:spPr>
          <a:xfrm>
            <a:off x="3444088" y="4288536"/>
            <a:ext cx="2468880" cy="27432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Roll No: 2420030793</a:t>
            </a:r>
            <a:endParaRPr lang="en-US" sz="1050" dirty="0"/>
          </a:p>
        </p:txBody>
      </p:sp>
      <p:sp>
        <p:nvSpPr>
          <p:cNvPr id="16" name="Text 12"/>
          <p:cNvSpPr/>
          <p:nvPr/>
        </p:nvSpPr>
        <p:spPr>
          <a:xfrm>
            <a:off x="6095848" y="3977640"/>
            <a:ext cx="2468880" cy="292608"/>
          </a:xfrm>
          <a:prstGeom prst="rect">
            <a:avLst/>
          </a:prstGeom>
          <a:noFill/>
          <a:ln/>
        </p:spPr>
        <p:txBody>
          <a:bodyPr wrap="square" lIns="0" tIns="0" rIns="0" bIns="0" rtlCol="0" anchor="ctr"/>
          <a:lstStyle/>
          <a:p>
            <a:pPr algn="ctr" indent="0" marL="0">
              <a:buNone/>
            </a:pPr>
            <a:r>
              <a:rPr lang="en-US" sz="1300" b="1" dirty="0">
                <a:solidFill>
                  <a:srgbClr val="262626"/>
                </a:solidFill>
                <a:latin typeface="Calibri" pitchFamily="34" charset="0"/>
                <a:ea typeface="Calibri" pitchFamily="34" charset="-122"/>
                <a:cs typeface="Calibri" pitchFamily="34" charset="-120"/>
              </a:rPr>
              <a:t>B. Avinash</a:t>
            </a:r>
            <a:endParaRPr lang="en-US" sz="1300" dirty="0"/>
          </a:p>
        </p:txBody>
      </p:sp>
      <p:sp>
        <p:nvSpPr>
          <p:cNvPr id="17" name="Text 13"/>
          <p:cNvSpPr/>
          <p:nvPr/>
        </p:nvSpPr>
        <p:spPr>
          <a:xfrm>
            <a:off x="6095848" y="4288536"/>
            <a:ext cx="2468880" cy="27432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Roll No: 2420030101</a:t>
            </a:r>
            <a:endParaRPr lang="en-US" sz="1050" dirty="0"/>
          </a:p>
        </p:txBody>
      </p:sp>
      <p:sp>
        <p:nvSpPr>
          <p:cNvPr id="18" name="Text 14"/>
          <p:cNvSpPr/>
          <p:nvPr/>
        </p:nvSpPr>
        <p:spPr>
          <a:xfrm>
            <a:off x="8747608" y="3977640"/>
            <a:ext cx="2468880" cy="292608"/>
          </a:xfrm>
          <a:prstGeom prst="rect">
            <a:avLst/>
          </a:prstGeom>
          <a:noFill/>
          <a:ln/>
        </p:spPr>
        <p:txBody>
          <a:bodyPr wrap="square" lIns="0" tIns="0" rIns="0" bIns="0" rtlCol="0" anchor="ctr"/>
          <a:lstStyle/>
          <a:p>
            <a:pPr algn="ctr" indent="0" marL="0">
              <a:buNone/>
            </a:pPr>
            <a:r>
              <a:rPr lang="en-US" sz="1300" b="1" dirty="0">
                <a:solidFill>
                  <a:srgbClr val="262626"/>
                </a:solidFill>
                <a:latin typeface="Calibri" pitchFamily="34" charset="0"/>
                <a:ea typeface="Calibri" pitchFamily="34" charset="-122"/>
                <a:cs typeface="Calibri" pitchFamily="34" charset="-120"/>
              </a:rPr>
              <a:t>M. Taatwik</a:t>
            </a:r>
            <a:endParaRPr lang="en-US" sz="1300" dirty="0"/>
          </a:p>
        </p:txBody>
      </p:sp>
      <p:sp>
        <p:nvSpPr>
          <p:cNvPr id="19" name="Text 15"/>
          <p:cNvSpPr/>
          <p:nvPr/>
        </p:nvSpPr>
        <p:spPr>
          <a:xfrm>
            <a:off x="8747608" y="4288536"/>
            <a:ext cx="2468880" cy="27432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Roll No: 2420030103</a:t>
            </a:r>
            <a:endParaRPr lang="en-US" sz="1050" dirty="0"/>
          </a:p>
        </p:txBody>
      </p:sp>
      <p:sp>
        <p:nvSpPr>
          <p:cNvPr id="20" name="Text 16"/>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4312768" y="384048"/>
            <a:ext cx="3566160" cy="566928"/>
          </a:xfrm>
          <a:prstGeom prst="rect">
            <a:avLst/>
          </a:prstGeom>
          <a:solidFill>
            <a:srgbClr val="C00000"/>
          </a:solidFill>
          <a:ln/>
        </p:spPr>
      </p:sp>
      <p:sp>
        <p:nvSpPr>
          <p:cNvPr id="7" name="Text 3"/>
          <p:cNvSpPr/>
          <p:nvPr/>
        </p:nvSpPr>
        <p:spPr>
          <a:xfrm>
            <a:off x="4312768" y="384048"/>
            <a:ext cx="356616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Modules</a:t>
            </a:r>
            <a:endParaRPr lang="en-US" sz="2400" dirty="0"/>
          </a:p>
        </p:txBody>
      </p:sp>
      <p:sp>
        <p:nvSpPr>
          <p:cNvPr id="8" name="Text 4"/>
          <p:cNvSpPr/>
          <p:nvPr/>
        </p:nvSpPr>
        <p:spPr>
          <a:xfrm>
            <a:off x="548640" y="1371600"/>
            <a:ext cx="11064240" cy="365760"/>
          </a:xfrm>
          <a:prstGeom prst="rect">
            <a:avLst/>
          </a:prstGeom>
          <a:noFill/>
          <a:ln/>
        </p:spPr>
        <p:txBody>
          <a:bodyPr wrap="square" lIns="0" tIns="0" rIns="0" bIns="0" rtlCol="0" anchor="ctr"/>
          <a:lstStyle/>
          <a:p>
            <a:pPr indent="0" marL="0">
              <a:buNone/>
            </a:pPr>
            <a:r>
              <a:rPr lang="en-US" sz="1250" dirty="0">
                <a:solidFill>
                  <a:srgbClr val="555555"/>
                </a:solidFill>
                <a:latin typeface="Calibri" pitchFamily="34" charset="0"/>
                <a:ea typeface="Calibri" pitchFamily="34" charset="-122"/>
                <a:cs typeface="Calibri" pitchFamily="34" charset="-120"/>
              </a:rPr>
              <a:t>CodeInsight AI is organized into six interconnected modules, each handling a distinct stage of the code review pipeline from authentication through result presentation.</a:t>
            </a:r>
            <a:endParaRPr lang="en-US" sz="1250" dirty="0"/>
          </a:p>
        </p:txBody>
      </p:sp>
      <p:sp>
        <p:nvSpPr>
          <p:cNvPr id="9" name="Shape 5"/>
          <p:cNvSpPr/>
          <p:nvPr/>
        </p:nvSpPr>
        <p:spPr>
          <a:xfrm>
            <a:off x="548640" y="1920240"/>
            <a:ext cx="3566160" cy="1371600"/>
          </a:xfrm>
          <a:prstGeom prst="rect">
            <a:avLst/>
          </a:prstGeom>
          <a:solidFill>
            <a:srgbClr val="FFFFFF"/>
          </a:solidFill>
          <a:ln w="12700">
            <a:solidFill>
              <a:srgbClr val="D9D9D9"/>
            </a:solidFill>
            <a:prstDash val="solid"/>
          </a:ln>
        </p:spPr>
      </p:sp>
      <p:sp>
        <p:nvSpPr>
          <p:cNvPr id="10" name="Shape 6"/>
          <p:cNvSpPr/>
          <p:nvPr/>
        </p:nvSpPr>
        <p:spPr>
          <a:xfrm>
            <a:off x="749808" y="2121408"/>
            <a:ext cx="329184" cy="329184"/>
          </a:xfrm>
          <a:prstGeom prst="ellipse">
            <a:avLst/>
          </a:prstGeom>
          <a:solidFill>
            <a:srgbClr val="C00000"/>
          </a:solidFill>
          <a:ln/>
        </p:spPr>
      </p:sp>
      <p:sp>
        <p:nvSpPr>
          <p:cNvPr id="11" name="Text 7"/>
          <p:cNvSpPr/>
          <p:nvPr/>
        </p:nvSpPr>
        <p:spPr>
          <a:xfrm>
            <a:off x="749808" y="2121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8"/>
          <p:cNvSpPr/>
          <p:nvPr/>
        </p:nvSpPr>
        <p:spPr>
          <a:xfrm>
            <a:off x="1207008" y="2066544"/>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User Authentication</a:t>
            </a:r>
            <a:endParaRPr lang="en-US" sz="1250" dirty="0"/>
          </a:p>
        </p:txBody>
      </p:sp>
      <p:sp>
        <p:nvSpPr>
          <p:cNvPr id="13" name="Text 9"/>
          <p:cNvSpPr/>
          <p:nvPr/>
        </p:nvSpPr>
        <p:spPr>
          <a:xfrm>
            <a:off x="749808" y="2542032"/>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Allows users to securely access the application.</a:t>
            </a:r>
            <a:endParaRPr lang="en-US" sz="1050" dirty="0"/>
          </a:p>
        </p:txBody>
      </p:sp>
      <p:sp>
        <p:nvSpPr>
          <p:cNvPr id="14" name="Shape 10"/>
          <p:cNvSpPr/>
          <p:nvPr/>
        </p:nvSpPr>
        <p:spPr>
          <a:xfrm>
            <a:off x="4297680" y="1920240"/>
            <a:ext cx="3566160" cy="1371600"/>
          </a:xfrm>
          <a:prstGeom prst="rect">
            <a:avLst/>
          </a:prstGeom>
          <a:solidFill>
            <a:srgbClr val="FFFFFF"/>
          </a:solidFill>
          <a:ln w="12700">
            <a:solidFill>
              <a:srgbClr val="D9D9D9"/>
            </a:solidFill>
            <a:prstDash val="solid"/>
          </a:ln>
        </p:spPr>
      </p:sp>
      <p:sp>
        <p:nvSpPr>
          <p:cNvPr id="15" name="Shape 11"/>
          <p:cNvSpPr/>
          <p:nvPr/>
        </p:nvSpPr>
        <p:spPr>
          <a:xfrm>
            <a:off x="4498848" y="2121408"/>
            <a:ext cx="329184" cy="329184"/>
          </a:xfrm>
          <a:prstGeom prst="ellipse">
            <a:avLst/>
          </a:prstGeom>
          <a:solidFill>
            <a:srgbClr val="C00000"/>
          </a:solidFill>
          <a:ln/>
        </p:spPr>
      </p:sp>
      <p:sp>
        <p:nvSpPr>
          <p:cNvPr id="16" name="Text 12"/>
          <p:cNvSpPr/>
          <p:nvPr/>
        </p:nvSpPr>
        <p:spPr>
          <a:xfrm>
            <a:off x="4498848" y="2121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p:nvPr/>
        </p:nvSpPr>
        <p:spPr>
          <a:xfrm>
            <a:off x="4956048" y="2066544"/>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Code Upload / GitHub Integration</a:t>
            </a:r>
            <a:endParaRPr lang="en-US" sz="1250" dirty="0"/>
          </a:p>
        </p:txBody>
      </p:sp>
      <p:sp>
        <p:nvSpPr>
          <p:cNvPr id="18" name="Text 14"/>
          <p:cNvSpPr/>
          <p:nvPr/>
        </p:nvSpPr>
        <p:spPr>
          <a:xfrm>
            <a:off x="4498848" y="2542032"/>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Accepts source code uploads or retrieves code from a GitHub repository via the GitHub API.</a:t>
            </a:r>
            <a:endParaRPr lang="en-US" sz="1050" dirty="0"/>
          </a:p>
        </p:txBody>
      </p:sp>
      <p:sp>
        <p:nvSpPr>
          <p:cNvPr id="19" name="Shape 15"/>
          <p:cNvSpPr/>
          <p:nvPr/>
        </p:nvSpPr>
        <p:spPr>
          <a:xfrm>
            <a:off x="8046720" y="1920240"/>
            <a:ext cx="3566160" cy="1371600"/>
          </a:xfrm>
          <a:prstGeom prst="rect">
            <a:avLst/>
          </a:prstGeom>
          <a:solidFill>
            <a:srgbClr val="FFFFFF"/>
          </a:solidFill>
          <a:ln w="12700">
            <a:solidFill>
              <a:srgbClr val="D9D9D9"/>
            </a:solidFill>
            <a:prstDash val="solid"/>
          </a:ln>
        </p:spPr>
      </p:sp>
      <p:sp>
        <p:nvSpPr>
          <p:cNvPr id="20" name="Shape 16"/>
          <p:cNvSpPr/>
          <p:nvPr/>
        </p:nvSpPr>
        <p:spPr>
          <a:xfrm>
            <a:off x="8247888" y="2121408"/>
            <a:ext cx="329184" cy="329184"/>
          </a:xfrm>
          <a:prstGeom prst="ellipse">
            <a:avLst/>
          </a:prstGeom>
          <a:solidFill>
            <a:srgbClr val="C00000"/>
          </a:solidFill>
          <a:ln/>
        </p:spPr>
      </p:sp>
      <p:sp>
        <p:nvSpPr>
          <p:cNvPr id="21" name="Text 17"/>
          <p:cNvSpPr/>
          <p:nvPr/>
        </p:nvSpPr>
        <p:spPr>
          <a:xfrm>
            <a:off x="8247888" y="2121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8"/>
          <p:cNvSpPr/>
          <p:nvPr/>
        </p:nvSpPr>
        <p:spPr>
          <a:xfrm>
            <a:off x="8705088" y="2066544"/>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AI Code Analysis</a:t>
            </a:r>
            <a:endParaRPr lang="en-US" sz="1250" dirty="0"/>
          </a:p>
        </p:txBody>
      </p:sp>
      <p:sp>
        <p:nvSpPr>
          <p:cNvPr id="23" name="Text 19"/>
          <p:cNvSpPr/>
          <p:nvPr/>
        </p:nvSpPr>
        <p:spPr>
          <a:xfrm>
            <a:off x="8247888" y="2542032"/>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Uses the Gemini AI API to analyze submitted code for bugs, issues, and quality.</a:t>
            </a:r>
            <a:endParaRPr lang="en-US" sz="1050" dirty="0"/>
          </a:p>
        </p:txBody>
      </p:sp>
      <p:sp>
        <p:nvSpPr>
          <p:cNvPr id="24" name="Shape 20"/>
          <p:cNvSpPr/>
          <p:nvPr/>
        </p:nvSpPr>
        <p:spPr>
          <a:xfrm>
            <a:off x="548640" y="3456432"/>
            <a:ext cx="3566160" cy="1371600"/>
          </a:xfrm>
          <a:prstGeom prst="rect">
            <a:avLst/>
          </a:prstGeom>
          <a:solidFill>
            <a:srgbClr val="FFFFFF"/>
          </a:solidFill>
          <a:ln w="12700">
            <a:solidFill>
              <a:srgbClr val="D9D9D9"/>
            </a:solidFill>
            <a:prstDash val="solid"/>
          </a:ln>
        </p:spPr>
      </p:sp>
      <p:sp>
        <p:nvSpPr>
          <p:cNvPr id="25" name="Shape 21"/>
          <p:cNvSpPr/>
          <p:nvPr/>
        </p:nvSpPr>
        <p:spPr>
          <a:xfrm>
            <a:off x="749808" y="3657600"/>
            <a:ext cx="329184" cy="329184"/>
          </a:xfrm>
          <a:prstGeom prst="ellipse">
            <a:avLst/>
          </a:prstGeom>
          <a:solidFill>
            <a:srgbClr val="C00000"/>
          </a:solidFill>
          <a:ln/>
        </p:spPr>
      </p:sp>
      <p:sp>
        <p:nvSpPr>
          <p:cNvPr id="26" name="Text 22"/>
          <p:cNvSpPr/>
          <p:nvPr/>
        </p:nvSpPr>
        <p:spPr>
          <a:xfrm>
            <a:off x="74980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3"/>
          <p:cNvSpPr/>
          <p:nvPr/>
        </p:nvSpPr>
        <p:spPr>
          <a:xfrm>
            <a:off x="1207008" y="3602736"/>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Bug Detection</a:t>
            </a:r>
            <a:endParaRPr lang="en-US" sz="1250" dirty="0"/>
          </a:p>
        </p:txBody>
      </p:sp>
      <p:sp>
        <p:nvSpPr>
          <p:cNvPr id="28" name="Text 24"/>
          <p:cNvSpPr/>
          <p:nvPr/>
        </p:nvSpPr>
        <p:spPr>
          <a:xfrm>
            <a:off x="749808" y="4078224"/>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Identifies potential bugs and coding issues within the analyzed code.</a:t>
            </a:r>
            <a:endParaRPr lang="en-US" sz="1050" dirty="0"/>
          </a:p>
        </p:txBody>
      </p:sp>
      <p:sp>
        <p:nvSpPr>
          <p:cNvPr id="29" name="Shape 25"/>
          <p:cNvSpPr/>
          <p:nvPr/>
        </p:nvSpPr>
        <p:spPr>
          <a:xfrm>
            <a:off x="4297680" y="3456432"/>
            <a:ext cx="3566160" cy="1371600"/>
          </a:xfrm>
          <a:prstGeom prst="rect">
            <a:avLst/>
          </a:prstGeom>
          <a:solidFill>
            <a:srgbClr val="FFFFFF"/>
          </a:solidFill>
          <a:ln w="12700">
            <a:solidFill>
              <a:srgbClr val="D9D9D9"/>
            </a:solidFill>
            <a:prstDash val="solid"/>
          </a:ln>
        </p:spPr>
      </p:sp>
      <p:sp>
        <p:nvSpPr>
          <p:cNvPr id="30" name="Shape 26"/>
          <p:cNvSpPr/>
          <p:nvPr/>
        </p:nvSpPr>
        <p:spPr>
          <a:xfrm>
            <a:off x="4498848" y="3657600"/>
            <a:ext cx="329184" cy="329184"/>
          </a:xfrm>
          <a:prstGeom prst="ellipse">
            <a:avLst/>
          </a:prstGeom>
          <a:solidFill>
            <a:srgbClr val="C00000"/>
          </a:solidFill>
          <a:ln/>
        </p:spPr>
      </p:sp>
      <p:sp>
        <p:nvSpPr>
          <p:cNvPr id="31" name="Text 27"/>
          <p:cNvSpPr/>
          <p:nvPr/>
        </p:nvSpPr>
        <p:spPr>
          <a:xfrm>
            <a:off x="449884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28"/>
          <p:cNvSpPr/>
          <p:nvPr/>
        </p:nvSpPr>
        <p:spPr>
          <a:xfrm>
            <a:off x="4956048" y="3602736"/>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Report Generation</a:t>
            </a:r>
            <a:endParaRPr lang="en-US" sz="1250" dirty="0"/>
          </a:p>
        </p:txBody>
      </p:sp>
      <p:sp>
        <p:nvSpPr>
          <p:cNvPr id="33" name="Text 29"/>
          <p:cNvSpPr/>
          <p:nvPr/>
        </p:nvSpPr>
        <p:spPr>
          <a:xfrm>
            <a:off x="4498848" y="4078224"/>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Produces improvement suggestions, a review summary, and a code quality score.</a:t>
            </a:r>
            <a:endParaRPr lang="en-US" sz="1050" dirty="0"/>
          </a:p>
        </p:txBody>
      </p:sp>
      <p:sp>
        <p:nvSpPr>
          <p:cNvPr id="34" name="Shape 30"/>
          <p:cNvSpPr/>
          <p:nvPr/>
        </p:nvSpPr>
        <p:spPr>
          <a:xfrm>
            <a:off x="8046720" y="3456432"/>
            <a:ext cx="3566160" cy="1371600"/>
          </a:xfrm>
          <a:prstGeom prst="rect">
            <a:avLst/>
          </a:prstGeom>
          <a:solidFill>
            <a:srgbClr val="FFFFFF"/>
          </a:solidFill>
          <a:ln w="12700">
            <a:solidFill>
              <a:srgbClr val="D9D9D9"/>
            </a:solidFill>
            <a:prstDash val="solid"/>
          </a:ln>
        </p:spPr>
      </p:sp>
      <p:sp>
        <p:nvSpPr>
          <p:cNvPr id="35" name="Shape 31"/>
          <p:cNvSpPr/>
          <p:nvPr/>
        </p:nvSpPr>
        <p:spPr>
          <a:xfrm>
            <a:off x="8247888" y="3657600"/>
            <a:ext cx="329184" cy="329184"/>
          </a:xfrm>
          <a:prstGeom prst="ellipse">
            <a:avLst/>
          </a:prstGeom>
          <a:solidFill>
            <a:srgbClr val="C00000"/>
          </a:solidFill>
          <a:ln/>
        </p:spPr>
      </p:sp>
      <p:sp>
        <p:nvSpPr>
          <p:cNvPr id="36" name="Text 32"/>
          <p:cNvSpPr/>
          <p:nvPr/>
        </p:nvSpPr>
        <p:spPr>
          <a:xfrm>
            <a:off x="824788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3"/>
          <p:cNvSpPr/>
          <p:nvPr/>
        </p:nvSpPr>
        <p:spPr>
          <a:xfrm>
            <a:off x="8705088" y="3602736"/>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Review Dashboard</a:t>
            </a:r>
            <a:endParaRPr lang="en-US" sz="1250" dirty="0"/>
          </a:p>
        </p:txBody>
      </p:sp>
      <p:sp>
        <p:nvSpPr>
          <p:cNvPr id="38" name="Text 34"/>
          <p:cNvSpPr/>
          <p:nvPr/>
        </p:nvSpPr>
        <p:spPr>
          <a:xfrm>
            <a:off x="8247888" y="4078224"/>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Allows users to view current and previous code review results stored in the database.</a:t>
            </a:r>
            <a:endParaRPr lang="en-US" sz="1050" dirty="0"/>
          </a:p>
        </p:txBody>
      </p:sp>
      <p:sp>
        <p:nvSpPr>
          <p:cNvPr id="39" name="Text 35"/>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4760824" y="384048"/>
            <a:ext cx="2670048" cy="566928"/>
          </a:xfrm>
          <a:prstGeom prst="rect">
            <a:avLst/>
          </a:prstGeom>
          <a:solidFill>
            <a:srgbClr val="C00000"/>
          </a:solidFill>
          <a:ln/>
        </p:spPr>
      </p:sp>
      <p:sp>
        <p:nvSpPr>
          <p:cNvPr id="7" name="Text 3"/>
          <p:cNvSpPr/>
          <p:nvPr/>
        </p:nvSpPr>
        <p:spPr>
          <a:xfrm>
            <a:off x="4760824" y="384048"/>
            <a:ext cx="267004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Problem Statement</a:t>
            </a:r>
            <a:endParaRPr lang="en-US" sz="2400" dirty="0"/>
          </a:p>
        </p:txBody>
      </p:sp>
      <p:sp>
        <p:nvSpPr>
          <p:cNvPr id="8" name="Text 4"/>
          <p:cNvSpPr/>
          <p:nvPr/>
        </p:nvSpPr>
        <p:spPr>
          <a:xfrm>
            <a:off x="548640" y="1417320"/>
            <a:ext cx="6126480" cy="4114800"/>
          </a:xfrm>
          <a:prstGeom prst="rect">
            <a:avLst/>
          </a:prstGeom>
          <a:noFill/>
          <a:ln/>
        </p:spPr>
        <p:txBody>
          <a:bodyPr wrap="square" lIns="0" tIns="0" rIns="0" bIns="0" rtlCol="0" anchor="t"/>
          <a:lstStyle/>
          <a:p>
            <a:pPr indent="0" marL="0">
              <a:lnSpc>
                <a:spcPct val="125000"/>
              </a:lnSpc>
              <a:buNone/>
            </a:pPr>
            <a:r>
              <a:rPr lang="en-US" sz="1500" b="1" dirty="0">
                <a:solidFill>
                  <a:srgbClr val="C00000"/>
                </a:solidFill>
                <a:latin typeface="Calibri" pitchFamily="34" charset="0"/>
                <a:ea typeface="Calibri" pitchFamily="34" charset="-122"/>
                <a:cs typeface="Calibri" pitchFamily="34" charset="-120"/>
              </a:rPr>
              <a:t>The Challenge
</a:t>
            </a:r>
            <a:endParaRPr lang="en-US" sz="1500" dirty="0"/>
          </a:p>
          <a:p>
            <a:pPr indent="0" marL="0">
              <a:lnSpc>
                <a:spcPct val="125000"/>
              </a:lnSpc>
              <a:buNone/>
            </a:pPr>
            <a:r>
              <a:rPr lang="en-US" sz="1350" dirty="0">
                <a:solidFill>
                  <a:srgbClr val="262626"/>
                </a:solidFill>
                <a:latin typeface="Calibri" pitchFamily="34" charset="0"/>
                <a:ea typeface="Calibri" pitchFamily="34" charset="-122"/>
                <a:cs typeface="Calibri" pitchFamily="34" charset="-120"/>
              </a:rPr>
              <a:t>Modern codebases grow large and change frequently. Developers depend on code review to catch bugs and enforce quality, but manual review is slow, inconsistent, and often misses problems as projects scale up.
</a:t>
            </a:r>
            <a:endParaRPr lang="en-US" sz="1500" dirty="0"/>
          </a:p>
          <a:p>
            <a:pPr indent="0" marL="0">
              <a:lnSpc>
                <a:spcPct val="125000"/>
              </a:lnSpc>
              <a:buNone/>
            </a:pPr>
            <a:r>
              <a:rPr lang="en-US" sz="1500" b="1" dirty="0">
                <a:solidFill>
                  <a:srgbClr val="C00000"/>
                </a:solidFill>
                <a:latin typeface="Calibri" pitchFamily="34" charset="0"/>
                <a:ea typeface="Calibri" pitchFamily="34" charset="-122"/>
                <a:cs typeface="Calibri" pitchFamily="34" charset="-120"/>
              </a:rPr>
              <a:t>Why It Matters
</a:t>
            </a:r>
            <a:endParaRPr lang="en-US" sz="1500" dirty="0"/>
          </a:p>
          <a:p>
            <a:pPr indent="0" marL="0">
              <a:lnSpc>
                <a:spcPct val="125000"/>
              </a:lnSpc>
              <a:buNone/>
            </a:pPr>
            <a:r>
              <a:rPr lang="en-US" sz="1350" dirty="0">
                <a:solidFill>
                  <a:srgbClr val="262626"/>
                </a:solidFill>
                <a:latin typeface="Calibri" pitchFamily="34" charset="0"/>
                <a:ea typeface="Calibri" pitchFamily="34" charset="-122"/>
                <a:cs typeface="Calibri" pitchFamily="34" charset="-120"/>
              </a:rPr>
              <a:t>Teams need a faster, more reliable way to review code and catch issues early — without adding to a developer's daily workload.</a:t>
            </a:r>
            <a:endParaRPr lang="en-US" sz="1500" dirty="0"/>
          </a:p>
        </p:txBody>
      </p:sp>
      <p:sp>
        <p:nvSpPr>
          <p:cNvPr id="9" name="Shape 5"/>
          <p:cNvSpPr/>
          <p:nvPr/>
        </p:nvSpPr>
        <p:spPr>
          <a:xfrm>
            <a:off x="7040880" y="1554480"/>
            <a:ext cx="347472" cy="347472"/>
          </a:xfrm>
          <a:prstGeom prst="ellipse">
            <a:avLst/>
          </a:prstGeom>
          <a:solidFill>
            <a:srgbClr val="C00000"/>
          </a:solidFill>
          <a:ln/>
        </p:spPr>
      </p:sp>
      <p:sp>
        <p:nvSpPr>
          <p:cNvPr id="10" name="Text 6"/>
          <p:cNvSpPr/>
          <p:nvPr/>
        </p:nvSpPr>
        <p:spPr>
          <a:xfrm>
            <a:off x="7040880" y="15544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p:nvPr/>
        </p:nvSpPr>
        <p:spPr>
          <a:xfrm>
            <a:off x="7543800" y="149961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Growing Codebases</a:t>
            </a:r>
            <a:endParaRPr lang="en-US" sz="1350" dirty="0"/>
          </a:p>
        </p:txBody>
      </p:sp>
      <p:sp>
        <p:nvSpPr>
          <p:cNvPr id="12" name="Text 8"/>
          <p:cNvSpPr/>
          <p:nvPr/>
        </p:nvSpPr>
        <p:spPr>
          <a:xfrm>
            <a:off x="7543800" y="177393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Large, evolving projects make manual review harder to keep up with</a:t>
            </a:r>
            <a:endParaRPr lang="en-US" sz="1100" dirty="0"/>
          </a:p>
        </p:txBody>
      </p:sp>
      <p:sp>
        <p:nvSpPr>
          <p:cNvPr id="13" name="Shape 9"/>
          <p:cNvSpPr/>
          <p:nvPr/>
        </p:nvSpPr>
        <p:spPr>
          <a:xfrm>
            <a:off x="7040880" y="2514600"/>
            <a:ext cx="347472" cy="347472"/>
          </a:xfrm>
          <a:prstGeom prst="ellipse">
            <a:avLst/>
          </a:prstGeom>
          <a:solidFill>
            <a:srgbClr val="C00000"/>
          </a:solidFill>
          <a:ln/>
        </p:spPr>
      </p:sp>
      <p:sp>
        <p:nvSpPr>
          <p:cNvPr id="14" name="Text 10"/>
          <p:cNvSpPr/>
          <p:nvPr/>
        </p:nvSpPr>
        <p:spPr>
          <a:xfrm>
            <a:off x="7040880" y="2514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1"/>
          <p:cNvSpPr/>
          <p:nvPr/>
        </p:nvSpPr>
        <p:spPr>
          <a:xfrm>
            <a:off x="7543800" y="245973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Time-Consuming Reviews</a:t>
            </a:r>
            <a:endParaRPr lang="en-US" sz="1350" dirty="0"/>
          </a:p>
        </p:txBody>
      </p:sp>
      <p:sp>
        <p:nvSpPr>
          <p:cNvPr id="16" name="Text 12"/>
          <p:cNvSpPr/>
          <p:nvPr/>
        </p:nvSpPr>
        <p:spPr>
          <a:xfrm>
            <a:off x="7543800" y="273405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Manual code review takes significant developer time and effort</a:t>
            </a:r>
            <a:endParaRPr lang="en-US" sz="1100" dirty="0"/>
          </a:p>
        </p:txBody>
      </p:sp>
      <p:sp>
        <p:nvSpPr>
          <p:cNvPr id="17" name="Shape 13"/>
          <p:cNvSpPr/>
          <p:nvPr/>
        </p:nvSpPr>
        <p:spPr>
          <a:xfrm>
            <a:off x="7040880" y="3474720"/>
            <a:ext cx="347472" cy="347472"/>
          </a:xfrm>
          <a:prstGeom prst="ellipse">
            <a:avLst/>
          </a:prstGeom>
          <a:solidFill>
            <a:srgbClr val="C00000"/>
          </a:solidFill>
          <a:ln/>
        </p:spPr>
      </p:sp>
      <p:sp>
        <p:nvSpPr>
          <p:cNvPr id="18" name="Text 14"/>
          <p:cNvSpPr/>
          <p:nvPr/>
        </p:nvSpPr>
        <p:spPr>
          <a:xfrm>
            <a:off x="7040880" y="34747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5"/>
          <p:cNvSpPr/>
          <p:nvPr/>
        </p:nvSpPr>
        <p:spPr>
          <a:xfrm>
            <a:off x="7543800" y="341985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Inconsistent Feedback</a:t>
            </a:r>
            <a:endParaRPr lang="en-US" sz="1350" dirty="0"/>
          </a:p>
        </p:txBody>
      </p:sp>
      <p:sp>
        <p:nvSpPr>
          <p:cNvPr id="20" name="Text 16"/>
          <p:cNvSpPr/>
          <p:nvPr/>
        </p:nvSpPr>
        <p:spPr>
          <a:xfrm>
            <a:off x="7543800" y="369417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Review quality varies between reviewers, and edge cases get missed</a:t>
            </a:r>
            <a:endParaRPr lang="en-US" sz="1100" dirty="0"/>
          </a:p>
        </p:txBody>
      </p:sp>
      <p:sp>
        <p:nvSpPr>
          <p:cNvPr id="21" name="Shape 17"/>
          <p:cNvSpPr/>
          <p:nvPr/>
        </p:nvSpPr>
        <p:spPr>
          <a:xfrm>
            <a:off x="7040880" y="4434840"/>
            <a:ext cx="347472" cy="347472"/>
          </a:xfrm>
          <a:prstGeom prst="ellipse">
            <a:avLst/>
          </a:prstGeom>
          <a:solidFill>
            <a:srgbClr val="C00000"/>
          </a:solidFill>
          <a:ln/>
        </p:spPr>
      </p:sp>
      <p:sp>
        <p:nvSpPr>
          <p:cNvPr id="22" name="Text 18"/>
          <p:cNvSpPr/>
          <p:nvPr/>
        </p:nvSpPr>
        <p:spPr>
          <a:xfrm>
            <a:off x="7040880" y="44348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19"/>
          <p:cNvSpPr/>
          <p:nvPr/>
        </p:nvSpPr>
        <p:spPr>
          <a:xfrm>
            <a:off x="7543800" y="437997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Missed Bugs &amp; Issues</a:t>
            </a:r>
            <a:endParaRPr lang="en-US" sz="1350" dirty="0"/>
          </a:p>
        </p:txBody>
      </p:sp>
      <p:sp>
        <p:nvSpPr>
          <p:cNvPr id="24" name="Text 20"/>
          <p:cNvSpPr/>
          <p:nvPr/>
        </p:nvSpPr>
        <p:spPr>
          <a:xfrm>
            <a:off x="7543800" y="465429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Critical bugs and quality issues can slip through unnoticed</a:t>
            </a:r>
            <a:endParaRPr lang="en-US" sz="1100" dirty="0"/>
          </a:p>
        </p:txBody>
      </p:sp>
      <p:sp>
        <p:nvSpPr>
          <p:cNvPr id="25" name="Text 21"/>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4760824" y="384048"/>
            <a:ext cx="2670048" cy="566928"/>
          </a:xfrm>
          <a:prstGeom prst="rect">
            <a:avLst/>
          </a:prstGeom>
          <a:solidFill>
            <a:srgbClr val="C00000"/>
          </a:solidFill>
          <a:ln/>
        </p:spPr>
      </p:sp>
      <p:sp>
        <p:nvSpPr>
          <p:cNvPr id="7" name="Text 3"/>
          <p:cNvSpPr/>
          <p:nvPr/>
        </p:nvSpPr>
        <p:spPr>
          <a:xfrm>
            <a:off x="4760824" y="384048"/>
            <a:ext cx="267004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Existing System</a:t>
            </a:r>
            <a:endParaRPr lang="en-US" sz="2400" dirty="0"/>
          </a:p>
        </p:txBody>
      </p:sp>
      <p:sp>
        <p:nvSpPr>
          <p:cNvPr id="8" name="Text 4"/>
          <p:cNvSpPr/>
          <p:nvPr/>
        </p:nvSpPr>
        <p:spPr>
          <a:xfrm>
            <a:off x="548640" y="1417320"/>
            <a:ext cx="6126480" cy="4114800"/>
          </a:xfrm>
          <a:prstGeom prst="rect">
            <a:avLst/>
          </a:prstGeom>
          <a:noFill/>
          <a:ln/>
        </p:spPr>
        <p:txBody>
          <a:bodyPr wrap="square" lIns="0" tIns="0" rIns="0" bIns="0" rtlCol="0" anchor="t"/>
          <a:lstStyle/>
          <a:p>
            <a:pPr indent="0" marL="0">
              <a:lnSpc>
                <a:spcPct val="125000"/>
              </a:lnSpc>
              <a:buNone/>
            </a:pPr>
            <a:r>
              <a:rPr lang="en-US" sz="1500" b="1" dirty="0">
                <a:solidFill>
                  <a:srgbClr val="C00000"/>
                </a:solidFill>
                <a:latin typeface="Calibri" pitchFamily="34" charset="0"/>
                <a:ea typeface="Calibri" pitchFamily="34" charset="-122"/>
                <a:cs typeface="Calibri" pitchFamily="34" charset="-120"/>
              </a:rPr>
              <a:t>Current Approach
</a:t>
            </a:r>
            <a:endParaRPr lang="en-US" sz="1500" dirty="0"/>
          </a:p>
          <a:p>
            <a:pPr indent="0" marL="0">
              <a:lnSpc>
                <a:spcPct val="125000"/>
              </a:lnSpc>
              <a:buNone/>
            </a:pPr>
            <a:r>
              <a:rPr lang="en-US" sz="1350" dirty="0">
                <a:solidFill>
                  <a:srgbClr val="262626"/>
                </a:solidFill>
                <a:latin typeface="Calibri" pitchFamily="34" charset="0"/>
                <a:ea typeface="Calibri" pitchFamily="34" charset="-122"/>
                <a:cs typeface="Calibri" pitchFamily="34" charset="-120"/>
              </a:rPr>
              <a:t>Most teams still rely on manual code review, supported by basic linters and static analysis tools that check for style and syntax issues rather than deeper logic or quality problems.
</a:t>
            </a:r>
            <a:endParaRPr lang="en-US" sz="1500" dirty="0"/>
          </a:p>
          <a:p>
            <a:pPr indent="0" marL="0">
              <a:lnSpc>
                <a:spcPct val="125000"/>
              </a:lnSpc>
              <a:buNone/>
            </a:pPr>
            <a:r>
              <a:rPr lang="en-US" sz="1500" b="1" dirty="0">
                <a:solidFill>
                  <a:srgbClr val="C00000"/>
                </a:solidFill>
                <a:latin typeface="Calibri" pitchFamily="34" charset="0"/>
                <a:ea typeface="Calibri" pitchFamily="34" charset="-122"/>
                <a:cs typeface="Calibri" pitchFamily="34" charset="-120"/>
              </a:rPr>
              <a:t>Key Limitations
</a:t>
            </a:r>
            <a:endParaRPr lang="en-US" sz="1500" dirty="0"/>
          </a:p>
          <a:p>
            <a:pPr indent="0" marL="0">
              <a:lnSpc>
                <a:spcPct val="125000"/>
              </a:lnSpc>
              <a:buNone/>
            </a:pPr>
            <a:r>
              <a:rPr lang="en-US" sz="1350" dirty="0">
                <a:solidFill>
                  <a:srgbClr val="262626"/>
                </a:solidFill>
                <a:latin typeface="Calibri" pitchFamily="34" charset="0"/>
                <a:ea typeface="Calibri" pitchFamily="34" charset="-122"/>
                <a:cs typeface="Calibri" pitchFamily="34" charset="-120"/>
              </a:rPr>
              <a:t>These methods depend heavily on reviewer availability and expertise, and don’t scale well as codebases and teams grow.</a:t>
            </a:r>
            <a:endParaRPr lang="en-US" sz="1500" dirty="0"/>
          </a:p>
        </p:txBody>
      </p:sp>
      <p:sp>
        <p:nvSpPr>
          <p:cNvPr id="9" name="Shape 5"/>
          <p:cNvSpPr/>
          <p:nvPr/>
        </p:nvSpPr>
        <p:spPr>
          <a:xfrm>
            <a:off x="7040880" y="1554480"/>
            <a:ext cx="347472" cy="347472"/>
          </a:xfrm>
          <a:prstGeom prst="ellipse">
            <a:avLst/>
          </a:prstGeom>
          <a:solidFill>
            <a:srgbClr val="C00000"/>
          </a:solidFill>
          <a:ln/>
        </p:spPr>
      </p:sp>
      <p:sp>
        <p:nvSpPr>
          <p:cNvPr id="10" name="Text 6"/>
          <p:cNvSpPr/>
          <p:nvPr/>
        </p:nvSpPr>
        <p:spPr>
          <a:xfrm>
            <a:off x="7040880" y="15544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p:nvPr/>
        </p:nvSpPr>
        <p:spPr>
          <a:xfrm>
            <a:off x="7543800" y="149961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Manual &amp; Time-Consuming</a:t>
            </a:r>
            <a:endParaRPr lang="en-US" sz="1350" dirty="0"/>
          </a:p>
        </p:txBody>
      </p:sp>
      <p:sp>
        <p:nvSpPr>
          <p:cNvPr id="12" name="Text 8"/>
          <p:cNvSpPr/>
          <p:nvPr/>
        </p:nvSpPr>
        <p:spPr>
          <a:xfrm>
            <a:off x="7543800" y="177393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Every submission needs a human reviewer to read and judge it</a:t>
            </a:r>
            <a:endParaRPr lang="en-US" sz="1100" dirty="0"/>
          </a:p>
        </p:txBody>
      </p:sp>
      <p:sp>
        <p:nvSpPr>
          <p:cNvPr id="13" name="Shape 9"/>
          <p:cNvSpPr/>
          <p:nvPr/>
        </p:nvSpPr>
        <p:spPr>
          <a:xfrm>
            <a:off x="7040880" y="2514600"/>
            <a:ext cx="347472" cy="347472"/>
          </a:xfrm>
          <a:prstGeom prst="ellipse">
            <a:avLst/>
          </a:prstGeom>
          <a:solidFill>
            <a:srgbClr val="C00000"/>
          </a:solidFill>
          <a:ln/>
        </p:spPr>
      </p:sp>
      <p:sp>
        <p:nvSpPr>
          <p:cNvPr id="14" name="Text 10"/>
          <p:cNvSpPr/>
          <p:nvPr/>
        </p:nvSpPr>
        <p:spPr>
          <a:xfrm>
            <a:off x="7040880" y="2514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1"/>
          <p:cNvSpPr/>
          <p:nvPr/>
        </p:nvSpPr>
        <p:spPr>
          <a:xfrm>
            <a:off x="7543800" y="245973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Rule-Based Tools Only</a:t>
            </a:r>
            <a:endParaRPr lang="en-US" sz="1350" dirty="0"/>
          </a:p>
        </p:txBody>
      </p:sp>
      <p:sp>
        <p:nvSpPr>
          <p:cNvPr id="16" name="Text 12"/>
          <p:cNvSpPr/>
          <p:nvPr/>
        </p:nvSpPr>
        <p:spPr>
          <a:xfrm>
            <a:off x="7543800" y="273405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Linters catch style issues but miss deeper logic and bugs</a:t>
            </a:r>
            <a:endParaRPr lang="en-US" sz="1100" dirty="0"/>
          </a:p>
        </p:txBody>
      </p:sp>
      <p:sp>
        <p:nvSpPr>
          <p:cNvPr id="17" name="Shape 13"/>
          <p:cNvSpPr/>
          <p:nvPr/>
        </p:nvSpPr>
        <p:spPr>
          <a:xfrm>
            <a:off x="7040880" y="3474720"/>
            <a:ext cx="347472" cy="347472"/>
          </a:xfrm>
          <a:prstGeom prst="ellipse">
            <a:avLst/>
          </a:prstGeom>
          <a:solidFill>
            <a:srgbClr val="C00000"/>
          </a:solidFill>
          <a:ln/>
        </p:spPr>
      </p:sp>
      <p:sp>
        <p:nvSpPr>
          <p:cNvPr id="18" name="Text 14"/>
          <p:cNvSpPr/>
          <p:nvPr/>
        </p:nvSpPr>
        <p:spPr>
          <a:xfrm>
            <a:off x="7040880" y="34747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5"/>
          <p:cNvSpPr/>
          <p:nvPr/>
        </p:nvSpPr>
        <p:spPr>
          <a:xfrm>
            <a:off x="7543800" y="341985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No Quality Scoring</a:t>
            </a:r>
            <a:endParaRPr lang="en-US" sz="1350" dirty="0"/>
          </a:p>
        </p:txBody>
      </p:sp>
      <p:sp>
        <p:nvSpPr>
          <p:cNvPr id="20" name="Text 16"/>
          <p:cNvSpPr/>
          <p:nvPr/>
        </p:nvSpPr>
        <p:spPr>
          <a:xfrm>
            <a:off x="7543800" y="369417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No consistent way to measure or track overall code quality</a:t>
            </a:r>
            <a:endParaRPr lang="en-US" sz="1100" dirty="0"/>
          </a:p>
        </p:txBody>
      </p:sp>
      <p:sp>
        <p:nvSpPr>
          <p:cNvPr id="21" name="Shape 17"/>
          <p:cNvSpPr/>
          <p:nvPr/>
        </p:nvSpPr>
        <p:spPr>
          <a:xfrm>
            <a:off x="7040880" y="4434840"/>
            <a:ext cx="347472" cy="347472"/>
          </a:xfrm>
          <a:prstGeom prst="ellipse">
            <a:avLst/>
          </a:prstGeom>
          <a:solidFill>
            <a:srgbClr val="C00000"/>
          </a:solidFill>
          <a:ln/>
        </p:spPr>
      </p:sp>
      <p:sp>
        <p:nvSpPr>
          <p:cNvPr id="22" name="Text 18"/>
          <p:cNvSpPr/>
          <p:nvPr/>
        </p:nvSpPr>
        <p:spPr>
          <a:xfrm>
            <a:off x="7040880" y="44348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19"/>
          <p:cNvSpPr/>
          <p:nvPr/>
        </p:nvSpPr>
        <p:spPr>
          <a:xfrm>
            <a:off x="7543800" y="437997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No GitHub Integration</a:t>
            </a:r>
            <a:endParaRPr lang="en-US" sz="1350" dirty="0"/>
          </a:p>
        </p:txBody>
      </p:sp>
      <p:sp>
        <p:nvSpPr>
          <p:cNvPr id="24" name="Text 20"/>
          <p:cNvSpPr/>
          <p:nvPr/>
        </p:nvSpPr>
        <p:spPr>
          <a:xfrm>
            <a:off x="7543800" y="465429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Existing tools rarely connect directly to repositories</a:t>
            </a:r>
            <a:endParaRPr lang="en-US" sz="1100" dirty="0"/>
          </a:p>
        </p:txBody>
      </p:sp>
      <p:sp>
        <p:nvSpPr>
          <p:cNvPr id="25" name="Text 21"/>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4760824" y="384048"/>
            <a:ext cx="2670048" cy="566928"/>
          </a:xfrm>
          <a:prstGeom prst="rect">
            <a:avLst/>
          </a:prstGeom>
          <a:solidFill>
            <a:srgbClr val="C00000"/>
          </a:solidFill>
          <a:ln/>
        </p:spPr>
      </p:sp>
      <p:sp>
        <p:nvSpPr>
          <p:cNvPr id="7" name="Text 3"/>
          <p:cNvSpPr/>
          <p:nvPr/>
        </p:nvSpPr>
        <p:spPr>
          <a:xfrm>
            <a:off x="4760824" y="384048"/>
            <a:ext cx="267004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Proposed System</a:t>
            </a:r>
            <a:endParaRPr lang="en-US" sz="2400" dirty="0"/>
          </a:p>
        </p:txBody>
      </p:sp>
      <p:sp>
        <p:nvSpPr>
          <p:cNvPr id="8" name="Text 4"/>
          <p:cNvSpPr/>
          <p:nvPr/>
        </p:nvSpPr>
        <p:spPr>
          <a:xfrm>
            <a:off x="548640" y="1417320"/>
            <a:ext cx="6126480" cy="4114800"/>
          </a:xfrm>
          <a:prstGeom prst="rect">
            <a:avLst/>
          </a:prstGeom>
          <a:noFill/>
          <a:ln/>
        </p:spPr>
        <p:txBody>
          <a:bodyPr wrap="square" lIns="0" tIns="0" rIns="0" bIns="0" rtlCol="0" anchor="t"/>
          <a:lstStyle/>
          <a:p>
            <a:pPr indent="0" marL="0">
              <a:lnSpc>
                <a:spcPct val="125000"/>
              </a:lnSpc>
              <a:buNone/>
            </a:pPr>
            <a:r>
              <a:rPr lang="en-US" sz="1500" b="1" dirty="0">
                <a:solidFill>
                  <a:srgbClr val="C00000"/>
                </a:solidFill>
                <a:latin typeface="Calibri" pitchFamily="34" charset="0"/>
                <a:ea typeface="Calibri" pitchFamily="34" charset="-122"/>
                <a:cs typeface="Calibri" pitchFamily="34" charset="-120"/>
              </a:rPr>
              <a:t>Our Solution
</a:t>
            </a:r>
            <a:endParaRPr lang="en-US" sz="1500" dirty="0"/>
          </a:p>
          <a:p>
            <a:pPr indent="0" marL="0">
              <a:lnSpc>
                <a:spcPct val="125000"/>
              </a:lnSpc>
              <a:buNone/>
            </a:pPr>
            <a:r>
              <a:rPr lang="en-US" sz="1350" dirty="0">
                <a:solidFill>
                  <a:srgbClr val="262626"/>
                </a:solidFill>
                <a:latin typeface="Calibri" pitchFamily="34" charset="0"/>
                <a:ea typeface="Calibri" pitchFamily="34" charset="-122"/>
                <a:cs typeface="Calibri" pitchFamily="34" charset="-120"/>
              </a:rPr>
              <a:t>CodeInsight AI is a web application that automates code review using the Gemini AI API. Developers upload code or connect a GitHub repository, and the system analyzes it for bugs and quality issues.
</a:t>
            </a:r>
            <a:endParaRPr lang="en-US" sz="1500" dirty="0"/>
          </a:p>
          <a:p>
            <a:pPr indent="0" marL="0">
              <a:lnSpc>
                <a:spcPct val="125000"/>
              </a:lnSpc>
              <a:buNone/>
            </a:pPr>
            <a:r>
              <a:rPr lang="en-US" sz="1500" b="1" dirty="0">
                <a:solidFill>
                  <a:srgbClr val="C00000"/>
                </a:solidFill>
                <a:latin typeface="Calibri" pitchFamily="34" charset="0"/>
                <a:ea typeface="Calibri" pitchFamily="34" charset="-122"/>
                <a:cs typeface="Calibri" pitchFamily="34" charset="-120"/>
              </a:rPr>
              <a:t>Key Benefits
</a:t>
            </a:r>
            <a:endParaRPr lang="en-US" sz="1500" dirty="0"/>
          </a:p>
          <a:p>
            <a:pPr indent="0" marL="0">
              <a:lnSpc>
                <a:spcPct val="125000"/>
              </a:lnSpc>
              <a:buNone/>
            </a:pPr>
            <a:r>
              <a:rPr lang="en-US" sz="1350" dirty="0">
                <a:solidFill>
                  <a:srgbClr val="262626"/>
                </a:solidFill>
                <a:latin typeface="Calibri" pitchFamily="34" charset="0"/>
                <a:ea typeface="Calibri" pitchFamily="34" charset="-122"/>
                <a:cs typeface="Calibri" pitchFamily="34" charset="-120"/>
              </a:rPr>
              <a:t>The system delivers AI suggestions, a code quality score, and a review summary — reducing manual effort while improving consistency.</a:t>
            </a:r>
            <a:endParaRPr lang="en-US" sz="1500" dirty="0"/>
          </a:p>
        </p:txBody>
      </p:sp>
      <p:sp>
        <p:nvSpPr>
          <p:cNvPr id="9" name="Shape 5"/>
          <p:cNvSpPr/>
          <p:nvPr/>
        </p:nvSpPr>
        <p:spPr>
          <a:xfrm>
            <a:off x="7040880" y="1554480"/>
            <a:ext cx="347472" cy="347472"/>
          </a:xfrm>
          <a:prstGeom prst="ellipse">
            <a:avLst/>
          </a:prstGeom>
          <a:solidFill>
            <a:srgbClr val="C00000"/>
          </a:solidFill>
          <a:ln/>
        </p:spPr>
      </p:sp>
      <p:sp>
        <p:nvSpPr>
          <p:cNvPr id="10" name="Text 6"/>
          <p:cNvSpPr/>
          <p:nvPr/>
        </p:nvSpPr>
        <p:spPr>
          <a:xfrm>
            <a:off x="7040880" y="15544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p:nvPr/>
        </p:nvSpPr>
        <p:spPr>
          <a:xfrm>
            <a:off x="7543800" y="149961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Faster Reviews</a:t>
            </a:r>
            <a:endParaRPr lang="en-US" sz="1350" dirty="0"/>
          </a:p>
        </p:txBody>
      </p:sp>
      <p:sp>
        <p:nvSpPr>
          <p:cNvPr id="12" name="Text 8"/>
          <p:cNvSpPr/>
          <p:nvPr/>
        </p:nvSpPr>
        <p:spPr>
          <a:xfrm>
            <a:off x="7543800" y="177393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AI analyzes code in seconds instead of hours of manual effort</a:t>
            </a:r>
            <a:endParaRPr lang="en-US" sz="1100" dirty="0"/>
          </a:p>
        </p:txBody>
      </p:sp>
      <p:sp>
        <p:nvSpPr>
          <p:cNvPr id="13" name="Shape 9"/>
          <p:cNvSpPr/>
          <p:nvPr/>
        </p:nvSpPr>
        <p:spPr>
          <a:xfrm>
            <a:off x="7040880" y="2514600"/>
            <a:ext cx="347472" cy="347472"/>
          </a:xfrm>
          <a:prstGeom prst="ellipse">
            <a:avLst/>
          </a:prstGeom>
          <a:solidFill>
            <a:srgbClr val="C00000"/>
          </a:solidFill>
          <a:ln/>
        </p:spPr>
      </p:sp>
      <p:sp>
        <p:nvSpPr>
          <p:cNvPr id="14" name="Text 10"/>
          <p:cNvSpPr/>
          <p:nvPr/>
        </p:nvSpPr>
        <p:spPr>
          <a:xfrm>
            <a:off x="7040880" y="2514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1"/>
          <p:cNvSpPr/>
          <p:nvPr/>
        </p:nvSpPr>
        <p:spPr>
          <a:xfrm>
            <a:off x="7543800" y="245973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Consistent Analysis</a:t>
            </a:r>
            <a:endParaRPr lang="en-US" sz="1350" dirty="0"/>
          </a:p>
        </p:txBody>
      </p:sp>
      <p:sp>
        <p:nvSpPr>
          <p:cNvPr id="16" name="Text 12"/>
          <p:cNvSpPr/>
          <p:nvPr/>
        </p:nvSpPr>
        <p:spPr>
          <a:xfrm>
            <a:off x="7543800" y="273405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Every submission is reviewed against the same standards</a:t>
            </a:r>
            <a:endParaRPr lang="en-US" sz="1100" dirty="0"/>
          </a:p>
        </p:txBody>
      </p:sp>
      <p:sp>
        <p:nvSpPr>
          <p:cNvPr id="17" name="Shape 13"/>
          <p:cNvSpPr/>
          <p:nvPr/>
        </p:nvSpPr>
        <p:spPr>
          <a:xfrm>
            <a:off x="7040880" y="3474720"/>
            <a:ext cx="347472" cy="347472"/>
          </a:xfrm>
          <a:prstGeom prst="ellipse">
            <a:avLst/>
          </a:prstGeom>
          <a:solidFill>
            <a:srgbClr val="C00000"/>
          </a:solidFill>
          <a:ln/>
        </p:spPr>
      </p:sp>
      <p:sp>
        <p:nvSpPr>
          <p:cNvPr id="18" name="Text 14"/>
          <p:cNvSpPr/>
          <p:nvPr/>
        </p:nvSpPr>
        <p:spPr>
          <a:xfrm>
            <a:off x="7040880" y="34747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5"/>
          <p:cNvSpPr/>
          <p:nvPr/>
        </p:nvSpPr>
        <p:spPr>
          <a:xfrm>
            <a:off x="7543800" y="341985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GitHub Integration</a:t>
            </a:r>
            <a:endParaRPr lang="en-US" sz="1350" dirty="0"/>
          </a:p>
        </p:txBody>
      </p:sp>
      <p:sp>
        <p:nvSpPr>
          <p:cNvPr id="20" name="Text 16"/>
          <p:cNvSpPr/>
          <p:nvPr/>
        </p:nvSpPr>
        <p:spPr>
          <a:xfrm>
            <a:off x="7543800" y="369417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Connects directly to repositories for seamless code retrieval</a:t>
            </a:r>
            <a:endParaRPr lang="en-US" sz="1100" dirty="0"/>
          </a:p>
        </p:txBody>
      </p:sp>
      <p:sp>
        <p:nvSpPr>
          <p:cNvPr id="21" name="Shape 17"/>
          <p:cNvSpPr/>
          <p:nvPr/>
        </p:nvSpPr>
        <p:spPr>
          <a:xfrm>
            <a:off x="7040880" y="4434840"/>
            <a:ext cx="347472" cy="347472"/>
          </a:xfrm>
          <a:prstGeom prst="ellipse">
            <a:avLst/>
          </a:prstGeom>
          <a:solidFill>
            <a:srgbClr val="C00000"/>
          </a:solidFill>
          <a:ln/>
        </p:spPr>
      </p:sp>
      <p:sp>
        <p:nvSpPr>
          <p:cNvPr id="22" name="Text 18"/>
          <p:cNvSpPr/>
          <p:nvPr/>
        </p:nvSpPr>
        <p:spPr>
          <a:xfrm>
            <a:off x="7040880" y="44348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19"/>
          <p:cNvSpPr/>
          <p:nvPr/>
        </p:nvSpPr>
        <p:spPr>
          <a:xfrm>
            <a:off x="7543800" y="437997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Actionable Feedback</a:t>
            </a:r>
            <a:endParaRPr lang="en-US" sz="1350" dirty="0"/>
          </a:p>
        </p:txBody>
      </p:sp>
      <p:sp>
        <p:nvSpPr>
          <p:cNvPr id="24" name="Text 20"/>
          <p:cNvSpPr/>
          <p:nvPr/>
        </p:nvSpPr>
        <p:spPr>
          <a:xfrm>
            <a:off x="7543800" y="465429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Clear suggestions and a quality score developers can act on</a:t>
            </a:r>
            <a:endParaRPr lang="en-US" sz="1100" dirty="0"/>
          </a:p>
        </p:txBody>
      </p:sp>
      <p:sp>
        <p:nvSpPr>
          <p:cNvPr id="25" name="Text 21"/>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4760824" y="384048"/>
            <a:ext cx="2670048" cy="566928"/>
          </a:xfrm>
          <a:prstGeom prst="rect">
            <a:avLst/>
          </a:prstGeom>
          <a:solidFill>
            <a:srgbClr val="C00000"/>
          </a:solidFill>
          <a:ln/>
        </p:spPr>
      </p:sp>
      <p:sp>
        <p:nvSpPr>
          <p:cNvPr id="7" name="Text 3"/>
          <p:cNvSpPr/>
          <p:nvPr/>
        </p:nvSpPr>
        <p:spPr>
          <a:xfrm>
            <a:off x="4760824" y="384048"/>
            <a:ext cx="267004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Implementation</a:t>
            </a:r>
            <a:endParaRPr lang="en-US" sz="2400" dirty="0"/>
          </a:p>
        </p:txBody>
      </p:sp>
      <p:sp>
        <p:nvSpPr>
          <p:cNvPr id="8" name="Text 4"/>
          <p:cNvSpPr/>
          <p:nvPr/>
        </p:nvSpPr>
        <p:spPr>
          <a:xfrm>
            <a:off x="548640" y="1417320"/>
            <a:ext cx="6126480" cy="4114800"/>
          </a:xfrm>
          <a:prstGeom prst="rect">
            <a:avLst/>
          </a:prstGeom>
          <a:noFill/>
          <a:ln/>
        </p:spPr>
        <p:txBody>
          <a:bodyPr wrap="square" lIns="0" tIns="0" rIns="0" bIns="0" rtlCol="0" anchor="t"/>
          <a:lstStyle/>
          <a:p>
            <a:pPr indent="0" marL="0">
              <a:lnSpc>
                <a:spcPct val="125000"/>
              </a:lnSpc>
              <a:buNone/>
            </a:pPr>
            <a:r>
              <a:rPr lang="en-US" sz="1500" b="1" dirty="0">
                <a:solidFill>
                  <a:srgbClr val="C00000"/>
                </a:solidFill>
                <a:latin typeface="Calibri" pitchFamily="34" charset="0"/>
                <a:ea typeface="Calibri" pitchFamily="34" charset="-122"/>
                <a:cs typeface="Calibri" pitchFamily="34" charset="-120"/>
              </a:rPr>
              <a:t>Development Status
</a:t>
            </a:r>
            <a:endParaRPr lang="en-US" sz="1500" dirty="0"/>
          </a:p>
          <a:p>
            <a:pPr indent="0" marL="0">
              <a:lnSpc>
                <a:spcPct val="125000"/>
              </a:lnSpc>
              <a:buNone/>
            </a:pPr>
            <a:r>
              <a:rPr lang="en-US" sz="1350" dirty="0">
                <a:solidFill>
                  <a:srgbClr val="262626"/>
                </a:solidFill>
                <a:latin typeface="Calibri" pitchFamily="34" charset="0"/>
                <a:ea typeface="Calibri" pitchFamily="34" charset="-122"/>
                <a:cs typeface="Calibri" pitchFamily="34" charset="-120"/>
              </a:rPr>
              <a:t>The core modules — user authentication, code upload, GitHub integration, and AI-based code analysis — have been implemented and tested with sample repositories.
</a:t>
            </a:r>
            <a:endParaRPr lang="en-US" sz="1500" dirty="0"/>
          </a:p>
          <a:p>
            <a:pPr indent="0" marL="0">
              <a:lnSpc>
                <a:spcPct val="125000"/>
              </a:lnSpc>
              <a:buNone/>
            </a:pPr>
            <a:r>
              <a:rPr lang="en-US" sz="1500" b="1" dirty="0">
                <a:solidFill>
                  <a:srgbClr val="C00000"/>
                </a:solidFill>
                <a:latin typeface="Calibri" pitchFamily="34" charset="0"/>
                <a:ea typeface="Calibri" pitchFamily="34" charset="-122"/>
                <a:cs typeface="Calibri" pitchFamily="34" charset="-120"/>
              </a:rPr>
              <a:t>Version Control
</a:t>
            </a:r>
            <a:endParaRPr lang="en-US" sz="1500" dirty="0"/>
          </a:p>
          <a:p>
            <a:pPr indent="0" marL="0">
              <a:lnSpc>
                <a:spcPct val="125000"/>
              </a:lnSpc>
              <a:buNone/>
            </a:pPr>
            <a:r>
              <a:rPr lang="en-US" sz="1350" dirty="0">
                <a:solidFill>
                  <a:srgbClr val="262626"/>
                </a:solidFill>
                <a:latin typeface="Calibri" pitchFamily="34" charset="0"/>
                <a:ea typeface="Calibri" pitchFamily="34" charset="-122"/>
                <a:cs typeface="Calibri" pitchFamily="34" charset="-120"/>
              </a:rPr>
              <a:t>All source code is maintained on GitHub with regular commits tracking feature development, fixes, and progress.</a:t>
            </a:r>
            <a:endParaRPr lang="en-US" sz="1500" dirty="0"/>
          </a:p>
        </p:txBody>
      </p:sp>
      <p:sp>
        <p:nvSpPr>
          <p:cNvPr id="41" name="Shape 41"/>
          <p:cNvSpPr/>
          <p:nvPr/>
        </p:nvSpPr>
        <p:spPr>
          <a:xfrm>
            <a:off x="7040880" y="1417320"/>
            <a:ext cx="2115280" cy="1932500"/>
          </a:xfrm>
          <a:prstGeom prst="rect">
            <a:avLst/>
          </a:prstGeom>
          <a:solidFill>
            <a:srgbClr val="F2F2F2"/>
          </a:solidFill>
          <a:ln w="12700">
            <a:solidFill>
              <a:srgbClr val="BFBFBF"/>
            </a:solidFill>
            <a:prstDash val="dash"/>
          </a:ln>
        </p:spPr>
      </p:sp>
      <p:sp>
        <p:nvSpPr>
          <p:cNvPr id="42" name="Text 42"/>
          <p:cNvSpPr/>
          <p:nvPr/>
        </p:nvSpPr>
        <p:spPr>
          <a:xfrm>
            <a:off x="7040880" y="1417320"/>
            <a:ext cx="2115280" cy="1932500"/>
          </a:xfrm>
          <a:prstGeom prst="rect">
            <a:avLst/>
          </a:prstGeom>
          <a:noFill/>
          <a:ln/>
        </p:spPr>
        <p:txBody>
          <a:bodyPr wrap="square" lIns="0" tIns="0" rIns="0" bIns="0" rtlCol="0" anchor="ctr"/>
          <a:lstStyle/>
          <a:p>
            <a:pPr algn="ctr" indent="0" marL="0">
              <a:buNone/>
            </a:pPr>
            <a:r>
              <a:rPr lang="en-US" sz="1200" b="1" dirty="0">
                <a:solidFill>
                  <a:srgbClr val="999999"/>
                </a:solidFill>
                <a:latin typeface="Calibri" pitchFamily="34" charset="0"/>
              </a:rPr>
              <a:t>SCREENSHOT</a:t>
            </a:r>
          </a:p>
          <a:p>
            <a:pPr algn="ctr" indent="0" marL="0">
              <a:buNone/>
            </a:pPr>
            <a:r>
              <a:rPr lang="en-US" sz="1050" dirty="0">
                <a:solidFill>
                  <a:srgbClr val="555555"/>
                </a:solidFill>
                <a:latin typeface="Calibri" pitchFamily="34" charset="0"/>
              </a:rPr>
              <a:t>Login / Dashboard UI</a:t>
            </a:r>
          </a:p>
        </p:txBody>
      </p:sp>
      <p:sp>
        <p:nvSpPr>
          <p:cNvPr id="43" name="Shape 43"/>
          <p:cNvSpPr/>
          <p:nvPr/>
        </p:nvSpPr>
        <p:spPr>
          <a:xfrm>
            <a:off x="9406160" y="1417320"/>
            <a:ext cx="2115280" cy="1932500"/>
          </a:xfrm>
          <a:prstGeom prst="rect">
            <a:avLst/>
          </a:prstGeom>
          <a:solidFill>
            <a:srgbClr val="F2F2F2"/>
          </a:solidFill>
          <a:ln w="12700">
            <a:solidFill>
              <a:srgbClr val="BFBFBF"/>
            </a:solidFill>
            <a:prstDash val="dash"/>
          </a:ln>
        </p:spPr>
      </p:sp>
      <p:sp>
        <p:nvSpPr>
          <p:cNvPr id="44" name="Text 44"/>
          <p:cNvSpPr/>
          <p:nvPr/>
        </p:nvSpPr>
        <p:spPr>
          <a:xfrm>
            <a:off x="9406160" y="1417320"/>
            <a:ext cx="2115280" cy="1932500"/>
          </a:xfrm>
          <a:prstGeom prst="rect">
            <a:avLst/>
          </a:prstGeom>
          <a:noFill/>
          <a:ln/>
        </p:spPr>
        <p:txBody>
          <a:bodyPr wrap="square" lIns="0" tIns="0" rIns="0" bIns="0" rtlCol="0" anchor="ctr"/>
          <a:lstStyle/>
          <a:p>
            <a:pPr algn="ctr" indent="0" marL="0">
              <a:buNone/>
            </a:pPr>
            <a:r>
              <a:rPr lang="en-US" sz="1200" b="1" dirty="0">
                <a:solidFill>
                  <a:srgbClr val="999999"/>
                </a:solidFill>
                <a:latin typeface="Calibri" pitchFamily="34" charset="0"/>
              </a:rPr>
              <a:t>SCREENSHOT</a:t>
            </a:r>
          </a:p>
          <a:p>
            <a:pPr algn="ctr" indent="0" marL="0">
              <a:buNone/>
            </a:pPr>
            <a:r>
              <a:rPr lang="en-US" sz="1050" dirty="0">
                <a:solidFill>
                  <a:srgbClr val="555555"/>
                </a:solidFill>
                <a:latin typeface="Calibri" pitchFamily="34" charset="0"/>
              </a:rPr>
              <a:t>Code Upload Screen</a:t>
            </a:r>
          </a:p>
        </p:txBody>
      </p:sp>
      <p:sp>
        <p:nvSpPr>
          <p:cNvPr id="45" name="Shape 45"/>
          <p:cNvSpPr/>
          <p:nvPr/>
        </p:nvSpPr>
        <p:spPr>
          <a:xfrm>
            <a:off x="7040880" y="3599820"/>
            <a:ext cx="2115280" cy="1932500"/>
          </a:xfrm>
          <a:prstGeom prst="rect">
            <a:avLst/>
          </a:prstGeom>
          <a:solidFill>
            <a:srgbClr val="F2F2F2"/>
          </a:solidFill>
          <a:ln w="12700">
            <a:solidFill>
              <a:srgbClr val="BFBFBF"/>
            </a:solidFill>
            <a:prstDash val="dash"/>
          </a:ln>
        </p:spPr>
      </p:sp>
      <p:sp>
        <p:nvSpPr>
          <p:cNvPr id="46" name="Text 46"/>
          <p:cNvSpPr/>
          <p:nvPr/>
        </p:nvSpPr>
        <p:spPr>
          <a:xfrm>
            <a:off x="7040880" y="3599820"/>
            <a:ext cx="2115280" cy="1932500"/>
          </a:xfrm>
          <a:prstGeom prst="rect">
            <a:avLst/>
          </a:prstGeom>
          <a:noFill/>
          <a:ln/>
        </p:spPr>
        <p:txBody>
          <a:bodyPr wrap="square" lIns="0" tIns="0" rIns="0" bIns="0" rtlCol="0" anchor="ctr"/>
          <a:lstStyle/>
          <a:p>
            <a:pPr algn="ctr" indent="0" marL="0">
              <a:buNone/>
            </a:pPr>
            <a:r>
              <a:rPr lang="en-US" sz="1200" b="1" dirty="0">
                <a:solidFill>
                  <a:srgbClr val="999999"/>
                </a:solidFill>
                <a:latin typeface="Calibri" pitchFamily="34" charset="0"/>
              </a:rPr>
              <a:t>SCREENSHOT</a:t>
            </a:r>
          </a:p>
          <a:p>
            <a:pPr algn="ctr" indent="0" marL="0">
              <a:buNone/>
            </a:pPr>
            <a:r>
              <a:rPr lang="en-US" sz="1050" dirty="0">
                <a:solidFill>
                  <a:srgbClr val="555555"/>
                </a:solidFill>
                <a:latin typeface="Calibri" pitchFamily="34" charset="0"/>
              </a:rPr>
              <a:t>AI Analysis Results</a:t>
            </a:r>
          </a:p>
        </p:txBody>
      </p:sp>
      <p:sp>
        <p:nvSpPr>
          <p:cNvPr id="47" name="Shape 47"/>
          <p:cNvSpPr/>
          <p:nvPr/>
        </p:nvSpPr>
        <p:spPr>
          <a:xfrm>
            <a:off x="9406160" y="3599820"/>
            <a:ext cx="2115280" cy="1932500"/>
          </a:xfrm>
          <a:prstGeom prst="rect">
            <a:avLst/>
          </a:prstGeom>
          <a:solidFill>
            <a:srgbClr val="F2F2F2"/>
          </a:solidFill>
          <a:ln w="12700">
            <a:solidFill>
              <a:srgbClr val="BFBFBF"/>
            </a:solidFill>
            <a:prstDash val="dash"/>
          </a:ln>
        </p:spPr>
      </p:sp>
      <p:sp>
        <p:nvSpPr>
          <p:cNvPr id="48" name="Text 48"/>
          <p:cNvSpPr/>
          <p:nvPr/>
        </p:nvSpPr>
        <p:spPr>
          <a:xfrm>
            <a:off x="9406160" y="3599820"/>
            <a:ext cx="2115280" cy="1932500"/>
          </a:xfrm>
          <a:prstGeom prst="rect">
            <a:avLst/>
          </a:prstGeom>
          <a:noFill/>
          <a:ln/>
        </p:spPr>
        <p:txBody>
          <a:bodyPr wrap="square" lIns="0" tIns="0" rIns="0" bIns="0" rtlCol="0" anchor="ctr"/>
          <a:lstStyle/>
          <a:p>
            <a:pPr algn="ctr" indent="0" marL="0">
              <a:buNone/>
            </a:pPr>
            <a:r>
              <a:rPr lang="en-US" sz="1200" b="1" dirty="0">
                <a:solidFill>
                  <a:srgbClr val="999999"/>
                </a:solidFill>
                <a:latin typeface="Calibri" pitchFamily="34" charset="0"/>
              </a:rPr>
              <a:t>SCREENSHOT</a:t>
            </a:r>
          </a:p>
          <a:p>
            <a:pPr algn="ctr" indent="0" marL="0">
              <a:buNone/>
            </a:pPr>
            <a:r>
              <a:rPr lang="en-US" sz="1050" dirty="0">
                <a:solidFill>
                  <a:srgbClr val="555555"/>
                </a:solidFill>
                <a:latin typeface="Calibri" pitchFamily="34" charset="0"/>
              </a:rPr>
              <a:t>GitHub Integration View</a:t>
            </a:r>
          </a:p>
        </p:txBody>
      </p:sp>
      <p:sp>
        <p:nvSpPr>
          <p:cNvPr id="25" name="Text 21"/>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4312768" y="384048"/>
            <a:ext cx="3566160" cy="566928"/>
          </a:xfrm>
          <a:prstGeom prst="rect">
            <a:avLst/>
          </a:prstGeom>
          <a:solidFill>
            <a:srgbClr val="C00000"/>
          </a:solidFill>
          <a:ln/>
        </p:spPr>
      </p:sp>
      <p:sp>
        <p:nvSpPr>
          <p:cNvPr id="7" name="Text 3"/>
          <p:cNvSpPr/>
          <p:nvPr/>
        </p:nvSpPr>
        <p:spPr>
          <a:xfrm>
            <a:off x="4312768" y="384048"/>
            <a:ext cx="356616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Objectives</a:t>
            </a:r>
            <a:endParaRPr lang="en-US" sz="2400" dirty="0"/>
          </a:p>
        </p:txBody>
      </p:sp>
      <p:sp>
        <p:nvSpPr>
          <p:cNvPr id="8" name="Text 4"/>
          <p:cNvSpPr/>
          <p:nvPr/>
        </p:nvSpPr>
        <p:spPr>
          <a:xfrm>
            <a:off x="548640" y="1371600"/>
            <a:ext cx="11064240" cy="365760"/>
          </a:xfrm>
          <a:prstGeom prst="rect">
            <a:avLst/>
          </a:prstGeom>
          <a:noFill/>
          <a:ln/>
        </p:spPr>
        <p:txBody>
          <a:bodyPr wrap="square" lIns="0" tIns="0" rIns="0" bIns="0" rtlCol="0" anchor="ctr"/>
          <a:lstStyle/>
          <a:p>
            <a:pPr indent="0" marL="0">
              <a:buNone/>
            </a:pPr>
            <a:r>
              <a:rPr lang="en-US" sz="1250" dirty="0">
                <a:solidFill>
                  <a:srgbClr val="555555"/>
                </a:solidFill>
                <a:latin typeface="Calibri" pitchFamily="34" charset="0"/>
                <a:ea typeface="Calibri" pitchFamily="34" charset="-122"/>
                <a:cs typeface="Calibri" pitchFamily="34" charset="-120"/>
              </a:rPr>
              <a:t>CodeInsight AI is guided by six core objectives that shape its design, from secure access to actionable AI-driven feedback.</a:t>
            </a:r>
            <a:endParaRPr lang="en-US" sz="1250" dirty="0"/>
          </a:p>
        </p:txBody>
      </p:sp>
      <p:sp>
        <p:nvSpPr>
          <p:cNvPr id="9" name="Shape 5"/>
          <p:cNvSpPr/>
          <p:nvPr/>
        </p:nvSpPr>
        <p:spPr>
          <a:xfrm>
            <a:off x="548640" y="1920240"/>
            <a:ext cx="3566160" cy="1371600"/>
          </a:xfrm>
          <a:prstGeom prst="rect">
            <a:avLst/>
          </a:prstGeom>
          <a:solidFill>
            <a:srgbClr val="FFFFFF"/>
          </a:solidFill>
          <a:ln w="12700">
            <a:solidFill>
              <a:srgbClr val="D9D9D9"/>
            </a:solidFill>
            <a:prstDash val="solid"/>
          </a:ln>
        </p:spPr>
      </p:sp>
      <p:sp>
        <p:nvSpPr>
          <p:cNvPr id="10" name="Shape 6"/>
          <p:cNvSpPr/>
          <p:nvPr/>
        </p:nvSpPr>
        <p:spPr>
          <a:xfrm>
            <a:off x="749808" y="2121408"/>
            <a:ext cx="329184" cy="329184"/>
          </a:xfrm>
          <a:prstGeom prst="ellipse">
            <a:avLst/>
          </a:prstGeom>
          <a:solidFill>
            <a:srgbClr val="C00000"/>
          </a:solidFill>
          <a:ln/>
        </p:spPr>
      </p:sp>
      <p:sp>
        <p:nvSpPr>
          <p:cNvPr id="11" name="Text 7"/>
          <p:cNvSpPr/>
          <p:nvPr/>
        </p:nvSpPr>
        <p:spPr>
          <a:xfrm>
            <a:off x="749808" y="2121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8"/>
          <p:cNvSpPr/>
          <p:nvPr/>
        </p:nvSpPr>
        <p:spPr>
          <a:xfrm>
            <a:off x="1207008" y="2066544"/>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Automate Code Review</a:t>
            </a:r>
            <a:endParaRPr lang="en-US" sz="1250" dirty="0"/>
          </a:p>
        </p:txBody>
      </p:sp>
      <p:sp>
        <p:nvSpPr>
          <p:cNvPr id="13" name="Text 9"/>
          <p:cNvSpPr/>
          <p:nvPr/>
        </p:nvSpPr>
        <p:spPr>
          <a:xfrm>
            <a:off x="749808" y="2542032"/>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Reduce manual effort by automating repetitive review tasks.</a:t>
            </a:r>
            <a:endParaRPr lang="en-US" sz="1050" dirty="0"/>
          </a:p>
        </p:txBody>
      </p:sp>
      <p:sp>
        <p:nvSpPr>
          <p:cNvPr id="14" name="Shape 10"/>
          <p:cNvSpPr/>
          <p:nvPr/>
        </p:nvSpPr>
        <p:spPr>
          <a:xfrm>
            <a:off x="4297680" y="1920240"/>
            <a:ext cx="3566160" cy="1371600"/>
          </a:xfrm>
          <a:prstGeom prst="rect">
            <a:avLst/>
          </a:prstGeom>
          <a:solidFill>
            <a:srgbClr val="FFFFFF"/>
          </a:solidFill>
          <a:ln w="12700">
            <a:solidFill>
              <a:srgbClr val="D9D9D9"/>
            </a:solidFill>
            <a:prstDash val="solid"/>
          </a:ln>
        </p:spPr>
      </p:sp>
      <p:sp>
        <p:nvSpPr>
          <p:cNvPr id="15" name="Shape 11"/>
          <p:cNvSpPr/>
          <p:nvPr/>
        </p:nvSpPr>
        <p:spPr>
          <a:xfrm>
            <a:off x="4498848" y="2121408"/>
            <a:ext cx="329184" cy="329184"/>
          </a:xfrm>
          <a:prstGeom prst="ellipse">
            <a:avLst/>
          </a:prstGeom>
          <a:solidFill>
            <a:srgbClr val="C00000"/>
          </a:solidFill>
          <a:ln/>
        </p:spPr>
      </p:sp>
      <p:sp>
        <p:nvSpPr>
          <p:cNvPr id="16" name="Text 12"/>
          <p:cNvSpPr/>
          <p:nvPr/>
        </p:nvSpPr>
        <p:spPr>
          <a:xfrm>
            <a:off x="4498848" y="2121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p:nvPr/>
        </p:nvSpPr>
        <p:spPr>
          <a:xfrm>
            <a:off x="4956048" y="2066544"/>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Enable GitHub Integration</a:t>
            </a:r>
            <a:endParaRPr lang="en-US" sz="1250" dirty="0"/>
          </a:p>
        </p:txBody>
      </p:sp>
      <p:sp>
        <p:nvSpPr>
          <p:cNvPr id="18" name="Text 14"/>
          <p:cNvSpPr/>
          <p:nvPr/>
        </p:nvSpPr>
        <p:spPr>
          <a:xfrm>
            <a:off x="4498848" y="2542032"/>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Let developers review code directly from their GitHub repositories.</a:t>
            </a:r>
            <a:endParaRPr lang="en-US" sz="1050" dirty="0"/>
          </a:p>
        </p:txBody>
      </p:sp>
      <p:sp>
        <p:nvSpPr>
          <p:cNvPr id="19" name="Shape 15"/>
          <p:cNvSpPr/>
          <p:nvPr/>
        </p:nvSpPr>
        <p:spPr>
          <a:xfrm>
            <a:off x="8046720" y="1920240"/>
            <a:ext cx="3566160" cy="1371600"/>
          </a:xfrm>
          <a:prstGeom prst="rect">
            <a:avLst/>
          </a:prstGeom>
          <a:solidFill>
            <a:srgbClr val="FFFFFF"/>
          </a:solidFill>
          <a:ln w="12700">
            <a:solidFill>
              <a:srgbClr val="D9D9D9"/>
            </a:solidFill>
            <a:prstDash val="solid"/>
          </a:ln>
        </p:spPr>
      </p:sp>
      <p:sp>
        <p:nvSpPr>
          <p:cNvPr id="20" name="Shape 16"/>
          <p:cNvSpPr/>
          <p:nvPr/>
        </p:nvSpPr>
        <p:spPr>
          <a:xfrm>
            <a:off x="8247888" y="2121408"/>
            <a:ext cx="329184" cy="329184"/>
          </a:xfrm>
          <a:prstGeom prst="ellipse">
            <a:avLst/>
          </a:prstGeom>
          <a:solidFill>
            <a:srgbClr val="C00000"/>
          </a:solidFill>
          <a:ln/>
        </p:spPr>
      </p:sp>
      <p:sp>
        <p:nvSpPr>
          <p:cNvPr id="21" name="Text 17"/>
          <p:cNvSpPr/>
          <p:nvPr/>
        </p:nvSpPr>
        <p:spPr>
          <a:xfrm>
            <a:off x="8247888" y="2121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8"/>
          <p:cNvSpPr/>
          <p:nvPr/>
        </p:nvSpPr>
        <p:spPr>
          <a:xfrm>
            <a:off x="8705088" y="2066544"/>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Apply AI-Powered Analysis</a:t>
            </a:r>
            <a:endParaRPr lang="en-US" sz="1250" dirty="0"/>
          </a:p>
        </p:txBody>
      </p:sp>
      <p:sp>
        <p:nvSpPr>
          <p:cNvPr id="23" name="Text 19"/>
          <p:cNvSpPr/>
          <p:nvPr/>
        </p:nvSpPr>
        <p:spPr>
          <a:xfrm>
            <a:off x="8247888" y="2542032"/>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Use the Gemini AI API to understand and evaluate submitted code.</a:t>
            </a:r>
            <a:endParaRPr lang="en-US" sz="1050" dirty="0"/>
          </a:p>
        </p:txBody>
      </p:sp>
      <p:sp>
        <p:nvSpPr>
          <p:cNvPr id="24" name="Shape 20"/>
          <p:cNvSpPr/>
          <p:nvPr/>
        </p:nvSpPr>
        <p:spPr>
          <a:xfrm>
            <a:off x="548640" y="3456432"/>
            <a:ext cx="3566160" cy="1371600"/>
          </a:xfrm>
          <a:prstGeom prst="rect">
            <a:avLst/>
          </a:prstGeom>
          <a:solidFill>
            <a:srgbClr val="FFFFFF"/>
          </a:solidFill>
          <a:ln w="12700">
            <a:solidFill>
              <a:srgbClr val="D9D9D9"/>
            </a:solidFill>
            <a:prstDash val="solid"/>
          </a:ln>
        </p:spPr>
      </p:sp>
      <p:sp>
        <p:nvSpPr>
          <p:cNvPr id="25" name="Shape 21"/>
          <p:cNvSpPr/>
          <p:nvPr/>
        </p:nvSpPr>
        <p:spPr>
          <a:xfrm>
            <a:off x="749808" y="3657600"/>
            <a:ext cx="329184" cy="329184"/>
          </a:xfrm>
          <a:prstGeom prst="ellipse">
            <a:avLst/>
          </a:prstGeom>
          <a:solidFill>
            <a:srgbClr val="C00000"/>
          </a:solidFill>
          <a:ln/>
        </p:spPr>
      </p:sp>
      <p:sp>
        <p:nvSpPr>
          <p:cNvPr id="26" name="Text 22"/>
          <p:cNvSpPr/>
          <p:nvPr/>
        </p:nvSpPr>
        <p:spPr>
          <a:xfrm>
            <a:off x="74980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3"/>
          <p:cNvSpPr/>
          <p:nvPr/>
        </p:nvSpPr>
        <p:spPr>
          <a:xfrm>
            <a:off x="1207008" y="3602736"/>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Detect Bugs Early</a:t>
            </a:r>
            <a:endParaRPr lang="en-US" sz="1250" dirty="0"/>
          </a:p>
        </p:txBody>
      </p:sp>
      <p:sp>
        <p:nvSpPr>
          <p:cNvPr id="28" name="Text 24"/>
          <p:cNvSpPr/>
          <p:nvPr/>
        </p:nvSpPr>
        <p:spPr>
          <a:xfrm>
            <a:off x="749808" y="4078224"/>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Identify potential bugs and quality issues before deployment.</a:t>
            </a:r>
            <a:endParaRPr lang="en-US" sz="1050" dirty="0"/>
          </a:p>
        </p:txBody>
      </p:sp>
      <p:sp>
        <p:nvSpPr>
          <p:cNvPr id="29" name="Shape 25"/>
          <p:cNvSpPr/>
          <p:nvPr/>
        </p:nvSpPr>
        <p:spPr>
          <a:xfrm>
            <a:off x="4297680" y="3456432"/>
            <a:ext cx="3566160" cy="1371600"/>
          </a:xfrm>
          <a:prstGeom prst="rect">
            <a:avLst/>
          </a:prstGeom>
          <a:solidFill>
            <a:srgbClr val="FFFFFF"/>
          </a:solidFill>
          <a:ln w="12700">
            <a:solidFill>
              <a:srgbClr val="D9D9D9"/>
            </a:solidFill>
            <a:prstDash val="solid"/>
          </a:ln>
        </p:spPr>
      </p:sp>
      <p:sp>
        <p:nvSpPr>
          <p:cNvPr id="30" name="Shape 26"/>
          <p:cNvSpPr/>
          <p:nvPr/>
        </p:nvSpPr>
        <p:spPr>
          <a:xfrm>
            <a:off x="4498848" y="3657600"/>
            <a:ext cx="329184" cy="329184"/>
          </a:xfrm>
          <a:prstGeom prst="ellipse">
            <a:avLst/>
          </a:prstGeom>
          <a:solidFill>
            <a:srgbClr val="C00000"/>
          </a:solidFill>
          <a:ln/>
        </p:spPr>
      </p:sp>
      <p:sp>
        <p:nvSpPr>
          <p:cNvPr id="31" name="Text 27"/>
          <p:cNvSpPr/>
          <p:nvPr/>
        </p:nvSpPr>
        <p:spPr>
          <a:xfrm>
            <a:off x="449884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28"/>
          <p:cNvSpPr/>
          <p:nvPr/>
        </p:nvSpPr>
        <p:spPr>
          <a:xfrm>
            <a:off x="4956048" y="3602736"/>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Generate Actionable Suggestions</a:t>
            </a:r>
            <a:endParaRPr lang="en-US" sz="1250" dirty="0"/>
          </a:p>
        </p:txBody>
      </p:sp>
      <p:sp>
        <p:nvSpPr>
          <p:cNvPr id="33" name="Text 29"/>
          <p:cNvSpPr/>
          <p:nvPr/>
        </p:nvSpPr>
        <p:spPr>
          <a:xfrm>
            <a:off x="4498848" y="4078224"/>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Provide clear, practical suggestions developers can act on.</a:t>
            </a:r>
            <a:endParaRPr lang="en-US" sz="1050" dirty="0"/>
          </a:p>
        </p:txBody>
      </p:sp>
      <p:sp>
        <p:nvSpPr>
          <p:cNvPr id="34" name="Shape 30"/>
          <p:cNvSpPr/>
          <p:nvPr/>
        </p:nvSpPr>
        <p:spPr>
          <a:xfrm>
            <a:off x="8046720" y="3456432"/>
            <a:ext cx="3566160" cy="1371600"/>
          </a:xfrm>
          <a:prstGeom prst="rect">
            <a:avLst/>
          </a:prstGeom>
          <a:solidFill>
            <a:srgbClr val="FFFFFF"/>
          </a:solidFill>
          <a:ln w="12700">
            <a:solidFill>
              <a:srgbClr val="D9D9D9"/>
            </a:solidFill>
            <a:prstDash val="solid"/>
          </a:ln>
        </p:spPr>
      </p:sp>
      <p:sp>
        <p:nvSpPr>
          <p:cNvPr id="35" name="Shape 31"/>
          <p:cNvSpPr/>
          <p:nvPr/>
        </p:nvSpPr>
        <p:spPr>
          <a:xfrm>
            <a:off x="8247888" y="3657600"/>
            <a:ext cx="329184" cy="329184"/>
          </a:xfrm>
          <a:prstGeom prst="ellipse">
            <a:avLst/>
          </a:prstGeom>
          <a:solidFill>
            <a:srgbClr val="C00000"/>
          </a:solidFill>
          <a:ln/>
        </p:spPr>
      </p:sp>
      <p:sp>
        <p:nvSpPr>
          <p:cNvPr id="36" name="Text 32"/>
          <p:cNvSpPr/>
          <p:nvPr/>
        </p:nvSpPr>
        <p:spPr>
          <a:xfrm>
            <a:off x="824788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3"/>
          <p:cNvSpPr/>
          <p:nvPr/>
        </p:nvSpPr>
        <p:spPr>
          <a:xfrm>
            <a:off x="8705088" y="3602736"/>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Build a Review Dashboard</a:t>
            </a:r>
            <a:endParaRPr lang="en-US" sz="1250" dirty="0"/>
          </a:p>
        </p:txBody>
      </p:sp>
      <p:sp>
        <p:nvSpPr>
          <p:cNvPr id="38" name="Text 34"/>
          <p:cNvSpPr/>
          <p:nvPr/>
        </p:nvSpPr>
        <p:spPr>
          <a:xfrm>
            <a:off x="8247888" y="4078224"/>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Give users a clear view of code quality scores and review history.</a:t>
            </a:r>
            <a:endParaRPr lang="en-US" sz="1050" dirty="0"/>
          </a:p>
        </p:txBody>
      </p:sp>
      <p:sp>
        <p:nvSpPr>
          <p:cNvPr id="39" name="Text 35"/>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3764128" y="384048"/>
            <a:ext cx="4663440" cy="566928"/>
          </a:xfrm>
          <a:prstGeom prst="rect">
            <a:avLst/>
          </a:prstGeom>
          <a:solidFill>
            <a:srgbClr val="C00000"/>
          </a:solidFill>
          <a:ln/>
        </p:spPr>
      </p:sp>
      <p:sp>
        <p:nvSpPr>
          <p:cNvPr id="7" name="Text 3"/>
          <p:cNvSpPr/>
          <p:nvPr/>
        </p:nvSpPr>
        <p:spPr>
          <a:xfrm>
            <a:off x="3764128" y="384048"/>
            <a:ext cx="466344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Technology Used</a:t>
            </a:r>
            <a:endParaRPr lang="en-US" sz="2400" dirty="0"/>
          </a:p>
        </p:txBody>
      </p:sp>
      <p:sp>
        <p:nvSpPr>
          <p:cNvPr id="8" name="Text 4"/>
          <p:cNvSpPr/>
          <p:nvPr/>
        </p:nvSpPr>
        <p:spPr>
          <a:xfrm>
            <a:off x="548640" y="1371600"/>
            <a:ext cx="11064240" cy="777240"/>
          </a:xfrm>
          <a:prstGeom prst="rect">
            <a:avLst/>
          </a:prstGeom>
          <a:noFill/>
          <a:ln/>
        </p:spPr>
        <p:txBody>
          <a:bodyPr wrap="square" lIns="0" tIns="0" rIns="0" bIns="0" rtlCol="0" anchor="t"/>
          <a:lstStyle/>
          <a:p>
            <a:pPr indent="0" marL="0">
              <a:lnSpc>
                <a:spcPct val="120000"/>
              </a:lnSpc>
              <a:buNone/>
            </a:pPr>
            <a:r>
              <a:rPr lang="en-US" sz="1250" dirty="0">
                <a:solidFill>
                  <a:srgbClr val="262626"/>
                </a:solidFill>
                <a:latin typeface="Calibri" pitchFamily="34" charset="0"/>
                <a:ea typeface="Calibri" pitchFamily="34" charset="-122"/>
                <a:cs typeface="Calibri" pitchFamily="34" charset="-120"/>
              </a:rPr>
              <a:t>CodeInsight AI is built with a modern, widely-adopted technology stack spanning the frontend, backend, AI, and database layers to deliver a reliable end-to-end system.</a:t>
            </a:r>
            <a:endParaRPr lang="en-US" sz="1250" dirty="0"/>
          </a:p>
        </p:txBody>
      </p:sp>
      <p:sp>
        <p:nvSpPr>
          <p:cNvPr id="30" name="Text 26"/>
          <p:cNvSpPr/>
          <p:nvPr/>
        </p:nvSpPr>
        <p:spPr>
          <a:xfrm>
            <a:off x="548640" y="1980000"/>
            <a:ext cx="5394960" cy="32004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Technology Stack</a:t>
            </a:r>
            <a:endParaRPr lang="en-US" sz="1400" dirty="0"/>
          </a:p>
        </p:txBody>
      </p:sp>
      <p:sp>
        <p:nvSpPr>
          <p:cNvPr id="41" name="Shape 41"/>
          <p:cNvSpPr/>
          <p:nvPr/>
        </p:nvSpPr>
        <p:spPr>
          <a:xfrm>
            <a:off x="670000" y="2565000"/>
            <a:ext cx="250000" cy="250000"/>
          </a:xfrm>
          <a:prstGeom prst="ellipse">
            <a:avLst/>
          </a:prstGeom>
          <a:solidFill>
            <a:srgbClr val="C00000"/>
          </a:solidFill>
          <a:ln/>
        </p:spPr>
      </p:sp>
      <p:sp>
        <p:nvSpPr>
          <p:cNvPr id="42" name="Shape 42"/>
          <p:cNvSpPr/>
          <p:nvPr/>
        </p:nvSpPr>
        <p:spPr>
          <a:xfrm>
            <a:off x="670000" y="3465000"/>
            <a:ext cx="250000" cy="250000"/>
          </a:xfrm>
          <a:prstGeom prst="ellipse">
            <a:avLst/>
          </a:prstGeom>
          <a:solidFill>
            <a:srgbClr val="C00000"/>
          </a:solidFill>
          <a:ln/>
        </p:spPr>
      </p:sp>
      <p:sp>
        <p:nvSpPr>
          <p:cNvPr id="43" name="Shape 43"/>
          <p:cNvSpPr/>
          <p:nvPr/>
        </p:nvSpPr>
        <p:spPr>
          <a:xfrm>
            <a:off x="670000" y="4365000"/>
            <a:ext cx="250000" cy="250000"/>
          </a:xfrm>
          <a:prstGeom prst="ellipse">
            <a:avLst/>
          </a:prstGeom>
          <a:solidFill>
            <a:srgbClr val="C00000"/>
          </a:solidFill>
          <a:ln/>
        </p:spPr>
      </p:sp>
      <p:sp>
        <p:nvSpPr>
          <p:cNvPr id="44" name="Shape 44"/>
          <p:cNvSpPr/>
          <p:nvPr/>
        </p:nvSpPr>
        <p:spPr>
          <a:xfrm>
            <a:off x="4780000" y="2565000"/>
            <a:ext cx="250000" cy="250000"/>
          </a:xfrm>
          <a:prstGeom prst="ellipse">
            <a:avLst/>
          </a:prstGeom>
          <a:solidFill>
            <a:srgbClr val="C00000"/>
          </a:solidFill>
          <a:ln/>
        </p:spPr>
      </p:sp>
      <p:sp>
        <p:nvSpPr>
          <p:cNvPr id="45" name="Shape 45"/>
          <p:cNvSpPr/>
          <p:nvPr/>
        </p:nvSpPr>
        <p:spPr>
          <a:xfrm>
            <a:off x="4780000" y="3465000"/>
            <a:ext cx="250000" cy="250000"/>
          </a:xfrm>
          <a:prstGeom prst="ellipse">
            <a:avLst/>
          </a:prstGeom>
          <a:solidFill>
            <a:srgbClr val="C00000"/>
          </a:solidFill>
          <a:ln/>
        </p:spPr>
      </p:sp>
      <p:sp>
        <p:nvSpPr>
          <p:cNvPr id="46" name="Shape 46"/>
          <p:cNvSpPr/>
          <p:nvPr/>
        </p:nvSpPr>
        <p:spPr>
          <a:xfrm>
            <a:off x="4780000" y="4365000"/>
            <a:ext cx="250000" cy="250000"/>
          </a:xfrm>
          <a:prstGeom prst="ellipse">
            <a:avLst/>
          </a:prstGeom>
          <a:solidFill>
            <a:srgbClr val="C00000"/>
          </a:solidFill>
          <a:ln/>
        </p:spPr>
      </p:sp>
      <p:sp>
        <p:nvSpPr>
          <p:cNvPr id="31" name="Text 27"/>
          <p:cNvSpPr/>
          <p:nvPr/>
        </p:nvSpPr>
        <p:spPr>
          <a:xfrm>
            <a:off x="990000" y="2450000"/>
            <a:ext cx="3800000" cy="480000"/>
          </a:xfrm>
          <a:prstGeom prst="rect">
            <a:avLst/>
          </a:prstGeom>
          <a:noFill/>
          <a:ln/>
        </p:spPr>
        <p:txBody>
          <a:bodyPr wrap="square" lIns="0" tIns="0" rIns="0" bIns="0" rtlCol="0" anchor="ctr"/>
          <a:lstStyle/>
          <a:p>
            <a:pPr indent="0" marL="0">
              <a:buNone/>
            </a:pPr>
            <a:r>
              <a:rPr lang="en-US" sz="1600" b="1" dirty="0">
                <a:solidFill>
                  <a:srgbClr val="C00000"/>
                </a:solidFill>
                <a:latin typeface="Calibri" pitchFamily="34" charset="0"/>
                <a:ea typeface="Calibri" pitchFamily="34" charset="-122"/>
                <a:cs typeface="Calibri" pitchFamily="34" charset="-120"/>
              </a:rPr>
              <a:t>Frontend:  </a:t>
            </a:r>
            <a:pPr indent="0" marL="0">
              <a:buNone/>
            </a:pPr>
            <a:r>
              <a:rPr lang="en-US" sz="1600" dirty="0">
                <a:solidFill>
                  <a:srgbClr val="262626"/>
                </a:solidFill>
                <a:latin typeface="Calibri" pitchFamily="34" charset="0"/>
                <a:ea typeface="Calibri" pitchFamily="34" charset="-122"/>
                <a:cs typeface="Calibri" pitchFamily="34" charset="-120"/>
              </a:rPr>
              <a:t>React.js</a:t>
            </a:r>
            <a:endParaRPr lang="en-US" sz="1600" dirty="0"/>
          </a:p>
        </p:txBody>
      </p:sp>
      <p:sp>
        <p:nvSpPr>
          <p:cNvPr id="32" name="Text 28"/>
          <p:cNvSpPr/>
          <p:nvPr/>
        </p:nvSpPr>
        <p:spPr>
          <a:xfrm>
            <a:off x="990000" y="3350000"/>
            <a:ext cx="3800000" cy="480000"/>
          </a:xfrm>
          <a:prstGeom prst="rect">
            <a:avLst/>
          </a:prstGeom>
          <a:noFill/>
          <a:ln/>
        </p:spPr>
        <p:txBody>
          <a:bodyPr wrap="square" lIns="0" tIns="0" rIns="0" bIns="0" rtlCol="0" anchor="ctr"/>
          <a:lstStyle/>
          <a:p>
            <a:pPr indent="0" marL="0">
              <a:buNone/>
            </a:pPr>
            <a:r>
              <a:rPr lang="en-US" sz="1600" b="1" dirty="0">
                <a:solidFill>
                  <a:srgbClr val="C00000"/>
                </a:solidFill>
                <a:latin typeface="Calibri" pitchFamily="34" charset="0"/>
                <a:ea typeface="Calibri" pitchFamily="34" charset="-122"/>
                <a:cs typeface="Calibri" pitchFamily="34" charset="-120"/>
              </a:rPr>
              <a:t>Backend:  </a:t>
            </a:r>
            <a:pPr indent="0" marL="0">
              <a:buNone/>
            </a:pPr>
            <a:r>
              <a:rPr lang="en-US" sz="1600" dirty="0">
                <a:solidFill>
                  <a:srgbClr val="262626"/>
                </a:solidFill>
                <a:latin typeface="Calibri" pitchFamily="34" charset="0"/>
                <a:ea typeface="Calibri" pitchFamily="34" charset="-122"/>
                <a:cs typeface="Calibri" pitchFamily="34" charset="-120"/>
              </a:rPr>
              <a:t>FastAPI + Python</a:t>
            </a:r>
            <a:endParaRPr lang="en-US" sz="1600" dirty="0"/>
          </a:p>
        </p:txBody>
      </p:sp>
      <p:sp>
        <p:nvSpPr>
          <p:cNvPr id="33" name="Text 29"/>
          <p:cNvSpPr/>
          <p:nvPr/>
        </p:nvSpPr>
        <p:spPr>
          <a:xfrm>
            <a:off x="990000" y="4250000"/>
            <a:ext cx="3800000" cy="480000"/>
          </a:xfrm>
          <a:prstGeom prst="rect">
            <a:avLst/>
          </a:prstGeom>
          <a:noFill/>
          <a:ln/>
        </p:spPr>
        <p:txBody>
          <a:bodyPr wrap="square" lIns="0" tIns="0" rIns="0" bIns="0" rtlCol="0" anchor="ctr"/>
          <a:lstStyle/>
          <a:p>
            <a:pPr indent="0" marL="0">
              <a:buNone/>
            </a:pPr>
            <a:r>
              <a:rPr lang="en-US" sz="1600" b="1" dirty="0">
                <a:solidFill>
                  <a:srgbClr val="C00000"/>
                </a:solidFill>
                <a:latin typeface="Calibri" pitchFamily="34" charset="0"/>
                <a:ea typeface="Calibri" pitchFamily="34" charset="-122"/>
                <a:cs typeface="Calibri" pitchFamily="34" charset="-120"/>
              </a:rPr>
              <a:t>AI:  </a:t>
            </a:r>
            <a:pPr indent="0" marL="0">
              <a:buNone/>
            </a:pPr>
            <a:r>
              <a:rPr lang="en-US" sz="1600" dirty="0">
                <a:solidFill>
                  <a:srgbClr val="262626"/>
                </a:solidFill>
                <a:latin typeface="Calibri" pitchFamily="34" charset="0"/>
                <a:ea typeface="Calibri" pitchFamily="34" charset="-122"/>
                <a:cs typeface="Calibri" pitchFamily="34" charset="-120"/>
              </a:rPr>
              <a:t>Gemini AI API</a:t>
            </a:r>
            <a:endParaRPr lang="en-US" sz="1600" dirty="0"/>
          </a:p>
        </p:txBody>
      </p:sp>
      <p:sp>
        <p:nvSpPr>
          <p:cNvPr id="34" name="Text 30"/>
          <p:cNvSpPr/>
          <p:nvPr/>
        </p:nvSpPr>
        <p:spPr>
          <a:xfrm>
            <a:off x="5100000" y="2450000"/>
            <a:ext cx="3800000" cy="480000"/>
          </a:xfrm>
          <a:prstGeom prst="rect">
            <a:avLst/>
          </a:prstGeom>
          <a:noFill/>
          <a:ln/>
        </p:spPr>
        <p:txBody>
          <a:bodyPr wrap="square" lIns="0" tIns="0" rIns="0" bIns="0" rtlCol="0" anchor="ctr"/>
          <a:lstStyle/>
          <a:p>
            <a:pPr indent="0" marL="0">
              <a:buNone/>
            </a:pPr>
            <a:r>
              <a:rPr lang="en-US" sz="1600" b="1" dirty="0">
                <a:solidFill>
                  <a:srgbClr val="C00000"/>
                </a:solidFill>
                <a:latin typeface="Calibri" pitchFamily="34" charset="0"/>
                <a:ea typeface="Calibri" pitchFamily="34" charset="-122"/>
                <a:cs typeface="Calibri" pitchFamily="34" charset="-120"/>
              </a:rPr>
              <a:t>Database:  </a:t>
            </a:r>
            <a:pPr indent="0" marL="0">
              <a:buNone/>
            </a:pPr>
            <a:r>
              <a:rPr lang="en-US" sz="1600" dirty="0">
                <a:solidFill>
                  <a:srgbClr val="262626"/>
                </a:solidFill>
                <a:latin typeface="Calibri" pitchFamily="34" charset="0"/>
                <a:ea typeface="Calibri" pitchFamily="34" charset="-122"/>
                <a:cs typeface="Calibri" pitchFamily="34" charset="-120"/>
              </a:rPr>
              <a:t>SQLite</a:t>
            </a:r>
            <a:endParaRPr lang="en-US" sz="1600" dirty="0"/>
          </a:p>
        </p:txBody>
      </p:sp>
      <p:sp>
        <p:nvSpPr>
          <p:cNvPr id="35" name="Text 31"/>
          <p:cNvSpPr/>
          <p:nvPr/>
        </p:nvSpPr>
        <p:spPr>
          <a:xfrm>
            <a:off x="5100000" y="3350000"/>
            <a:ext cx="3800000" cy="480000"/>
          </a:xfrm>
          <a:prstGeom prst="rect">
            <a:avLst/>
          </a:prstGeom>
          <a:noFill/>
          <a:ln/>
        </p:spPr>
        <p:txBody>
          <a:bodyPr wrap="square" lIns="0" tIns="0" rIns="0" bIns="0" rtlCol="0" anchor="ctr"/>
          <a:lstStyle/>
          <a:p>
            <a:pPr indent="0" marL="0">
              <a:buNone/>
            </a:pPr>
            <a:r>
              <a:rPr lang="en-US" sz="1600" b="1" dirty="0">
                <a:solidFill>
                  <a:srgbClr val="C00000"/>
                </a:solidFill>
                <a:latin typeface="Calibri" pitchFamily="34" charset="0"/>
                <a:ea typeface="Calibri" pitchFamily="34" charset="-122"/>
                <a:cs typeface="Calibri" pitchFamily="34" charset="-120"/>
              </a:rPr>
              <a:t>Version Control:  </a:t>
            </a:r>
            <a:pPr indent="0" marL="0">
              <a:buNone/>
            </a:pPr>
            <a:r>
              <a:rPr lang="en-US" sz="1600" dirty="0">
                <a:solidFill>
                  <a:srgbClr val="262626"/>
                </a:solidFill>
                <a:latin typeface="Calibri" pitchFamily="34" charset="0"/>
                <a:ea typeface="Calibri" pitchFamily="34" charset="-122"/>
                <a:cs typeface="Calibri" pitchFamily="34" charset="-120"/>
              </a:rPr>
              <a:t>Git + GitHub / GitHub API</a:t>
            </a:r>
            <a:endParaRPr lang="en-US" sz="1600" dirty="0"/>
          </a:p>
        </p:txBody>
      </p:sp>
      <p:sp>
        <p:nvSpPr>
          <p:cNvPr id="36" name="Text 32"/>
          <p:cNvSpPr/>
          <p:nvPr/>
        </p:nvSpPr>
        <p:spPr>
          <a:xfrm>
            <a:off x="5100000" y="4250000"/>
            <a:ext cx="3800000" cy="480000"/>
          </a:xfrm>
          <a:prstGeom prst="rect">
            <a:avLst/>
          </a:prstGeom>
          <a:noFill/>
          <a:ln/>
        </p:spPr>
        <p:txBody>
          <a:bodyPr wrap="square" lIns="0" tIns="0" rIns="0" bIns="0" rtlCol="0" anchor="ctr"/>
          <a:lstStyle/>
          <a:p>
            <a:pPr indent="0" marL="0">
              <a:buNone/>
            </a:pPr>
            <a:r>
              <a:rPr lang="en-US" sz="1600" b="1" dirty="0">
                <a:solidFill>
                  <a:srgbClr val="C00000"/>
                </a:solidFill>
                <a:latin typeface="Calibri" pitchFamily="34" charset="0"/>
                <a:ea typeface="Calibri" pitchFamily="34" charset="-122"/>
                <a:cs typeface="Calibri" pitchFamily="34" charset="-120"/>
              </a:rPr>
              <a:t>Automation:  </a:t>
            </a:r>
            <a:pPr indent="0" marL="0">
              <a:buNone/>
            </a:pPr>
            <a:r>
              <a:rPr lang="en-US" sz="1600" dirty="0">
                <a:solidFill>
                  <a:srgbClr val="262626"/>
                </a:solidFill>
                <a:latin typeface="Calibri" pitchFamily="34" charset="0"/>
                <a:ea typeface="Calibri" pitchFamily="34" charset="-122"/>
                <a:cs typeface="Calibri" pitchFamily="34" charset="-120"/>
              </a:rPr>
              <a:t>GitHub Actions</a:t>
            </a:r>
            <a:endParaRPr lang="en-US" sz="1600" dirty="0"/>
          </a:p>
        </p:txBody>
      </p:sp>
      <p:sp>
        <p:nvSpPr>
          <p:cNvPr id="40" name="Text 36"/>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3764128" y="384048"/>
            <a:ext cx="4663440" cy="566928"/>
          </a:xfrm>
          <a:prstGeom prst="rect">
            <a:avLst/>
          </a:prstGeom>
          <a:solidFill>
            <a:srgbClr val="C00000"/>
          </a:solidFill>
          <a:ln/>
        </p:spPr>
      </p:sp>
      <p:sp>
        <p:nvSpPr>
          <p:cNvPr id="7" name="Text 3"/>
          <p:cNvSpPr/>
          <p:nvPr/>
        </p:nvSpPr>
        <p:spPr>
          <a:xfrm>
            <a:off x="3764128" y="384048"/>
            <a:ext cx="466344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Workflow</a:t>
            </a:r>
            <a:endParaRPr lang="en-US" sz="2400" dirty="0"/>
          </a:p>
        </p:txBody>
      </p:sp>
      <p:sp>
        <p:nvSpPr>
          <p:cNvPr id="8" name="Text 4"/>
          <p:cNvSpPr/>
          <p:nvPr/>
        </p:nvSpPr>
        <p:spPr>
          <a:xfrm>
            <a:off x="548640" y="1371600"/>
            <a:ext cx="11064240" cy="777240"/>
          </a:xfrm>
          <a:prstGeom prst="rect">
            <a:avLst/>
          </a:prstGeom>
          <a:noFill/>
          <a:ln/>
        </p:spPr>
        <p:txBody>
          <a:bodyPr wrap="square" lIns="0" tIns="0" rIns="0" bIns="0" rtlCol="0" anchor="t"/>
          <a:lstStyle/>
          <a:p>
            <a:pPr indent="0" marL="0">
              <a:lnSpc>
                <a:spcPct val="120000"/>
              </a:lnSpc>
              <a:buNone/>
            </a:pPr>
            <a:r>
              <a:rPr lang="en-US" sz="1250" dirty="0">
                <a:solidFill>
                  <a:srgbClr val="262626"/>
                </a:solidFill>
                <a:latin typeface="Calibri" pitchFamily="34" charset="0"/>
                <a:ea typeface="Calibri" pitchFamily="34" charset="-122"/>
                <a:cs typeface="Calibri" pitchFamily="34" charset="-120"/>
              </a:rPr>
              <a:t>CodeInsight AI follows a simple client-server flow: the user submits code, the backend runs it through AI analysis, and the results are stored and displayed on a review dashboard.</a:t>
            </a:r>
            <a:endParaRPr lang="en-US" sz="1250" dirty="0"/>
          </a:p>
        </p:txBody>
      </p:sp>
      <p:sp>
        <p:nvSpPr>
          <p:cNvPr id="9" name="Shape 5"/>
          <p:cNvSpPr/>
          <p:nvPr/>
        </p:nvSpPr>
        <p:spPr>
          <a:xfrm>
            <a:off x="737464" y="2423160"/>
            <a:ext cx="1417320" cy="594360"/>
          </a:xfrm>
          <a:prstGeom prst="rect">
            <a:avLst/>
          </a:prstGeom>
          <a:solidFill>
            <a:srgbClr val="C00000"/>
          </a:solidFill>
          <a:ln/>
        </p:spPr>
      </p:sp>
      <p:sp>
        <p:nvSpPr>
          <p:cNvPr id="10" name="Text 6"/>
          <p:cNvSpPr/>
          <p:nvPr/>
        </p:nvSpPr>
        <p:spPr>
          <a:xfrm>
            <a:off x="737464"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User</a:t>
            </a:r>
            <a:endParaRPr lang="en-US" sz="1050" dirty="0"/>
          </a:p>
        </p:txBody>
      </p:sp>
      <p:sp>
        <p:nvSpPr>
          <p:cNvPr id="11" name="Text 7"/>
          <p:cNvSpPr/>
          <p:nvPr/>
        </p:nvSpPr>
        <p:spPr>
          <a:xfrm>
            <a:off x="2154784"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12" name="Shape 8"/>
          <p:cNvSpPr/>
          <p:nvPr/>
        </p:nvSpPr>
        <p:spPr>
          <a:xfrm>
            <a:off x="2287372" y="2423160"/>
            <a:ext cx="1417320" cy="594360"/>
          </a:xfrm>
          <a:prstGeom prst="rect">
            <a:avLst/>
          </a:prstGeom>
          <a:solidFill>
            <a:srgbClr val="000000"/>
          </a:solidFill>
          <a:ln/>
        </p:spPr>
      </p:sp>
      <p:sp>
        <p:nvSpPr>
          <p:cNvPr id="13" name="Text 9"/>
          <p:cNvSpPr/>
          <p:nvPr/>
        </p:nvSpPr>
        <p:spPr>
          <a:xfrm>
            <a:off x="2287372"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Code Input</a:t>
            </a:r>
            <a:endParaRPr lang="en-US" sz="1050" dirty="0"/>
          </a:p>
        </p:txBody>
      </p:sp>
      <p:sp>
        <p:nvSpPr>
          <p:cNvPr id="14" name="Text 10"/>
          <p:cNvSpPr/>
          <p:nvPr/>
        </p:nvSpPr>
        <p:spPr>
          <a:xfrm>
            <a:off x="3704692"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15" name="Shape 11"/>
          <p:cNvSpPr/>
          <p:nvPr/>
        </p:nvSpPr>
        <p:spPr>
          <a:xfrm>
            <a:off x="3837280" y="2423160"/>
            <a:ext cx="1417320" cy="594360"/>
          </a:xfrm>
          <a:prstGeom prst="rect">
            <a:avLst/>
          </a:prstGeom>
          <a:solidFill>
            <a:srgbClr val="C00000"/>
          </a:solidFill>
          <a:ln/>
        </p:spPr>
      </p:sp>
      <p:sp>
        <p:nvSpPr>
          <p:cNvPr id="16" name="Text 12"/>
          <p:cNvSpPr/>
          <p:nvPr/>
        </p:nvSpPr>
        <p:spPr>
          <a:xfrm>
            <a:off x="3837280"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Backend</a:t>
            </a:r>
            <a:endParaRPr lang="en-US" sz="1050" dirty="0"/>
          </a:p>
        </p:txBody>
      </p:sp>
      <p:sp>
        <p:nvSpPr>
          <p:cNvPr id="17" name="Text 13"/>
          <p:cNvSpPr/>
          <p:nvPr/>
        </p:nvSpPr>
        <p:spPr>
          <a:xfrm>
            <a:off x="5254600"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18" name="Shape 14"/>
          <p:cNvSpPr/>
          <p:nvPr/>
        </p:nvSpPr>
        <p:spPr>
          <a:xfrm>
            <a:off x="5387188" y="2423160"/>
            <a:ext cx="1417320" cy="594360"/>
          </a:xfrm>
          <a:prstGeom prst="rect">
            <a:avLst/>
          </a:prstGeom>
          <a:solidFill>
            <a:srgbClr val="000000"/>
          </a:solidFill>
          <a:ln/>
        </p:spPr>
      </p:sp>
      <p:sp>
        <p:nvSpPr>
          <p:cNvPr id="19" name="Text 15"/>
          <p:cNvSpPr/>
          <p:nvPr/>
        </p:nvSpPr>
        <p:spPr>
          <a:xfrm>
            <a:off x="5387188"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Analysis</a:t>
            </a:r>
            <a:endParaRPr lang="en-US" sz="1050" dirty="0"/>
          </a:p>
        </p:txBody>
      </p:sp>
      <p:sp>
        <p:nvSpPr>
          <p:cNvPr id="20" name="Text 16"/>
          <p:cNvSpPr/>
          <p:nvPr/>
        </p:nvSpPr>
        <p:spPr>
          <a:xfrm>
            <a:off x="6804508"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21" name="Shape 17"/>
          <p:cNvSpPr/>
          <p:nvPr/>
        </p:nvSpPr>
        <p:spPr>
          <a:xfrm>
            <a:off x="6937096" y="2423160"/>
            <a:ext cx="1417320" cy="594360"/>
          </a:xfrm>
          <a:prstGeom prst="rect">
            <a:avLst/>
          </a:prstGeom>
          <a:solidFill>
            <a:srgbClr val="C00000"/>
          </a:solidFill>
          <a:ln/>
        </p:spPr>
      </p:sp>
      <p:sp>
        <p:nvSpPr>
          <p:cNvPr id="22" name="Text 18"/>
          <p:cNvSpPr/>
          <p:nvPr/>
        </p:nvSpPr>
        <p:spPr>
          <a:xfrm>
            <a:off x="6937096"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Results</a:t>
            </a:r>
            <a:endParaRPr lang="en-US" sz="1050" dirty="0"/>
          </a:p>
        </p:txBody>
      </p:sp>
      <p:sp>
        <p:nvSpPr>
          <p:cNvPr id="23" name="Text 19"/>
          <p:cNvSpPr/>
          <p:nvPr/>
        </p:nvSpPr>
        <p:spPr>
          <a:xfrm>
            <a:off x="8354416"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24" name="Shape 20"/>
          <p:cNvSpPr/>
          <p:nvPr/>
        </p:nvSpPr>
        <p:spPr>
          <a:xfrm>
            <a:off x="8487004" y="2423160"/>
            <a:ext cx="1417320" cy="594360"/>
          </a:xfrm>
          <a:prstGeom prst="rect">
            <a:avLst/>
          </a:prstGeom>
          <a:solidFill>
            <a:srgbClr val="000000"/>
          </a:solidFill>
          <a:ln/>
        </p:spPr>
      </p:sp>
      <p:sp>
        <p:nvSpPr>
          <p:cNvPr id="25" name="Text 21"/>
          <p:cNvSpPr/>
          <p:nvPr/>
        </p:nvSpPr>
        <p:spPr>
          <a:xfrm>
            <a:off x="8487004"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Database</a:t>
            </a:r>
            <a:endParaRPr lang="en-US" sz="1050" dirty="0"/>
          </a:p>
        </p:txBody>
      </p:sp>
      <p:sp>
        <p:nvSpPr>
          <p:cNvPr id="26" name="Text 22"/>
          <p:cNvSpPr/>
          <p:nvPr/>
        </p:nvSpPr>
        <p:spPr>
          <a:xfrm>
            <a:off x="9904324"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27" name="Shape 23"/>
          <p:cNvSpPr/>
          <p:nvPr/>
        </p:nvSpPr>
        <p:spPr>
          <a:xfrm>
            <a:off x="10036912" y="2423160"/>
            <a:ext cx="1417320" cy="594360"/>
          </a:xfrm>
          <a:prstGeom prst="rect">
            <a:avLst/>
          </a:prstGeom>
          <a:solidFill>
            <a:srgbClr val="C00000"/>
          </a:solidFill>
          <a:ln/>
        </p:spPr>
      </p:sp>
      <p:sp>
        <p:nvSpPr>
          <p:cNvPr id="28" name="Text 24"/>
          <p:cNvSpPr/>
          <p:nvPr/>
        </p:nvSpPr>
        <p:spPr>
          <a:xfrm>
            <a:off x="10036912"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Dashboard</a:t>
            </a:r>
            <a:endParaRPr lang="en-US" sz="1050" dirty="0"/>
          </a:p>
        </p:txBody>
      </p:sp>
      <p:sp>
        <p:nvSpPr>
          <p:cNvPr id="29" name="Text 25"/>
          <p:cNvSpPr/>
          <p:nvPr/>
        </p:nvSpPr>
        <p:spPr>
          <a:xfrm>
            <a:off x="548640" y="3246120"/>
            <a:ext cx="11064240" cy="320040"/>
          </a:xfrm>
          <a:prstGeom prst="rect">
            <a:avLst/>
          </a:prstGeom>
          <a:noFill/>
          <a:ln/>
        </p:spPr>
        <p:txBody>
          <a:bodyPr wrap="square" lIns="0" tIns="0" rIns="0" bIns="0" rtlCol="0" anchor="ctr"/>
          <a:lstStyle/>
          <a:p>
            <a:pPr algn="ctr" indent="0" marL="0">
              <a:buNone/>
            </a:pPr>
            <a:r>
              <a:rPr lang="en-US" sz="1050" i="1" dirty="0">
                <a:solidFill>
                  <a:srgbClr val="555555"/>
                </a:solidFill>
                <a:latin typeface="Calibri" pitchFamily="34" charset="0"/>
                <a:ea typeface="Calibri" pitchFamily="34" charset="-122"/>
                <a:cs typeface="Calibri" pitchFamily="34" charset="-120"/>
              </a:rPr>
              <a:t>The GitHub API connects directly to the repository input stage, enabling seamless code retrieval for analysis.</a:t>
            </a:r>
            <a:endParaRPr lang="en-US" sz="1050" dirty="0"/>
          </a:p>
        </p:txBody>
      </p:sp>
      <p:sp>
        <p:nvSpPr>
          <p:cNvPr id="40" name="Text 36"/>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3396000" y="384048"/>
            <a:ext cx="5400000" cy="566928"/>
          </a:xfrm>
          <a:prstGeom prst="rect">
            <a:avLst/>
          </a:prstGeom>
          <a:solidFill>
            <a:srgbClr val="C00000"/>
          </a:solidFill>
          <a:ln/>
        </p:spPr>
      </p:sp>
      <p:sp>
        <p:nvSpPr>
          <p:cNvPr id="7" name="Text 3"/>
          <p:cNvSpPr/>
          <p:nvPr/>
        </p:nvSpPr>
        <p:spPr>
          <a:xfrm>
            <a:off x="3396000" y="384048"/>
            <a:ext cx="5400000"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Conclusion &amp; Future Scope</a:t>
            </a:r>
            <a:endParaRPr lang="en-US" sz="2000" dirty="0"/>
          </a:p>
        </p:txBody>
      </p:sp>
      <p:sp>
        <p:nvSpPr>
          <p:cNvPr id="8" name="Text 4"/>
          <p:cNvSpPr/>
          <p:nvPr/>
        </p:nvSpPr>
        <p:spPr>
          <a:xfrm>
            <a:off x="548640" y="1371600"/>
            <a:ext cx="11064240" cy="502920"/>
          </a:xfrm>
          <a:prstGeom prst="rect">
            <a:avLst/>
          </a:prstGeom>
          <a:noFill/>
          <a:ln/>
        </p:spPr>
        <p:txBody>
          <a:bodyPr wrap="square" lIns="0" tIns="0" rIns="0" bIns="0" rtlCol="0" anchor="ctr"/>
          <a:lstStyle/>
          <a:p>
            <a:pPr indent="0" marL="0">
              <a:lnSpc>
                <a:spcPct val="120000"/>
              </a:lnSpc>
              <a:buNone/>
            </a:pPr>
            <a:r>
              <a:rPr lang="en-US" sz="1300" dirty="0">
                <a:solidFill>
                  <a:srgbClr val="262626"/>
                </a:solidFill>
                <a:latin typeface="Calibri" pitchFamily="34" charset="0"/>
                <a:ea typeface="Calibri" pitchFamily="34" charset="-122"/>
                <a:cs typeface="Calibri" pitchFamily="34" charset="-120"/>
              </a:rPr>
              <a:t>CodeInsight AI currently automates core code review tasks using AI analysis, GitHub integration, and a review dashboard, with a few features still in progress.</a:t>
            </a:r>
            <a:endParaRPr lang="en-US" sz="1300" dirty="0"/>
          </a:p>
        </p:txBody>
      </p:sp>
      <p:sp>
        <p:nvSpPr>
          <p:cNvPr id="9" name="Shape 5"/>
          <p:cNvSpPr/>
          <p:nvPr/>
        </p:nvSpPr>
        <p:spPr>
          <a:xfrm>
            <a:off x="548640" y="2057400"/>
            <a:ext cx="329184" cy="329184"/>
          </a:xfrm>
          <a:prstGeom prst="ellipse">
            <a:avLst/>
          </a:prstGeom>
          <a:solidFill>
            <a:srgbClr val="C00000"/>
          </a:solidFill>
          <a:ln/>
        </p:spPr>
      </p:sp>
      <p:sp>
        <p:nvSpPr>
          <p:cNvPr id="10" name="Text 6"/>
          <p:cNvSpPr/>
          <p:nvPr/>
        </p:nvSpPr>
        <p:spPr>
          <a:xfrm>
            <a:off x="54864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p:nvPr/>
        </p:nvSpPr>
        <p:spPr>
          <a:xfrm>
            <a:off x="1005840" y="2011680"/>
            <a:ext cx="4937760" cy="27432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Core Modules Built</a:t>
            </a:r>
            <a:endParaRPr lang="en-US" sz="1250" dirty="0"/>
          </a:p>
        </p:txBody>
      </p:sp>
      <p:sp>
        <p:nvSpPr>
          <p:cNvPr id="12" name="Text 8"/>
          <p:cNvSpPr/>
          <p:nvPr/>
        </p:nvSpPr>
        <p:spPr>
          <a:xfrm>
            <a:off x="1005840" y="2304288"/>
            <a:ext cx="4937760" cy="594360"/>
          </a:xfrm>
          <a:prstGeom prst="rect">
            <a:avLst/>
          </a:prstGeom>
          <a:noFill/>
          <a:ln/>
        </p:spPr>
        <p:txBody>
          <a:bodyPr wrap="square" lIns="0" tIns="0" rIns="0" bIns="0" rtlCol="0" anchor="t"/>
          <a:lstStyle/>
          <a:p>
            <a:pPr indent="0" marL="0">
              <a:lnSpc>
                <a:spcPct val="115000"/>
              </a:lnSpc>
              <a:buNone/>
            </a:pPr>
            <a:r>
              <a:rPr lang="en-US" sz="1050" dirty="0">
                <a:solidFill>
                  <a:srgbClr val="555555"/>
                </a:solidFill>
                <a:latin typeface="Calibri" pitchFamily="34" charset="0"/>
                <a:ea typeface="Calibri" pitchFamily="34" charset="-122"/>
                <a:cs typeface="Calibri" pitchFamily="34" charset="-120"/>
              </a:rPr>
              <a:t>Authentication, code upload, GitHub integration, and AI analysis are implemented and working.</a:t>
            </a:r>
            <a:endParaRPr lang="en-US" sz="1050" dirty="0"/>
          </a:p>
        </p:txBody>
      </p:sp>
      <p:sp>
        <p:nvSpPr>
          <p:cNvPr id="13" name="Shape 9"/>
          <p:cNvSpPr/>
          <p:nvPr/>
        </p:nvSpPr>
        <p:spPr>
          <a:xfrm>
            <a:off x="6217920" y="2057400"/>
            <a:ext cx="329184" cy="329184"/>
          </a:xfrm>
          <a:prstGeom prst="ellipse">
            <a:avLst/>
          </a:prstGeom>
          <a:solidFill>
            <a:srgbClr val="C00000"/>
          </a:solidFill>
          <a:ln/>
        </p:spPr>
      </p:sp>
      <p:sp>
        <p:nvSpPr>
          <p:cNvPr id="14" name="Text 10"/>
          <p:cNvSpPr/>
          <p:nvPr/>
        </p:nvSpPr>
        <p:spPr>
          <a:xfrm>
            <a:off x="621792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1"/>
          <p:cNvSpPr/>
          <p:nvPr/>
        </p:nvSpPr>
        <p:spPr>
          <a:xfrm>
            <a:off x="6675120" y="2011680"/>
            <a:ext cx="4937760" cy="27432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Backend &amp; Database Ready</a:t>
            </a:r>
            <a:endParaRPr lang="en-US" sz="1250" dirty="0"/>
          </a:p>
        </p:txBody>
      </p:sp>
      <p:sp>
        <p:nvSpPr>
          <p:cNvPr id="16" name="Text 12"/>
          <p:cNvSpPr/>
          <p:nvPr/>
        </p:nvSpPr>
        <p:spPr>
          <a:xfrm>
            <a:off x="6675120" y="2304288"/>
            <a:ext cx="4937760" cy="594360"/>
          </a:xfrm>
          <a:prstGeom prst="rect">
            <a:avLst/>
          </a:prstGeom>
          <a:noFill/>
          <a:ln/>
        </p:spPr>
        <p:txBody>
          <a:bodyPr wrap="square" lIns="0" tIns="0" rIns="0" bIns="0" rtlCol="0" anchor="t"/>
          <a:lstStyle/>
          <a:p>
            <a:pPr indent="0" marL="0">
              <a:lnSpc>
                <a:spcPct val="115000"/>
              </a:lnSpc>
              <a:buNone/>
            </a:pPr>
            <a:r>
              <a:rPr lang="en-US" sz="1050" dirty="0">
                <a:solidFill>
                  <a:srgbClr val="555555"/>
                </a:solidFill>
                <a:latin typeface="Calibri" pitchFamily="34" charset="0"/>
                <a:ea typeface="Calibri" pitchFamily="34" charset="-122"/>
                <a:cs typeface="Calibri" pitchFamily="34" charset="-120"/>
              </a:rPr>
              <a:t>FastAPI backend, Gemini AI integration, and SQLite storage work end-to-end.</a:t>
            </a:r>
            <a:endParaRPr lang="en-US" sz="1050" dirty="0"/>
          </a:p>
        </p:txBody>
      </p:sp>
      <p:sp>
        <p:nvSpPr>
          <p:cNvPr id="17" name="Shape 13"/>
          <p:cNvSpPr/>
          <p:nvPr/>
        </p:nvSpPr>
        <p:spPr>
          <a:xfrm>
            <a:off x="548640" y="3136392"/>
            <a:ext cx="329184" cy="329184"/>
          </a:xfrm>
          <a:prstGeom prst="ellipse">
            <a:avLst/>
          </a:prstGeom>
          <a:solidFill>
            <a:srgbClr val="C00000"/>
          </a:solidFill>
          <a:ln/>
        </p:spPr>
      </p:sp>
      <p:sp>
        <p:nvSpPr>
          <p:cNvPr id="18" name="Text 14"/>
          <p:cNvSpPr/>
          <p:nvPr/>
        </p:nvSpPr>
        <p:spPr>
          <a:xfrm>
            <a:off x="548640" y="31363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5"/>
          <p:cNvSpPr/>
          <p:nvPr/>
        </p:nvSpPr>
        <p:spPr>
          <a:xfrm>
            <a:off x="1005840" y="3090672"/>
            <a:ext cx="4937760" cy="27432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Enhanced Reporting</a:t>
            </a:r>
            <a:endParaRPr lang="en-US" sz="1250" dirty="0"/>
          </a:p>
        </p:txBody>
      </p:sp>
      <p:sp>
        <p:nvSpPr>
          <p:cNvPr id="20" name="Text 16"/>
          <p:cNvSpPr/>
          <p:nvPr/>
        </p:nvSpPr>
        <p:spPr>
          <a:xfrm>
            <a:off x="1005840" y="3383280"/>
            <a:ext cx="4937760" cy="594360"/>
          </a:xfrm>
          <a:prstGeom prst="rect">
            <a:avLst/>
          </a:prstGeom>
          <a:noFill/>
          <a:ln/>
        </p:spPr>
        <p:txBody>
          <a:bodyPr wrap="square" lIns="0" tIns="0" rIns="0" bIns="0" rtlCol="0" anchor="t"/>
          <a:lstStyle/>
          <a:p>
            <a:pPr indent="0" marL="0">
              <a:lnSpc>
                <a:spcPct val="115000"/>
              </a:lnSpc>
              <a:buNone/>
            </a:pPr>
            <a:r>
              <a:rPr lang="en-US" sz="1050" dirty="0">
                <a:solidFill>
                  <a:srgbClr val="555555"/>
                </a:solidFill>
                <a:latin typeface="Calibri" pitchFamily="34" charset="0"/>
                <a:ea typeface="Calibri" pitchFamily="34" charset="-122"/>
                <a:cs typeface="Calibri" pitchFamily="34" charset="-120"/>
              </a:rPr>
              <a:t>Add trend charts, downloadable PDF reports, and team-level analytics.</a:t>
            </a:r>
            <a:endParaRPr lang="en-US" sz="1050" dirty="0"/>
          </a:p>
        </p:txBody>
      </p:sp>
      <p:sp>
        <p:nvSpPr>
          <p:cNvPr id="21" name="Shape 17"/>
          <p:cNvSpPr/>
          <p:nvPr/>
        </p:nvSpPr>
        <p:spPr>
          <a:xfrm>
            <a:off x="6217920" y="3136392"/>
            <a:ext cx="329184" cy="329184"/>
          </a:xfrm>
          <a:prstGeom prst="ellipse">
            <a:avLst/>
          </a:prstGeom>
          <a:solidFill>
            <a:srgbClr val="C00000"/>
          </a:solidFill>
          <a:ln/>
        </p:spPr>
      </p:sp>
      <p:sp>
        <p:nvSpPr>
          <p:cNvPr id="22" name="Text 18"/>
          <p:cNvSpPr/>
          <p:nvPr/>
        </p:nvSpPr>
        <p:spPr>
          <a:xfrm>
            <a:off x="6217920" y="31363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19"/>
          <p:cNvSpPr/>
          <p:nvPr/>
        </p:nvSpPr>
        <p:spPr>
          <a:xfrm>
            <a:off x="6675120" y="3090672"/>
            <a:ext cx="4937760" cy="27432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Deployment &amp; Scaling</a:t>
            </a:r>
            <a:endParaRPr lang="en-US" sz="1250" dirty="0"/>
          </a:p>
        </p:txBody>
      </p:sp>
      <p:sp>
        <p:nvSpPr>
          <p:cNvPr id="24" name="Text 20"/>
          <p:cNvSpPr/>
          <p:nvPr/>
        </p:nvSpPr>
        <p:spPr>
          <a:xfrm>
            <a:off x="6675120" y="3383280"/>
            <a:ext cx="4937760" cy="594360"/>
          </a:xfrm>
          <a:prstGeom prst="rect">
            <a:avLst/>
          </a:prstGeom>
          <a:noFill/>
          <a:ln/>
        </p:spPr>
        <p:txBody>
          <a:bodyPr wrap="square" lIns="0" tIns="0" rIns="0" bIns="0" rtlCol="0" anchor="t"/>
          <a:lstStyle/>
          <a:p>
            <a:pPr indent="0" marL="0">
              <a:lnSpc>
                <a:spcPct val="115000"/>
              </a:lnSpc>
              <a:buNone/>
            </a:pPr>
            <a:r>
              <a:rPr lang="en-US" sz="1050" dirty="0">
                <a:solidFill>
                  <a:srgbClr val="555555"/>
                </a:solidFill>
                <a:latin typeface="Calibri" pitchFamily="34" charset="0"/>
                <a:ea typeface="Calibri" pitchFamily="34" charset="-122"/>
                <a:cs typeface="Calibri" pitchFamily="34" charset="-120"/>
              </a:rPr>
              <a:t>Deploy to a cloud platform, add CI/CD, and support larger codebases and teams.</a:t>
            </a:r>
            <a:endParaRPr lang="en-US" sz="1050" dirty="0"/>
          </a:p>
        </p:txBody>
      </p:sp>
      <p:sp>
        <p:nvSpPr>
          <p:cNvPr id="25" name="Text 21"/>
          <p:cNvSpPr/>
          <p:nvPr/>
        </p:nvSpPr>
        <p:spPr>
          <a:xfrm>
            <a:off x="548640" y="4114800"/>
            <a:ext cx="11064240" cy="365760"/>
          </a:xfrm>
          <a:prstGeom prst="rect">
            <a:avLst/>
          </a:prstGeom>
          <a:noFill/>
          <a:ln/>
        </p:spPr>
        <p:txBody>
          <a:bodyPr wrap="square" lIns="0" tIns="0" rIns="0" bIns="0" rtlCol="0" anchor="ctr"/>
          <a:lstStyle/>
          <a:p>
            <a:pPr indent="0" marL="0">
              <a:buNone/>
            </a:pPr>
            <a:r>
              <a:rPr lang="en-US" sz="1250" i="1" dirty="0">
                <a:solidFill>
                  <a:srgbClr val="C00000"/>
                </a:solidFill>
                <a:latin typeface="Calibri" pitchFamily="34" charset="0"/>
                <a:ea typeface="Calibri" pitchFamily="34" charset="-122"/>
                <a:cs typeface="Calibri" pitchFamily="34" charset="-120"/>
              </a:rPr>
              <a:t>With the core system working end-to-end, remaining work focuses on polish, deployment, and broader testing.</a:t>
            </a:r>
            <a:endParaRPr lang="en-US" sz="1250" dirty="0"/>
          </a:p>
        </p:txBody>
      </p:sp>
      <p:sp>
        <p:nvSpPr>
          <p:cNvPr id="26" name="Shape 22"/>
          <p:cNvSpPr/>
          <p:nvPr/>
        </p:nvSpPr>
        <p:spPr>
          <a:xfrm>
            <a:off x="548640" y="4572000"/>
            <a:ext cx="11064240" cy="0"/>
          </a:xfrm>
          <a:prstGeom prst="line">
            <a:avLst/>
          </a:prstGeom>
          <a:noFill/>
          <a:ln w="12700">
            <a:solidFill>
              <a:srgbClr val="D9D9D9"/>
            </a:solidFill>
            <a:prstDash val="solid"/>
          </a:ln>
        </p:spPr>
      </p:sp>
      <p:sp>
        <p:nvSpPr>
          <p:cNvPr id="27" name="Text 23"/>
          <p:cNvSpPr/>
          <p:nvPr/>
        </p:nvSpPr>
        <p:spPr>
          <a:xfrm>
            <a:off x="548640" y="4681728"/>
            <a:ext cx="3657600" cy="274320"/>
          </a:xfrm>
          <a:prstGeom prst="rect">
            <a:avLst/>
          </a:prstGeom>
          <a:noFill/>
          <a:ln/>
        </p:spPr>
        <p:txBody>
          <a:bodyPr wrap="square" lIns="0" tIns="0" rIns="0" bIns="0" rtlCol="0" anchor="ctr"/>
          <a:lstStyle/>
          <a:p>
            <a:pPr indent="0" marL="0">
              <a:buNone/>
            </a:pPr>
            <a:r>
              <a:rPr lang="en-US" sz="1200" b="1" dirty="0">
                <a:solidFill>
                  <a:srgbClr val="C00000"/>
                </a:solidFill>
                <a:latin typeface="Calibri" pitchFamily="34" charset="0"/>
                <a:ea typeface="Calibri" pitchFamily="34" charset="-122"/>
                <a:cs typeface="Calibri" pitchFamily="34" charset="-120"/>
              </a:rPr>
              <a:t>Remaining Work</a:t>
            </a:r>
            <a:endParaRPr lang="en-US" sz="1200" dirty="0"/>
          </a:p>
        </p:txBody>
      </p:sp>
      <p:sp>
        <p:nvSpPr>
          <p:cNvPr id="28" name="Text 24"/>
          <p:cNvSpPr/>
          <p:nvPr/>
        </p:nvSpPr>
        <p:spPr>
          <a:xfrm>
            <a:off x="548640" y="4983480"/>
            <a:ext cx="11064240" cy="100584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555555"/>
                </a:solidFill>
                <a:latin typeface="Calibri" pitchFamily="34" charset="0"/>
                <a:ea typeface="Calibri" pitchFamily="34" charset="-122"/>
                <a:cs typeface="Calibri" pitchFamily="34" charset="-120"/>
              </a:rPr>
              <a:t>Add PDF export and detailed analytics to the review dashboard.</a:t>
            </a:r>
            <a:endParaRPr lang="en-US" sz="900" dirty="0"/>
          </a:p>
          <a:p>
            <a:pPr marL="342900" indent="-342900">
              <a:spcAft>
                <a:spcPts val="400"/>
              </a:spcAft>
              <a:buSzPct val="100000"/>
              <a:buChar char="•"/>
            </a:pPr>
            <a:r>
              <a:rPr lang="en-US" sz="900" dirty="0">
                <a:solidFill>
                  <a:srgbClr val="555555"/>
                </a:solidFill>
                <a:latin typeface="Calibri" pitchFamily="34" charset="0"/>
                <a:ea typeface="Calibri" pitchFamily="34" charset="-122"/>
                <a:cs typeface="Calibri" pitchFamily="34" charset="-120"/>
              </a:rPr>
              <a:t>Deploy the application to a cloud platform for live use.</a:t>
            </a:r>
            <a:endParaRPr lang="en-US" sz="900" dirty="0"/>
          </a:p>
          <a:p>
            <a:pPr marL="342900" indent="-342900">
              <a:spcAft>
                <a:spcPts val="400"/>
              </a:spcAft>
              <a:buSzPct val="100000"/>
              <a:buChar char="•"/>
            </a:pPr>
            <a:r>
              <a:rPr lang="en-US" sz="900" dirty="0">
                <a:solidFill>
                  <a:srgbClr val="555555"/>
                </a:solidFill>
                <a:latin typeface="Calibri" pitchFamily="34" charset="0"/>
                <a:ea typeface="Calibri" pitchFamily="34" charset="-122"/>
                <a:cs typeface="Calibri" pitchFamily="34" charset="-120"/>
              </a:rPr>
              <a:t>Expand testing across larger, real-world repositories and teams.</a:t>
            </a:r>
            <a:endParaRPr lang="en-US" sz="900" dirty="0"/>
          </a:p>
        </p:txBody>
      </p:sp>
      <p:sp>
        <p:nvSpPr>
          <p:cNvPr id="29" name="Text 25"/>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2026-08-25T03:22:03Z</dcterms:created>
  <dcterms:modified xsi:type="dcterms:W3CDTF">2026-08-25T03:22:03Z</dcterms:modified>
</cp:coreProperties>
</file>