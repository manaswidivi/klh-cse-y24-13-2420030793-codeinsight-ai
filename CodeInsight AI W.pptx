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12045391" cy="6711696"/>
          </a:xfrm>
          <a:prstGeom prst="rect">
            <a:avLst/>
          </a:prstGeom>
          <a:ln w="57150">
            <a:solidFill>
              <a:srgbClr val="000000"/>
            </a:solidFill>
            <a:prstDash val="solid"/>
          </a:ln>
        </p:spPr>
      </p:sp>
      <p:pic>
        <p:nvPicPr>
          <p:cNvPr id="3" name="Image 0" descr="/home/claude/logo_final.png">    </p:cNvPr>
          <p:cNvPicPr>
            <a:picLocks noChangeAspect="1"/>
          </p:cNvPicPr>
          <p:nvPr/>
        </p:nvPicPr>
        <p:blipFill>
          <a:blip r:embed="rId1"/>
          <a:stretch>
            <a:fillRect/>
          </a:stretch>
        </p:blipFill>
        <p:spPr>
          <a:xfrm>
            <a:off x="10591495" y="274320"/>
            <a:ext cx="1234440" cy="318424"/>
          </a:xfrm>
          <a:prstGeom prst="rect">
            <a:avLst/>
          </a:prstGeom>
        </p:spPr>
      </p:pic>
      <p:sp>
        <p:nvSpPr>
          <p:cNvPr id="4" name="Shape 1"/>
          <p:cNvSpPr/>
          <p:nvPr/>
        </p:nvSpPr>
        <p:spPr>
          <a:xfrm>
            <a:off x="320040" y="6227987"/>
            <a:ext cx="7894015" cy="0"/>
          </a:xfrm>
          <a:prstGeom prst="line">
            <a:avLst/>
          </a:prstGeom>
          <a:noFill/>
          <a:ln w="25400">
            <a:solidFill>
              <a:srgbClr val="ED7D31"/>
            </a:solidFill>
            <a:prstDash val="solid"/>
          </a:ln>
        </p:spPr>
      </p:sp>
      <p:pic>
        <p:nvPicPr>
          <p:cNvPr id="5" name="Image 1" descr="/home/claude/box_final2.png">    </p:cNvPr>
          <p:cNvPicPr>
            <a:picLocks noChangeAspect="1"/>
          </p:cNvPicPr>
          <p:nvPr/>
        </p:nvPicPr>
        <p:blipFill>
          <a:blip r:embed="rId2"/>
          <a:stretch>
            <a:fillRect/>
          </a:stretch>
        </p:blipFill>
        <p:spPr>
          <a:xfrm>
            <a:off x="8396935" y="5982021"/>
            <a:ext cx="3383280" cy="491931"/>
          </a:xfrm>
          <a:prstGeom prst="rect">
            <a:avLst/>
          </a:prstGeom>
        </p:spPr>
      </p:pic>
      <p:sp>
        <p:nvSpPr>
          <p:cNvPr id="6" name="Text 2"/>
          <p:cNvSpPr/>
          <p:nvPr/>
        </p:nvSpPr>
        <p:spPr>
          <a:xfrm>
            <a:off x="640080" y="868680"/>
            <a:ext cx="7315200" cy="292608"/>
          </a:xfrm>
          <a:prstGeom prst="rect">
            <a:avLst/>
          </a:prstGeom>
          <a:noFill/>
          <a:ln/>
        </p:spPr>
        <p:txBody>
          <a:bodyPr wrap="square" lIns="0" tIns="0" rIns="0" bIns="0" rtlCol="0" anchor="ctr"/>
          <a:lstStyle/>
          <a:p>
            <a:pPr indent="0" marL="0">
              <a:buNone/>
            </a:pPr>
            <a:r>
              <a:rPr lang="en-US" sz="1200" b="1" spc="150" kern="0" dirty="0">
                <a:solidFill>
                  <a:srgbClr val="C00000"/>
                </a:solidFill>
                <a:latin typeface="Calibri" pitchFamily="34" charset="0"/>
                <a:ea typeface="Calibri" pitchFamily="34" charset="-122"/>
                <a:cs typeface="Calibri" pitchFamily="34" charset="-120"/>
              </a:rPr>
              <a:t>ENGINEERING CAPSTONE PROJECT – 1  ·  A.Y. 2026–2027</a:t>
            </a:r>
            <a:endParaRPr lang="en-US" sz="1200" dirty="0"/>
          </a:p>
        </p:txBody>
      </p:sp>
      <p:sp>
        <p:nvSpPr>
          <p:cNvPr id="7" name="Shape 3"/>
          <p:cNvSpPr/>
          <p:nvPr/>
        </p:nvSpPr>
        <p:spPr>
          <a:xfrm>
            <a:off x="3078328" y="1371600"/>
            <a:ext cx="6035040" cy="960120"/>
          </a:xfrm>
          <a:prstGeom prst="rect">
            <a:avLst/>
          </a:prstGeom>
          <a:solidFill>
            <a:srgbClr val="C00000"/>
          </a:solidFill>
          <a:ln/>
        </p:spPr>
      </p:sp>
      <p:sp>
        <p:nvSpPr>
          <p:cNvPr id="8" name="Text 4"/>
          <p:cNvSpPr/>
          <p:nvPr/>
        </p:nvSpPr>
        <p:spPr>
          <a:xfrm>
            <a:off x="3078328" y="1371600"/>
            <a:ext cx="6035040" cy="9601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CodeInsight AI</a:t>
            </a:r>
            <a:endParaRPr lang="en-US" sz="4000" dirty="0"/>
          </a:p>
        </p:txBody>
      </p:sp>
      <p:sp>
        <p:nvSpPr>
          <p:cNvPr id="9" name="Text 5"/>
          <p:cNvSpPr/>
          <p:nvPr/>
        </p:nvSpPr>
        <p:spPr>
          <a:xfrm>
            <a:off x="640080" y="2514600"/>
            <a:ext cx="10972800" cy="457200"/>
          </a:xfrm>
          <a:prstGeom prst="rect">
            <a:avLst/>
          </a:prstGeom>
          <a:noFill/>
          <a:ln/>
        </p:spPr>
        <p:txBody>
          <a:bodyPr wrap="square" lIns="0" tIns="0" rIns="0" bIns="0" rtlCol="0" anchor="ctr"/>
          <a:lstStyle/>
          <a:p>
            <a:pPr algn="ctr" indent="0" marL="0">
              <a:buNone/>
            </a:pPr>
            <a:r>
              <a:rPr lang="en-US" sz="1900" dirty="0">
                <a:solidFill>
                  <a:srgbClr val="262626"/>
                </a:solidFill>
                <a:latin typeface="Calibri" pitchFamily="34" charset="0"/>
                <a:ea typeface="Calibri" pitchFamily="34" charset="-122"/>
                <a:cs typeface="Calibri" pitchFamily="34" charset="-120"/>
              </a:rPr>
              <a:t>AI-Powered Code Review &amp; Bug Detection</a:t>
            </a:r>
            <a:endParaRPr lang="en-US" sz="1900" dirty="0"/>
          </a:p>
        </p:txBody>
      </p:sp>
      <p:sp>
        <p:nvSpPr>
          <p:cNvPr id="10" name="Shape 6"/>
          <p:cNvSpPr/>
          <p:nvPr/>
        </p:nvSpPr>
        <p:spPr>
          <a:xfrm>
            <a:off x="3383280" y="3154680"/>
            <a:ext cx="5394960" cy="0"/>
          </a:xfrm>
          <a:prstGeom prst="line">
            <a:avLst/>
          </a:prstGeom>
          <a:noFill/>
          <a:ln w="12700">
            <a:solidFill>
              <a:srgbClr val="D9D9D9"/>
            </a:solidFill>
            <a:prstDash val="solid"/>
          </a:ln>
        </p:spPr>
      </p:sp>
      <p:sp>
        <p:nvSpPr>
          <p:cNvPr id="11" name="Text 7"/>
          <p:cNvSpPr/>
          <p:nvPr/>
        </p:nvSpPr>
        <p:spPr>
          <a:xfrm>
            <a:off x="640080" y="3337560"/>
            <a:ext cx="10972800" cy="320040"/>
          </a:xfrm>
          <a:prstGeom prst="rect">
            <a:avLst/>
          </a:prstGeom>
          <a:noFill/>
          <a:ln/>
        </p:spPr>
        <p:txBody>
          <a:bodyPr wrap="square" lIns="0" tIns="0" rIns="0" bIns="0" rtlCol="0" anchor="ctr"/>
          <a:lstStyle/>
          <a:p>
            <a:pPr algn="ctr" indent="0" marL="0">
              <a:buNone/>
            </a:pPr>
            <a:r>
              <a:rPr lang="en-US" sz="1300" dirty="0">
                <a:solidFill>
                  <a:srgbClr val="555555"/>
                </a:solidFill>
                <a:latin typeface="Calibri" pitchFamily="34" charset="0"/>
                <a:ea typeface="Calibri" pitchFamily="34" charset="-122"/>
                <a:cs typeface="Calibri" pitchFamily="34" charset="-120"/>
              </a:rPr>
              <a:t>Department of Computer Science &amp; Engineering  ·  Engineering Capstone Project – 1</a:t>
            </a:r>
            <a:endParaRPr lang="en-US" sz="1300" dirty="0"/>
          </a:p>
        </p:txBody>
      </p:sp>
      <p:sp>
        <p:nvSpPr>
          <p:cNvPr id="12" name="Text 8"/>
          <p:cNvSpPr/>
          <p:nvPr/>
        </p:nvSpPr>
        <p:spPr>
          <a:xfrm>
            <a:off x="792328" y="3977640"/>
            <a:ext cx="2468880" cy="292608"/>
          </a:xfrm>
          <a:prstGeom prst="rect">
            <a:avLst/>
          </a:prstGeom>
          <a:noFill/>
          <a:ln/>
        </p:spPr>
        <p:txBody>
          <a:bodyPr wrap="square" lIns="0" tIns="0" rIns="0" bIns="0" rtlCol="0" anchor="ctr"/>
          <a:lstStyle/>
          <a:p>
            <a:pPr algn="ctr" indent="0" marL="0">
              <a:buNone/>
            </a:pPr>
            <a:r>
              <a:rPr lang="en-US" sz="1300" b="1" dirty="0">
                <a:solidFill>
                  <a:srgbClr val="262626"/>
                </a:solidFill>
                <a:latin typeface="Calibri" pitchFamily="34" charset="0"/>
                <a:ea typeface="Calibri" pitchFamily="34" charset="-122"/>
                <a:cs typeface="Calibri" pitchFamily="34" charset="-120"/>
              </a:rPr>
              <a:t>Bhashetty Shaanvi</a:t>
            </a:r>
            <a:endParaRPr lang="en-US" sz="1300" dirty="0"/>
          </a:p>
        </p:txBody>
      </p:sp>
      <p:sp>
        <p:nvSpPr>
          <p:cNvPr id="13" name="Text 9"/>
          <p:cNvSpPr/>
          <p:nvPr/>
        </p:nvSpPr>
        <p:spPr>
          <a:xfrm>
            <a:off x="792328" y="4288536"/>
            <a:ext cx="2468880" cy="274320"/>
          </a:xfrm>
          <a:prstGeom prst="rect">
            <a:avLst/>
          </a:prstGeom>
          <a:noFill/>
          <a:ln/>
        </p:spPr>
        <p:txBody>
          <a:bodyPr wrap="square" lIns="0" tIns="0" rIns="0" bIns="0" rtlCol="0" anchor="ctr"/>
          <a:lstStyle/>
          <a:p>
            <a:pPr algn="ctr" indent="0" marL="0">
              <a:buNone/>
            </a:pPr>
            <a:r>
              <a:rPr lang="en-US" sz="1050" dirty="0">
                <a:solidFill>
                  <a:srgbClr val="555555"/>
                </a:solidFill>
                <a:latin typeface="Calibri" pitchFamily="34" charset="0"/>
                <a:ea typeface="Calibri" pitchFamily="34" charset="-122"/>
                <a:cs typeface="Calibri" pitchFamily="34" charset="-120"/>
              </a:rPr>
              <a:t>Roll No: 2420039806</a:t>
            </a:r>
            <a:endParaRPr lang="en-US" sz="1050" dirty="0"/>
          </a:p>
        </p:txBody>
      </p:sp>
      <p:sp>
        <p:nvSpPr>
          <p:cNvPr id="14" name="Text 10"/>
          <p:cNvSpPr/>
          <p:nvPr/>
        </p:nvSpPr>
        <p:spPr>
          <a:xfrm>
            <a:off x="3444088" y="3977640"/>
            <a:ext cx="2468880" cy="292608"/>
          </a:xfrm>
          <a:prstGeom prst="rect">
            <a:avLst/>
          </a:prstGeom>
          <a:noFill/>
          <a:ln/>
        </p:spPr>
        <p:txBody>
          <a:bodyPr wrap="square" lIns="0" tIns="0" rIns="0" bIns="0" rtlCol="0" anchor="ctr"/>
          <a:lstStyle/>
          <a:p>
            <a:pPr algn="ctr" indent="0" marL="0">
              <a:buNone/>
            </a:pPr>
            <a:r>
              <a:rPr lang="en-US" sz="1300" b="1" dirty="0">
                <a:solidFill>
                  <a:srgbClr val="262626"/>
                </a:solidFill>
                <a:latin typeface="Calibri" pitchFamily="34" charset="0"/>
                <a:ea typeface="Calibri" pitchFamily="34" charset="-122"/>
                <a:cs typeface="Calibri" pitchFamily="34" charset="-120"/>
              </a:rPr>
              <a:t>Manaswi Divi</a:t>
            </a:r>
            <a:endParaRPr lang="en-US" sz="1300" dirty="0"/>
          </a:p>
        </p:txBody>
      </p:sp>
      <p:sp>
        <p:nvSpPr>
          <p:cNvPr id="15" name="Text 11"/>
          <p:cNvSpPr/>
          <p:nvPr/>
        </p:nvSpPr>
        <p:spPr>
          <a:xfrm>
            <a:off x="3444088" y="4288536"/>
            <a:ext cx="2468880" cy="274320"/>
          </a:xfrm>
          <a:prstGeom prst="rect">
            <a:avLst/>
          </a:prstGeom>
          <a:noFill/>
          <a:ln/>
        </p:spPr>
        <p:txBody>
          <a:bodyPr wrap="square" lIns="0" tIns="0" rIns="0" bIns="0" rtlCol="0" anchor="ctr"/>
          <a:lstStyle/>
          <a:p>
            <a:pPr algn="ctr" indent="0" marL="0">
              <a:buNone/>
            </a:pPr>
            <a:r>
              <a:rPr lang="en-US" sz="1050" dirty="0">
                <a:solidFill>
                  <a:srgbClr val="555555"/>
                </a:solidFill>
                <a:latin typeface="Calibri" pitchFamily="34" charset="0"/>
                <a:ea typeface="Calibri" pitchFamily="34" charset="-122"/>
                <a:cs typeface="Calibri" pitchFamily="34" charset="-120"/>
              </a:rPr>
              <a:t>Roll No: 2420030793</a:t>
            </a:r>
            <a:endParaRPr lang="en-US" sz="1050" dirty="0"/>
          </a:p>
        </p:txBody>
      </p:sp>
      <p:sp>
        <p:nvSpPr>
          <p:cNvPr id="16" name="Text 12"/>
          <p:cNvSpPr/>
          <p:nvPr/>
        </p:nvSpPr>
        <p:spPr>
          <a:xfrm>
            <a:off x="6095848" y="3977640"/>
            <a:ext cx="2468880" cy="292608"/>
          </a:xfrm>
          <a:prstGeom prst="rect">
            <a:avLst/>
          </a:prstGeom>
          <a:noFill/>
          <a:ln/>
        </p:spPr>
        <p:txBody>
          <a:bodyPr wrap="square" lIns="0" tIns="0" rIns="0" bIns="0" rtlCol="0" anchor="ctr"/>
          <a:lstStyle/>
          <a:p>
            <a:pPr algn="ctr" indent="0" marL="0">
              <a:buNone/>
            </a:pPr>
            <a:r>
              <a:rPr lang="en-US" sz="1300" b="1" dirty="0">
                <a:solidFill>
                  <a:srgbClr val="262626"/>
                </a:solidFill>
                <a:latin typeface="Calibri" pitchFamily="34" charset="0"/>
                <a:ea typeface="Calibri" pitchFamily="34" charset="-122"/>
                <a:cs typeface="Calibri" pitchFamily="34" charset="-120"/>
              </a:rPr>
              <a:t>B. Avinash</a:t>
            </a:r>
            <a:endParaRPr lang="en-US" sz="1300" dirty="0"/>
          </a:p>
        </p:txBody>
      </p:sp>
      <p:sp>
        <p:nvSpPr>
          <p:cNvPr id="17" name="Text 13"/>
          <p:cNvSpPr/>
          <p:nvPr/>
        </p:nvSpPr>
        <p:spPr>
          <a:xfrm>
            <a:off x="6095848" y="4288536"/>
            <a:ext cx="2468880" cy="274320"/>
          </a:xfrm>
          <a:prstGeom prst="rect">
            <a:avLst/>
          </a:prstGeom>
          <a:noFill/>
          <a:ln/>
        </p:spPr>
        <p:txBody>
          <a:bodyPr wrap="square" lIns="0" tIns="0" rIns="0" bIns="0" rtlCol="0" anchor="ctr"/>
          <a:lstStyle/>
          <a:p>
            <a:pPr algn="ctr" indent="0" marL="0">
              <a:buNone/>
            </a:pPr>
            <a:r>
              <a:rPr lang="en-US" sz="1050" dirty="0">
                <a:solidFill>
                  <a:srgbClr val="555555"/>
                </a:solidFill>
                <a:latin typeface="Calibri" pitchFamily="34" charset="0"/>
                <a:ea typeface="Calibri" pitchFamily="34" charset="-122"/>
                <a:cs typeface="Calibri" pitchFamily="34" charset="-120"/>
              </a:rPr>
              <a:t>Roll No: 2420030101</a:t>
            </a:r>
            <a:endParaRPr lang="en-US" sz="1050" dirty="0"/>
          </a:p>
        </p:txBody>
      </p:sp>
      <p:sp>
        <p:nvSpPr>
          <p:cNvPr id="18" name="Text 14"/>
          <p:cNvSpPr/>
          <p:nvPr/>
        </p:nvSpPr>
        <p:spPr>
          <a:xfrm>
            <a:off x="8747608" y="3977640"/>
            <a:ext cx="2468880" cy="292608"/>
          </a:xfrm>
          <a:prstGeom prst="rect">
            <a:avLst/>
          </a:prstGeom>
          <a:noFill/>
          <a:ln/>
        </p:spPr>
        <p:txBody>
          <a:bodyPr wrap="square" lIns="0" tIns="0" rIns="0" bIns="0" rtlCol="0" anchor="ctr"/>
          <a:lstStyle/>
          <a:p>
            <a:pPr algn="ctr" indent="0" marL="0">
              <a:buNone/>
            </a:pPr>
            <a:r>
              <a:rPr lang="en-US" sz="1300" b="1" dirty="0">
                <a:solidFill>
                  <a:srgbClr val="262626"/>
                </a:solidFill>
                <a:latin typeface="Calibri" pitchFamily="34" charset="0"/>
                <a:ea typeface="Calibri" pitchFamily="34" charset="-122"/>
                <a:cs typeface="Calibri" pitchFamily="34" charset="-120"/>
              </a:rPr>
              <a:t>M. Taatwik</a:t>
            </a:r>
            <a:endParaRPr lang="en-US" sz="1300" dirty="0"/>
          </a:p>
        </p:txBody>
      </p:sp>
      <p:sp>
        <p:nvSpPr>
          <p:cNvPr id="19" name="Text 15"/>
          <p:cNvSpPr/>
          <p:nvPr/>
        </p:nvSpPr>
        <p:spPr>
          <a:xfrm>
            <a:off x="8747608" y="4288536"/>
            <a:ext cx="2468880" cy="274320"/>
          </a:xfrm>
          <a:prstGeom prst="rect">
            <a:avLst/>
          </a:prstGeom>
          <a:noFill/>
          <a:ln/>
        </p:spPr>
        <p:txBody>
          <a:bodyPr wrap="square" lIns="0" tIns="0" rIns="0" bIns="0" rtlCol="0" anchor="ctr"/>
          <a:lstStyle/>
          <a:p>
            <a:pPr algn="ctr" indent="0" marL="0">
              <a:buNone/>
            </a:pPr>
            <a:r>
              <a:rPr lang="en-US" sz="1050" dirty="0">
                <a:solidFill>
                  <a:srgbClr val="555555"/>
                </a:solidFill>
                <a:latin typeface="Calibri" pitchFamily="34" charset="0"/>
                <a:ea typeface="Calibri" pitchFamily="34" charset="-122"/>
                <a:cs typeface="Calibri" pitchFamily="34" charset="-120"/>
              </a:rPr>
              <a:t>Roll No: 2420030103</a:t>
            </a:r>
            <a:endParaRPr lang="en-US" sz="1050" dirty="0"/>
          </a:p>
        </p:txBody>
      </p:sp>
      <p:sp>
        <p:nvSpPr>
          <p:cNvPr id="20" name="Text 16"/>
          <p:cNvSpPr/>
          <p:nvPr/>
        </p:nvSpPr>
        <p:spPr>
          <a:xfrm>
            <a:off x="320040" y="6355080"/>
            <a:ext cx="36576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12045391" cy="6711696"/>
          </a:xfrm>
          <a:prstGeom prst="rect">
            <a:avLst/>
          </a:prstGeom>
          <a:ln w="57150">
            <a:solidFill>
              <a:srgbClr val="000000"/>
            </a:solidFill>
            <a:prstDash val="solid"/>
          </a:ln>
        </p:spPr>
      </p:sp>
      <p:pic>
        <p:nvPicPr>
          <p:cNvPr id="3" name="Image 0" descr="/home/claude/logo_final.png">    </p:cNvPr>
          <p:cNvPicPr>
            <a:picLocks noChangeAspect="1"/>
          </p:cNvPicPr>
          <p:nvPr/>
        </p:nvPicPr>
        <p:blipFill>
          <a:blip r:embed="rId1"/>
          <a:stretch>
            <a:fillRect/>
          </a:stretch>
        </p:blipFill>
        <p:spPr>
          <a:xfrm>
            <a:off x="10591495" y="274320"/>
            <a:ext cx="1234440" cy="318424"/>
          </a:xfrm>
          <a:prstGeom prst="rect">
            <a:avLst/>
          </a:prstGeom>
        </p:spPr>
      </p:pic>
      <p:sp>
        <p:nvSpPr>
          <p:cNvPr id="4" name="Shape 1"/>
          <p:cNvSpPr/>
          <p:nvPr/>
        </p:nvSpPr>
        <p:spPr>
          <a:xfrm>
            <a:off x="320040" y="6227987"/>
            <a:ext cx="7894015" cy="0"/>
          </a:xfrm>
          <a:prstGeom prst="line">
            <a:avLst/>
          </a:prstGeom>
          <a:noFill/>
          <a:ln w="25400">
            <a:solidFill>
              <a:srgbClr val="ED7D31"/>
            </a:solidFill>
            <a:prstDash val="solid"/>
          </a:ln>
        </p:spPr>
      </p:sp>
      <p:pic>
        <p:nvPicPr>
          <p:cNvPr id="5" name="Image 1" descr="/home/claude/box_final2.png">    </p:cNvPr>
          <p:cNvPicPr>
            <a:picLocks noChangeAspect="1"/>
          </p:cNvPicPr>
          <p:nvPr/>
        </p:nvPicPr>
        <p:blipFill>
          <a:blip r:embed="rId2"/>
          <a:stretch>
            <a:fillRect/>
          </a:stretch>
        </p:blipFill>
        <p:spPr>
          <a:xfrm>
            <a:off x="8396935" y="5982021"/>
            <a:ext cx="3383280" cy="491931"/>
          </a:xfrm>
          <a:prstGeom prst="rect">
            <a:avLst/>
          </a:prstGeom>
        </p:spPr>
      </p:pic>
      <p:sp>
        <p:nvSpPr>
          <p:cNvPr id="6" name="Shape 2"/>
          <p:cNvSpPr/>
          <p:nvPr/>
        </p:nvSpPr>
        <p:spPr>
          <a:xfrm>
            <a:off x="4760824" y="384048"/>
            <a:ext cx="2670048" cy="566928"/>
          </a:xfrm>
          <a:prstGeom prst="rect">
            <a:avLst/>
          </a:prstGeom>
          <a:solidFill>
            <a:srgbClr val="C00000"/>
          </a:solidFill>
          <a:ln/>
        </p:spPr>
      </p:sp>
      <p:sp>
        <p:nvSpPr>
          <p:cNvPr id="7" name="Text 3"/>
          <p:cNvSpPr/>
          <p:nvPr/>
        </p:nvSpPr>
        <p:spPr>
          <a:xfrm>
            <a:off x="4760824" y="384048"/>
            <a:ext cx="267004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Introduction</a:t>
            </a:r>
            <a:endParaRPr lang="en-US" sz="2400" dirty="0"/>
          </a:p>
        </p:txBody>
      </p:sp>
      <p:sp>
        <p:nvSpPr>
          <p:cNvPr id="8" name="Text 4"/>
          <p:cNvSpPr/>
          <p:nvPr/>
        </p:nvSpPr>
        <p:spPr>
          <a:xfrm>
            <a:off x="548640" y="1417320"/>
            <a:ext cx="6126480" cy="4114800"/>
          </a:xfrm>
          <a:prstGeom prst="rect">
            <a:avLst/>
          </a:prstGeom>
          <a:noFill/>
          <a:ln/>
        </p:spPr>
        <p:txBody>
          <a:bodyPr wrap="square" lIns="0" tIns="0" rIns="0" bIns="0" rtlCol="0" anchor="t"/>
          <a:lstStyle/>
          <a:p>
            <a:pPr indent="0" marL="0">
              <a:lnSpc>
                <a:spcPct val="125000"/>
              </a:lnSpc>
              <a:buNone/>
            </a:pPr>
            <a:r>
              <a:rPr lang="en-US" sz="1500" b="1" dirty="0">
                <a:solidFill>
                  <a:srgbClr val="C00000"/>
                </a:solidFill>
                <a:latin typeface="Calibri" pitchFamily="34" charset="0"/>
                <a:ea typeface="Calibri" pitchFamily="34" charset="-122"/>
                <a:cs typeface="Calibri" pitchFamily="34" charset="-120"/>
              </a:rPr>
              <a:t>Definition
</a:t>
            </a:r>
            <a:endParaRPr lang="en-US" sz="1500" dirty="0"/>
          </a:p>
          <a:p>
            <a:pPr indent="0" marL="0">
              <a:lnSpc>
                <a:spcPct val="125000"/>
              </a:lnSpc>
              <a:buNone/>
            </a:pPr>
            <a:r>
              <a:rPr lang="en-US" sz="1350" dirty="0">
                <a:solidFill>
                  <a:srgbClr val="262626"/>
                </a:solidFill>
                <a:latin typeface="Calibri" pitchFamily="34" charset="0"/>
                <a:ea typeface="Calibri" pitchFamily="34" charset="-122"/>
                <a:cs typeface="Calibri" pitchFamily="34" charset="-120"/>
              </a:rPr>
              <a:t>Modern software projects involve large, frequently changing codebases. Developers rely on code review to identify bugs, enforce quality standards, and maintain consistency — but manual review is time-consuming, inconsistent, and prone to missed issues as projects scale.
</a:t>
            </a:r>
            <a:endParaRPr lang="en-US" sz="1500" dirty="0"/>
          </a:p>
          <a:p>
            <a:pPr indent="0" marL="0">
              <a:lnSpc>
                <a:spcPct val="125000"/>
              </a:lnSpc>
              <a:buNone/>
            </a:pPr>
            <a:r>
              <a:rPr lang="en-US" sz="1500" b="1" dirty="0">
                <a:solidFill>
                  <a:srgbClr val="C00000"/>
                </a:solidFill>
                <a:latin typeface="Calibri" pitchFamily="34" charset="0"/>
                <a:ea typeface="Calibri" pitchFamily="34" charset="-122"/>
                <a:cs typeface="Calibri" pitchFamily="34" charset="-120"/>
              </a:rPr>
              <a:t>CodeInsight AI
</a:t>
            </a:r>
            <a:endParaRPr lang="en-US" sz="1500" dirty="0"/>
          </a:p>
          <a:p>
            <a:pPr indent="0" marL="0">
              <a:lnSpc>
                <a:spcPct val="125000"/>
              </a:lnSpc>
              <a:buNone/>
            </a:pPr>
            <a:r>
              <a:rPr lang="en-US" sz="1350" dirty="0">
                <a:solidFill>
                  <a:srgbClr val="262626"/>
                </a:solidFill>
                <a:latin typeface="Calibri" pitchFamily="34" charset="0"/>
                <a:ea typeface="Calibri" pitchFamily="34" charset="-122"/>
                <a:cs typeface="Calibri" pitchFamily="34" charset="-120"/>
              </a:rPr>
              <a:t>A web application designed to assist developers by automating code review and bug detection, pairing AI analysis with clear, actionable feedback.</a:t>
            </a:r>
            <a:endParaRPr lang="en-US" sz="1500" dirty="0"/>
          </a:p>
        </p:txBody>
      </p:sp>
      <p:sp>
        <p:nvSpPr>
          <p:cNvPr id="9" name="Shape 5"/>
          <p:cNvSpPr/>
          <p:nvPr/>
        </p:nvSpPr>
        <p:spPr>
          <a:xfrm>
            <a:off x="7040880" y="1554480"/>
            <a:ext cx="347472" cy="347472"/>
          </a:xfrm>
          <a:prstGeom prst="ellipse">
            <a:avLst/>
          </a:prstGeom>
          <a:solidFill>
            <a:srgbClr val="C00000"/>
          </a:solidFill>
          <a:ln/>
        </p:spPr>
      </p:sp>
      <p:sp>
        <p:nvSpPr>
          <p:cNvPr id="10" name="Text 6"/>
          <p:cNvSpPr/>
          <p:nvPr/>
        </p:nvSpPr>
        <p:spPr>
          <a:xfrm>
            <a:off x="7040880" y="15544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7"/>
          <p:cNvSpPr/>
          <p:nvPr/>
        </p:nvSpPr>
        <p:spPr>
          <a:xfrm>
            <a:off x="7543800" y="1499616"/>
            <a:ext cx="3977640" cy="292608"/>
          </a:xfrm>
          <a:prstGeom prst="rect">
            <a:avLst/>
          </a:prstGeom>
          <a:noFill/>
          <a:ln/>
        </p:spPr>
        <p:txBody>
          <a:bodyPr wrap="square" lIns="0" tIns="0" rIns="0" bIns="0" rtlCol="0" anchor="ctr"/>
          <a:lstStyle/>
          <a:p>
            <a:pPr indent="0" marL="0">
              <a:buNone/>
            </a:pPr>
            <a:r>
              <a:rPr lang="en-US" sz="1350" b="1" dirty="0">
                <a:solidFill>
                  <a:srgbClr val="C00000"/>
                </a:solidFill>
                <a:latin typeface="Calibri" pitchFamily="34" charset="0"/>
                <a:ea typeface="Calibri" pitchFamily="34" charset="-122"/>
                <a:cs typeface="Calibri" pitchFamily="34" charset="-120"/>
              </a:rPr>
              <a:t>Software Code</a:t>
            </a:r>
            <a:endParaRPr lang="en-US" sz="1350" dirty="0"/>
          </a:p>
        </p:txBody>
      </p:sp>
      <p:sp>
        <p:nvSpPr>
          <p:cNvPr id="12" name="Text 8"/>
          <p:cNvSpPr/>
          <p:nvPr/>
        </p:nvSpPr>
        <p:spPr>
          <a:xfrm>
            <a:off x="7543800" y="1773936"/>
            <a:ext cx="3977640" cy="502920"/>
          </a:xfrm>
          <a:prstGeom prst="rect">
            <a:avLst/>
          </a:prstGeom>
          <a:noFill/>
          <a:ln/>
        </p:spPr>
        <p:txBody>
          <a:bodyPr wrap="square" lIns="0" tIns="0" rIns="0" bIns="0" rtlCol="0" anchor="ctr"/>
          <a:lstStyle/>
          <a:p>
            <a:pPr indent="0" marL="0">
              <a:lnSpc>
                <a:spcPct val="115000"/>
              </a:lnSpc>
              <a:buNone/>
            </a:pPr>
            <a:r>
              <a:rPr lang="en-US" sz="1100" dirty="0">
                <a:solidFill>
                  <a:srgbClr val="555555"/>
                </a:solidFill>
                <a:latin typeface="Calibri" pitchFamily="34" charset="0"/>
                <a:ea typeface="Calibri" pitchFamily="34" charset="-122"/>
                <a:cs typeface="Calibri" pitchFamily="34" charset="-120"/>
              </a:rPr>
              <a:t>Large, evolving codebases that require regular review</a:t>
            </a:r>
            <a:endParaRPr lang="en-US" sz="1100" dirty="0"/>
          </a:p>
        </p:txBody>
      </p:sp>
      <p:sp>
        <p:nvSpPr>
          <p:cNvPr id="13" name="Shape 9"/>
          <p:cNvSpPr/>
          <p:nvPr/>
        </p:nvSpPr>
        <p:spPr>
          <a:xfrm>
            <a:off x="7040880" y="2514600"/>
            <a:ext cx="347472" cy="347472"/>
          </a:xfrm>
          <a:prstGeom prst="ellipse">
            <a:avLst/>
          </a:prstGeom>
          <a:solidFill>
            <a:srgbClr val="C00000"/>
          </a:solidFill>
          <a:ln/>
        </p:spPr>
      </p:sp>
      <p:sp>
        <p:nvSpPr>
          <p:cNvPr id="14" name="Text 10"/>
          <p:cNvSpPr/>
          <p:nvPr/>
        </p:nvSpPr>
        <p:spPr>
          <a:xfrm>
            <a:off x="7040880" y="25146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1"/>
          <p:cNvSpPr/>
          <p:nvPr/>
        </p:nvSpPr>
        <p:spPr>
          <a:xfrm>
            <a:off x="7543800" y="2459736"/>
            <a:ext cx="3977640" cy="292608"/>
          </a:xfrm>
          <a:prstGeom prst="rect">
            <a:avLst/>
          </a:prstGeom>
          <a:noFill/>
          <a:ln/>
        </p:spPr>
        <p:txBody>
          <a:bodyPr wrap="square" lIns="0" tIns="0" rIns="0" bIns="0" rtlCol="0" anchor="ctr"/>
          <a:lstStyle/>
          <a:p>
            <a:pPr indent="0" marL="0">
              <a:buNone/>
            </a:pPr>
            <a:r>
              <a:rPr lang="en-US" sz="1350" b="1" dirty="0">
                <a:solidFill>
                  <a:srgbClr val="C00000"/>
                </a:solidFill>
                <a:latin typeface="Calibri" pitchFamily="34" charset="0"/>
                <a:ea typeface="Calibri" pitchFamily="34" charset="-122"/>
                <a:cs typeface="Calibri" pitchFamily="34" charset="-120"/>
              </a:rPr>
              <a:t>Review Challenges</a:t>
            </a:r>
            <a:endParaRPr lang="en-US" sz="1350" dirty="0"/>
          </a:p>
        </p:txBody>
      </p:sp>
      <p:sp>
        <p:nvSpPr>
          <p:cNvPr id="16" name="Text 12"/>
          <p:cNvSpPr/>
          <p:nvPr/>
        </p:nvSpPr>
        <p:spPr>
          <a:xfrm>
            <a:off x="7543800" y="2734056"/>
            <a:ext cx="3977640" cy="502920"/>
          </a:xfrm>
          <a:prstGeom prst="rect">
            <a:avLst/>
          </a:prstGeom>
          <a:noFill/>
          <a:ln/>
        </p:spPr>
        <p:txBody>
          <a:bodyPr wrap="square" lIns="0" tIns="0" rIns="0" bIns="0" rtlCol="0" anchor="ctr"/>
          <a:lstStyle/>
          <a:p>
            <a:pPr indent="0" marL="0">
              <a:lnSpc>
                <a:spcPct val="115000"/>
              </a:lnSpc>
              <a:buNone/>
            </a:pPr>
            <a:r>
              <a:rPr lang="en-US" sz="1100" dirty="0">
                <a:solidFill>
                  <a:srgbClr val="555555"/>
                </a:solidFill>
                <a:latin typeface="Calibri" pitchFamily="34" charset="0"/>
                <a:ea typeface="Calibri" pitchFamily="34" charset="-122"/>
                <a:cs typeface="Calibri" pitchFamily="34" charset="-120"/>
              </a:rPr>
              <a:t>Manual review is slow, inconsistent, and misses issues</a:t>
            </a:r>
            <a:endParaRPr lang="en-US" sz="1100" dirty="0"/>
          </a:p>
        </p:txBody>
      </p:sp>
      <p:sp>
        <p:nvSpPr>
          <p:cNvPr id="17" name="Shape 13"/>
          <p:cNvSpPr/>
          <p:nvPr/>
        </p:nvSpPr>
        <p:spPr>
          <a:xfrm>
            <a:off x="7040880" y="3474720"/>
            <a:ext cx="347472" cy="347472"/>
          </a:xfrm>
          <a:prstGeom prst="ellipse">
            <a:avLst/>
          </a:prstGeom>
          <a:solidFill>
            <a:srgbClr val="C00000"/>
          </a:solidFill>
          <a:ln/>
        </p:spPr>
      </p:sp>
      <p:sp>
        <p:nvSpPr>
          <p:cNvPr id="18" name="Text 14"/>
          <p:cNvSpPr/>
          <p:nvPr/>
        </p:nvSpPr>
        <p:spPr>
          <a:xfrm>
            <a:off x="7040880" y="34747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5"/>
          <p:cNvSpPr/>
          <p:nvPr/>
        </p:nvSpPr>
        <p:spPr>
          <a:xfrm>
            <a:off x="7543800" y="3419856"/>
            <a:ext cx="3977640" cy="292608"/>
          </a:xfrm>
          <a:prstGeom prst="rect">
            <a:avLst/>
          </a:prstGeom>
          <a:noFill/>
          <a:ln/>
        </p:spPr>
        <p:txBody>
          <a:bodyPr wrap="square" lIns="0" tIns="0" rIns="0" bIns="0" rtlCol="0" anchor="ctr"/>
          <a:lstStyle/>
          <a:p>
            <a:pPr indent="0" marL="0">
              <a:buNone/>
            </a:pPr>
            <a:r>
              <a:rPr lang="en-US" sz="1350" b="1" dirty="0">
                <a:solidFill>
                  <a:srgbClr val="C00000"/>
                </a:solidFill>
                <a:latin typeface="Calibri" pitchFamily="34" charset="0"/>
                <a:ea typeface="Calibri" pitchFamily="34" charset="-122"/>
                <a:cs typeface="Calibri" pitchFamily="34" charset="-120"/>
              </a:rPr>
              <a:t>AI-Powered Analysis</a:t>
            </a:r>
            <a:endParaRPr lang="en-US" sz="1350" dirty="0"/>
          </a:p>
        </p:txBody>
      </p:sp>
      <p:sp>
        <p:nvSpPr>
          <p:cNvPr id="20" name="Text 16"/>
          <p:cNvSpPr/>
          <p:nvPr/>
        </p:nvSpPr>
        <p:spPr>
          <a:xfrm>
            <a:off x="7543800" y="3694176"/>
            <a:ext cx="3977640" cy="502920"/>
          </a:xfrm>
          <a:prstGeom prst="rect">
            <a:avLst/>
          </a:prstGeom>
          <a:noFill/>
          <a:ln/>
        </p:spPr>
        <p:txBody>
          <a:bodyPr wrap="square" lIns="0" tIns="0" rIns="0" bIns="0" rtlCol="0" anchor="ctr"/>
          <a:lstStyle/>
          <a:p>
            <a:pPr indent="0" marL="0">
              <a:lnSpc>
                <a:spcPct val="115000"/>
              </a:lnSpc>
              <a:buNone/>
            </a:pPr>
            <a:r>
              <a:rPr lang="en-US" sz="1100" dirty="0">
                <a:solidFill>
                  <a:srgbClr val="555555"/>
                </a:solidFill>
                <a:latin typeface="Calibri" pitchFamily="34" charset="0"/>
                <a:ea typeface="Calibri" pitchFamily="34" charset="-122"/>
                <a:cs typeface="Calibri" pitchFamily="34" charset="-120"/>
              </a:rPr>
              <a:t>Automated, intelligent understanding of submitted code</a:t>
            </a:r>
            <a:endParaRPr lang="en-US" sz="1100" dirty="0"/>
          </a:p>
        </p:txBody>
      </p:sp>
      <p:sp>
        <p:nvSpPr>
          <p:cNvPr id="21" name="Shape 17"/>
          <p:cNvSpPr/>
          <p:nvPr/>
        </p:nvSpPr>
        <p:spPr>
          <a:xfrm>
            <a:off x="7040880" y="4434840"/>
            <a:ext cx="347472" cy="347472"/>
          </a:xfrm>
          <a:prstGeom prst="ellipse">
            <a:avLst/>
          </a:prstGeom>
          <a:solidFill>
            <a:srgbClr val="C00000"/>
          </a:solidFill>
          <a:ln/>
        </p:spPr>
      </p:sp>
      <p:sp>
        <p:nvSpPr>
          <p:cNvPr id="22" name="Text 18"/>
          <p:cNvSpPr/>
          <p:nvPr/>
        </p:nvSpPr>
        <p:spPr>
          <a:xfrm>
            <a:off x="7040880" y="443484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19"/>
          <p:cNvSpPr/>
          <p:nvPr/>
        </p:nvSpPr>
        <p:spPr>
          <a:xfrm>
            <a:off x="7543800" y="4379976"/>
            <a:ext cx="3977640" cy="292608"/>
          </a:xfrm>
          <a:prstGeom prst="rect">
            <a:avLst/>
          </a:prstGeom>
          <a:noFill/>
          <a:ln/>
        </p:spPr>
        <p:txBody>
          <a:bodyPr wrap="square" lIns="0" tIns="0" rIns="0" bIns="0" rtlCol="0" anchor="ctr"/>
          <a:lstStyle/>
          <a:p>
            <a:pPr indent="0" marL="0">
              <a:buNone/>
            </a:pPr>
            <a:r>
              <a:rPr lang="en-US" sz="1350" b="1" dirty="0">
                <a:solidFill>
                  <a:srgbClr val="C00000"/>
                </a:solidFill>
                <a:latin typeface="Calibri" pitchFamily="34" charset="0"/>
                <a:ea typeface="Calibri" pitchFamily="34" charset="-122"/>
                <a:cs typeface="Calibri" pitchFamily="34" charset="-120"/>
              </a:rPr>
              <a:t>Actionable Feedback</a:t>
            </a:r>
            <a:endParaRPr lang="en-US" sz="1350" dirty="0"/>
          </a:p>
        </p:txBody>
      </p:sp>
      <p:sp>
        <p:nvSpPr>
          <p:cNvPr id="24" name="Text 20"/>
          <p:cNvSpPr/>
          <p:nvPr/>
        </p:nvSpPr>
        <p:spPr>
          <a:xfrm>
            <a:off x="7543800" y="4654296"/>
            <a:ext cx="3977640" cy="502920"/>
          </a:xfrm>
          <a:prstGeom prst="rect">
            <a:avLst/>
          </a:prstGeom>
          <a:noFill/>
          <a:ln/>
        </p:spPr>
        <p:txBody>
          <a:bodyPr wrap="square" lIns="0" tIns="0" rIns="0" bIns="0" rtlCol="0" anchor="ctr"/>
          <a:lstStyle/>
          <a:p>
            <a:pPr indent="0" marL="0">
              <a:lnSpc>
                <a:spcPct val="115000"/>
              </a:lnSpc>
              <a:buNone/>
            </a:pPr>
            <a:r>
              <a:rPr lang="en-US" sz="1100" dirty="0">
                <a:solidFill>
                  <a:srgbClr val="555555"/>
                </a:solidFill>
                <a:latin typeface="Calibri" pitchFamily="34" charset="0"/>
                <a:ea typeface="Calibri" pitchFamily="34" charset="-122"/>
                <a:cs typeface="Calibri" pitchFamily="34" charset="-120"/>
              </a:rPr>
              <a:t>Clear suggestions developers can act on immediately</a:t>
            </a:r>
            <a:endParaRPr lang="en-US" sz="1100" dirty="0"/>
          </a:p>
        </p:txBody>
      </p:sp>
      <p:sp>
        <p:nvSpPr>
          <p:cNvPr id="25" name="Text 21"/>
          <p:cNvSpPr/>
          <p:nvPr/>
        </p:nvSpPr>
        <p:spPr>
          <a:xfrm>
            <a:off x="320040" y="6355080"/>
            <a:ext cx="36576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12045391" cy="6711696"/>
          </a:xfrm>
          <a:prstGeom prst="rect">
            <a:avLst/>
          </a:prstGeom>
          <a:ln w="57150">
            <a:solidFill>
              <a:srgbClr val="000000"/>
            </a:solidFill>
            <a:prstDash val="solid"/>
          </a:ln>
        </p:spPr>
      </p:sp>
      <p:pic>
        <p:nvPicPr>
          <p:cNvPr id="3" name="Image 0" descr="/home/claude/logo_final.png">    </p:cNvPr>
          <p:cNvPicPr>
            <a:picLocks noChangeAspect="1"/>
          </p:cNvPicPr>
          <p:nvPr/>
        </p:nvPicPr>
        <p:blipFill>
          <a:blip r:embed="rId1"/>
          <a:stretch>
            <a:fillRect/>
          </a:stretch>
        </p:blipFill>
        <p:spPr>
          <a:xfrm>
            <a:off x="10591495" y="274320"/>
            <a:ext cx="1234440" cy="318424"/>
          </a:xfrm>
          <a:prstGeom prst="rect">
            <a:avLst/>
          </a:prstGeom>
        </p:spPr>
      </p:pic>
      <p:sp>
        <p:nvSpPr>
          <p:cNvPr id="4" name="Shape 1"/>
          <p:cNvSpPr/>
          <p:nvPr/>
        </p:nvSpPr>
        <p:spPr>
          <a:xfrm>
            <a:off x="320040" y="6227987"/>
            <a:ext cx="7894015" cy="0"/>
          </a:xfrm>
          <a:prstGeom prst="line">
            <a:avLst/>
          </a:prstGeom>
          <a:noFill/>
          <a:ln w="25400">
            <a:solidFill>
              <a:srgbClr val="ED7D31"/>
            </a:solidFill>
            <a:prstDash val="solid"/>
          </a:ln>
        </p:spPr>
      </p:sp>
      <p:pic>
        <p:nvPicPr>
          <p:cNvPr id="5" name="Image 1" descr="/home/claude/box_final2.png">    </p:cNvPr>
          <p:cNvPicPr>
            <a:picLocks noChangeAspect="1"/>
          </p:cNvPicPr>
          <p:nvPr/>
        </p:nvPicPr>
        <p:blipFill>
          <a:blip r:embed="rId2"/>
          <a:stretch>
            <a:fillRect/>
          </a:stretch>
        </p:blipFill>
        <p:spPr>
          <a:xfrm>
            <a:off x="8396935" y="5982021"/>
            <a:ext cx="3383280" cy="491931"/>
          </a:xfrm>
          <a:prstGeom prst="rect">
            <a:avLst/>
          </a:prstGeom>
        </p:spPr>
      </p:pic>
      <p:sp>
        <p:nvSpPr>
          <p:cNvPr id="6" name="Shape 2"/>
          <p:cNvSpPr/>
          <p:nvPr/>
        </p:nvSpPr>
        <p:spPr>
          <a:xfrm>
            <a:off x="4815688" y="384048"/>
            <a:ext cx="2560320" cy="566928"/>
          </a:xfrm>
          <a:prstGeom prst="rect">
            <a:avLst/>
          </a:prstGeom>
          <a:solidFill>
            <a:srgbClr val="C00000"/>
          </a:solidFill>
          <a:ln/>
        </p:spPr>
      </p:sp>
      <p:sp>
        <p:nvSpPr>
          <p:cNvPr id="7" name="Text 3"/>
          <p:cNvSpPr/>
          <p:nvPr/>
        </p:nvSpPr>
        <p:spPr>
          <a:xfrm>
            <a:off x="4815688" y="384048"/>
            <a:ext cx="2560320"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Abstract</a:t>
            </a:r>
            <a:endParaRPr lang="en-US" sz="2400" dirty="0"/>
          </a:p>
        </p:txBody>
      </p:sp>
      <p:sp>
        <p:nvSpPr>
          <p:cNvPr id="8" name="Text 4"/>
          <p:cNvSpPr/>
          <p:nvPr/>
        </p:nvSpPr>
        <p:spPr>
          <a:xfrm>
            <a:off x="548640" y="1417320"/>
            <a:ext cx="11064240" cy="914400"/>
          </a:xfrm>
          <a:prstGeom prst="rect">
            <a:avLst/>
          </a:prstGeom>
          <a:noFill/>
          <a:ln/>
        </p:spPr>
        <p:txBody>
          <a:bodyPr wrap="square" lIns="0" tIns="0" rIns="0" bIns="0" rtlCol="0" anchor="t"/>
          <a:lstStyle/>
          <a:p>
            <a:pPr indent="0" marL="0">
              <a:lnSpc>
                <a:spcPct val="122000"/>
              </a:lnSpc>
              <a:buNone/>
            </a:pPr>
            <a:r>
              <a:rPr lang="en-US" sz="1300" dirty="0">
                <a:solidFill>
                  <a:srgbClr val="262626"/>
                </a:solidFill>
                <a:latin typeface="Calibri" pitchFamily="34" charset="0"/>
                <a:ea typeface="Calibri" pitchFamily="34" charset="-122"/>
                <a:cs typeface="Calibri" pitchFamily="34" charset="-120"/>
              </a:rPr>
              <a:t>CodeInsight AI assists developers with source code review, bug detection, and quality analysis. Users upload code or connect a GitHub repository; the backend processes submissions through the Gemini AI API, which identifies bugs, coding issues, and improvement areas. The system produces AI suggestions, a code quality score, and a review summary.</a:t>
            </a:r>
            <a:endParaRPr lang="en-US" sz="1300" dirty="0"/>
          </a:p>
        </p:txBody>
      </p:sp>
      <p:sp>
        <p:nvSpPr>
          <p:cNvPr id="9" name="Shape 5"/>
          <p:cNvSpPr/>
          <p:nvPr/>
        </p:nvSpPr>
        <p:spPr>
          <a:xfrm>
            <a:off x="548640" y="2514600"/>
            <a:ext cx="2606040" cy="1554480"/>
          </a:xfrm>
          <a:prstGeom prst="rect">
            <a:avLst/>
          </a:prstGeom>
          <a:solidFill>
            <a:srgbClr val="FFFFFF"/>
          </a:solidFill>
          <a:ln w="12700">
            <a:solidFill>
              <a:srgbClr val="D9D9D9"/>
            </a:solidFill>
            <a:prstDash val="solid"/>
          </a:ln>
        </p:spPr>
      </p:sp>
      <p:sp>
        <p:nvSpPr>
          <p:cNvPr id="10" name="Shape 6"/>
          <p:cNvSpPr/>
          <p:nvPr/>
        </p:nvSpPr>
        <p:spPr>
          <a:xfrm>
            <a:off x="749808" y="2715768"/>
            <a:ext cx="329184" cy="329184"/>
          </a:xfrm>
          <a:prstGeom prst="ellipse">
            <a:avLst/>
          </a:prstGeom>
          <a:solidFill>
            <a:srgbClr val="C00000"/>
          </a:solidFill>
          <a:ln/>
        </p:spPr>
      </p:sp>
      <p:sp>
        <p:nvSpPr>
          <p:cNvPr id="11" name="Text 7"/>
          <p:cNvSpPr/>
          <p:nvPr/>
        </p:nvSpPr>
        <p:spPr>
          <a:xfrm>
            <a:off x="749808" y="27157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8"/>
          <p:cNvSpPr/>
          <p:nvPr/>
        </p:nvSpPr>
        <p:spPr>
          <a:xfrm>
            <a:off x="749808" y="3154680"/>
            <a:ext cx="2203704" cy="457200"/>
          </a:xfrm>
          <a:prstGeom prst="rect">
            <a:avLst/>
          </a:prstGeom>
          <a:noFill/>
          <a:ln/>
        </p:spPr>
        <p:txBody>
          <a:bodyPr wrap="square" lIns="0" tIns="0" rIns="0" bIns="0" rtlCol="0" anchor="ctr"/>
          <a:lstStyle/>
          <a:p>
            <a:pPr indent="0" marL="0">
              <a:buNone/>
            </a:pPr>
            <a:r>
              <a:rPr lang="en-US" sz="1300" b="1" dirty="0">
                <a:solidFill>
                  <a:srgbClr val="C00000"/>
                </a:solidFill>
                <a:latin typeface="Calibri" pitchFamily="34" charset="0"/>
                <a:ea typeface="Calibri" pitchFamily="34" charset="-122"/>
                <a:cs typeface="Calibri" pitchFamily="34" charset="-120"/>
              </a:rPr>
              <a:t>Code Input</a:t>
            </a:r>
            <a:endParaRPr lang="en-US" sz="1300" dirty="0"/>
          </a:p>
        </p:txBody>
      </p:sp>
      <p:sp>
        <p:nvSpPr>
          <p:cNvPr id="13" name="Text 9"/>
          <p:cNvSpPr/>
          <p:nvPr/>
        </p:nvSpPr>
        <p:spPr>
          <a:xfrm>
            <a:off x="749808" y="3520440"/>
            <a:ext cx="2203704" cy="502920"/>
          </a:xfrm>
          <a:prstGeom prst="rect">
            <a:avLst/>
          </a:prstGeom>
          <a:noFill/>
          <a:ln/>
        </p:spPr>
        <p:txBody>
          <a:bodyPr wrap="square" lIns="0" tIns="0" rIns="0" bIns="0" rtlCol="0" anchor="ctr"/>
          <a:lstStyle/>
          <a:p>
            <a:pPr indent="0" marL="0">
              <a:lnSpc>
                <a:spcPct val="112000"/>
              </a:lnSpc>
              <a:buNone/>
            </a:pPr>
            <a:r>
              <a:rPr lang="en-US" sz="1000" dirty="0">
                <a:solidFill>
                  <a:srgbClr val="555555"/>
                </a:solidFill>
                <a:latin typeface="Calibri" pitchFamily="34" charset="0"/>
                <a:ea typeface="Calibri" pitchFamily="34" charset="-122"/>
                <a:cs typeface="Calibri" pitchFamily="34" charset="-120"/>
              </a:rPr>
              <a:t>Upload source code or connect a GitHub repository</a:t>
            </a:r>
            <a:endParaRPr lang="en-US" sz="1000" dirty="0"/>
          </a:p>
        </p:txBody>
      </p:sp>
      <p:sp>
        <p:nvSpPr>
          <p:cNvPr id="14" name="Shape 10"/>
          <p:cNvSpPr/>
          <p:nvPr/>
        </p:nvSpPr>
        <p:spPr>
          <a:xfrm>
            <a:off x="3355848" y="2514600"/>
            <a:ext cx="2606040" cy="1554480"/>
          </a:xfrm>
          <a:prstGeom prst="rect">
            <a:avLst/>
          </a:prstGeom>
          <a:solidFill>
            <a:srgbClr val="FFFFFF"/>
          </a:solidFill>
          <a:ln w="12700">
            <a:solidFill>
              <a:srgbClr val="D9D9D9"/>
            </a:solidFill>
            <a:prstDash val="solid"/>
          </a:ln>
        </p:spPr>
      </p:sp>
      <p:sp>
        <p:nvSpPr>
          <p:cNvPr id="15" name="Shape 11"/>
          <p:cNvSpPr/>
          <p:nvPr/>
        </p:nvSpPr>
        <p:spPr>
          <a:xfrm>
            <a:off x="3557016" y="2715768"/>
            <a:ext cx="329184" cy="329184"/>
          </a:xfrm>
          <a:prstGeom prst="ellipse">
            <a:avLst/>
          </a:prstGeom>
          <a:solidFill>
            <a:srgbClr val="C00000"/>
          </a:solidFill>
          <a:ln/>
        </p:spPr>
      </p:sp>
      <p:sp>
        <p:nvSpPr>
          <p:cNvPr id="16" name="Text 12"/>
          <p:cNvSpPr/>
          <p:nvPr/>
        </p:nvSpPr>
        <p:spPr>
          <a:xfrm>
            <a:off x="3557016" y="27157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3"/>
          <p:cNvSpPr/>
          <p:nvPr/>
        </p:nvSpPr>
        <p:spPr>
          <a:xfrm>
            <a:off x="3557016" y="3154680"/>
            <a:ext cx="2203704" cy="457200"/>
          </a:xfrm>
          <a:prstGeom prst="rect">
            <a:avLst/>
          </a:prstGeom>
          <a:noFill/>
          <a:ln/>
        </p:spPr>
        <p:txBody>
          <a:bodyPr wrap="square" lIns="0" tIns="0" rIns="0" bIns="0" rtlCol="0" anchor="ctr"/>
          <a:lstStyle/>
          <a:p>
            <a:pPr indent="0" marL="0">
              <a:buNone/>
            </a:pPr>
            <a:r>
              <a:rPr lang="en-US" sz="1300" b="1" dirty="0">
                <a:solidFill>
                  <a:srgbClr val="C00000"/>
                </a:solidFill>
                <a:latin typeface="Calibri" pitchFamily="34" charset="0"/>
                <a:ea typeface="Calibri" pitchFamily="34" charset="-122"/>
                <a:cs typeface="Calibri" pitchFamily="34" charset="-120"/>
              </a:rPr>
              <a:t>Backend Processing</a:t>
            </a:r>
            <a:endParaRPr lang="en-US" sz="1300" dirty="0"/>
          </a:p>
        </p:txBody>
      </p:sp>
      <p:sp>
        <p:nvSpPr>
          <p:cNvPr id="18" name="Text 14"/>
          <p:cNvSpPr/>
          <p:nvPr/>
        </p:nvSpPr>
        <p:spPr>
          <a:xfrm>
            <a:off x="3557016" y="3520440"/>
            <a:ext cx="2203704" cy="502920"/>
          </a:xfrm>
          <a:prstGeom prst="rect">
            <a:avLst/>
          </a:prstGeom>
          <a:noFill/>
          <a:ln/>
        </p:spPr>
        <p:txBody>
          <a:bodyPr wrap="square" lIns="0" tIns="0" rIns="0" bIns="0" rtlCol="0" anchor="ctr"/>
          <a:lstStyle/>
          <a:p>
            <a:pPr indent="0" marL="0">
              <a:lnSpc>
                <a:spcPct val="112000"/>
              </a:lnSpc>
              <a:buNone/>
            </a:pPr>
            <a:r>
              <a:rPr lang="en-US" sz="1000" dirty="0">
                <a:solidFill>
                  <a:srgbClr val="555555"/>
                </a:solidFill>
                <a:latin typeface="Calibri" pitchFamily="34" charset="0"/>
                <a:ea typeface="Calibri" pitchFamily="34" charset="-122"/>
                <a:cs typeface="Calibri" pitchFamily="34" charset="-120"/>
              </a:rPr>
              <a:t>FastAPI/Python backend receives and prepares code</a:t>
            </a:r>
            <a:endParaRPr lang="en-US" sz="1000" dirty="0"/>
          </a:p>
        </p:txBody>
      </p:sp>
      <p:sp>
        <p:nvSpPr>
          <p:cNvPr id="19" name="Shape 15"/>
          <p:cNvSpPr/>
          <p:nvPr/>
        </p:nvSpPr>
        <p:spPr>
          <a:xfrm>
            <a:off x="6163056" y="2514600"/>
            <a:ext cx="2606040" cy="1554480"/>
          </a:xfrm>
          <a:prstGeom prst="rect">
            <a:avLst/>
          </a:prstGeom>
          <a:solidFill>
            <a:srgbClr val="FFFFFF"/>
          </a:solidFill>
          <a:ln w="12700">
            <a:solidFill>
              <a:srgbClr val="D9D9D9"/>
            </a:solidFill>
            <a:prstDash val="solid"/>
          </a:ln>
        </p:spPr>
      </p:sp>
      <p:sp>
        <p:nvSpPr>
          <p:cNvPr id="20" name="Shape 16"/>
          <p:cNvSpPr/>
          <p:nvPr/>
        </p:nvSpPr>
        <p:spPr>
          <a:xfrm>
            <a:off x="6364224" y="2715768"/>
            <a:ext cx="329184" cy="329184"/>
          </a:xfrm>
          <a:prstGeom prst="ellipse">
            <a:avLst/>
          </a:prstGeom>
          <a:solidFill>
            <a:srgbClr val="C00000"/>
          </a:solidFill>
          <a:ln/>
        </p:spPr>
      </p:sp>
      <p:sp>
        <p:nvSpPr>
          <p:cNvPr id="21" name="Text 17"/>
          <p:cNvSpPr/>
          <p:nvPr/>
        </p:nvSpPr>
        <p:spPr>
          <a:xfrm>
            <a:off x="6364224" y="27157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18"/>
          <p:cNvSpPr/>
          <p:nvPr/>
        </p:nvSpPr>
        <p:spPr>
          <a:xfrm>
            <a:off x="6364224" y="3154680"/>
            <a:ext cx="2203704" cy="457200"/>
          </a:xfrm>
          <a:prstGeom prst="rect">
            <a:avLst/>
          </a:prstGeom>
          <a:noFill/>
          <a:ln/>
        </p:spPr>
        <p:txBody>
          <a:bodyPr wrap="square" lIns="0" tIns="0" rIns="0" bIns="0" rtlCol="0" anchor="ctr"/>
          <a:lstStyle/>
          <a:p>
            <a:pPr indent="0" marL="0">
              <a:buNone/>
            </a:pPr>
            <a:r>
              <a:rPr lang="en-US" sz="1300" b="1" dirty="0">
                <a:solidFill>
                  <a:srgbClr val="C00000"/>
                </a:solidFill>
                <a:latin typeface="Calibri" pitchFamily="34" charset="0"/>
                <a:ea typeface="Calibri" pitchFamily="34" charset="-122"/>
                <a:cs typeface="Calibri" pitchFamily="34" charset="-120"/>
              </a:rPr>
              <a:t>AI Code Analysis</a:t>
            </a:r>
            <a:endParaRPr lang="en-US" sz="1300" dirty="0"/>
          </a:p>
        </p:txBody>
      </p:sp>
      <p:sp>
        <p:nvSpPr>
          <p:cNvPr id="23" name="Text 19"/>
          <p:cNvSpPr/>
          <p:nvPr/>
        </p:nvSpPr>
        <p:spPr>
          <a:xfrm>
            <a:off x="6364224" y="3520440"/>
            <a:ext cx="2203704" cy="502920"/>
          </a:xfrm>
          <a:prstGeom prst="rect">
            <a:avLst/>
          </a:prstGeom>
          <a:noFill/>
          <a:ln/>
        </p:spPr>
        <p:txBody>
          <a:bodyPr wrap="square" lIns="0" tIns="0" rIns="0" bIns="0" rtlCol="0" anchor="ctr"/>
          <a:lstStyle/>
          <a:p>
            <a:pPr indent="0" marL="0">
              <a:lnSpc>
                <a:spcPct val="112000"/>
              </a:lnSpc>
              <a:buNone/>
            </a:pPr>
            <a:r>
              <a:rPr lang="en-US" sz="1000" dirty="0">
                <a:solidFill>
                  <a:srgbClr val="555555"/>
                </a:solidFill>
                <a:latin typeface="Calibri" pitchFamily="34" charset="0"/>
                <a:ea typeface="Calibri" pitchFamily="34" charset="-122"/>
                <a:cs typeface="Calibri" pitchFamily="34" charset="-120"/>
              </a:rPr>
              <a:t>Gemini AI API analyzes code for bugs and quality</a:t>
            </a:r>
            <a:endParaRPr lang="en-US" sz="1000" dirty="0"/>
          </a:p>
        </p:txBody>
      </p:sp>
      <p:sp>
        <p:nvSpPr>
          <p:cNvPr id="24" name="Shape 20"/>
          <p:cNvSpPr/>
          <p:nvPr/>
        </p:nvSpPr>
        <p:spPr>
          <a:xfrm>
            <a:off x="8970264" y="2514600"/>
            <a:ext cx="2606040" cy="1554480"/>
          </a:xfrm>
          <a:prstGeom prst="rect">
            <a:avLst/>
          </a:prstGeom>
          <a:solidFill>
            <a:srgbClr val="FFFFFF"/>
          </a:solidFill>
          <a:ln w="12700">
            <a:solidFill>
              <a:srgbClr val="D9D9D9"/>
            </a:solidFill>
            <a:prstDash val="solid"/>
          </a:ln>
        </p:spPr>
      </p:sp>
      <p:sp>
        <p:nvSpPr>
          <p:cNvPr id="25" name="Shape 21"/>
          <p:cNvSpPr/>
          <p:nvPr/>
        </p:nvSpPr>
        <p:spPr>
          <a:xfrm>
            <a:off x="9171432" y="2715768"/>
            <a:ext cx="329184" cy="329184"/>
          </a:xfrm>
          <a:prstGeom prst="ellipse">
            <a:avLst/>
          </a:prstGeom>
          <a:solidFill>
            <a:srgbClr val="C00000"/>
          </a:solidFill>
          <a:ln/>
        </p:spPr>
      </p:sp>
      <p:sp>
        <p:nvSpPr>
          <p:cNvPr id="26" name="Text 22"/>
          <p:cNvSpPr/>
          <p:nvPr/>
        </p:nvSpPr>
        <p:spPr>
          <a:xfrm>
            <a:off x="9171432" y="27157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3"/>
          <p:cNvSpPr/>
          <p:nvPr/>
        </p:nvSpPr>
        <p:spPr>
          <a:xfrm>
            <a:off x="9171432" y="3154680"/>
            <a:ext cx="2203704" cy="457200"/>
          </a:xfrm>
          <a:prstGeom prst="rect">
            <a:avLst/>
          </a:prstGeom>
          <a:noFill/>
          <a:ln/>
        </p:spPr>
        <p:txBody>
          <a:bodyPr wrap="square" lIns="0" tIns="0" rIns="0" bIns="0" rtlCol="0" anchor="ctr"/>
          <a:lstStyle/>
          <a:p>
            <a:pPr indent="0" marL="0">
              <a:buNone/>
            </a:pPr>
            <a:r>
              <a:rPr lang="en-US" sz="1300" b="1" dirty="0">
                <a:solidFill>
                  <a:srgbClr val="C00000"/>
                </a:solidFill>
                <a:latin typeface="Calibri" pitchFamily="34" charset="0"/>
                <a:ea typeface="Calibri" pitchFamily="34" charset="-122"/>
                <a:cs typeface="Calibri" pitchFamily="34" charset="-120"/>
              </a:rPr>
              <a:t>Results &amp; Dashboard</a:t>
            </a:r>
            <a:endParaRPr lang="en-US" sz="1300" dirty="0"/>
          </a:p>
        </p:txBody>
      </p:sp>
      <p:sp>
        <p:nvSpPr>
          <p:cNvPr id="28" name="Text 24"/>
          <p:cNvSpPr/>
          <p:nvPr/>
        </p:nvSpPr>
        <p:spPr>
          <a:xfrm>
            <a:off x="9171432" y="3520440"/>
            <a:ext cx="2203704" cy="502920"/>
          </a:xfrm>
          <a:prstGeom prst="rect">
            <a:avLst/>
          </a:prstGeom>
          <a:noFill/>
          <a:ln/>
        </p:spPr>
        <p:txBody>
          <a:bodyPr wrap="square" lIns="0" tIns="0" rIns="0" bIns="0" rtlCol="0" anchor="ctr"/>
          <a:lstStyle/>
          <a:p>
            <a:pPr indent="0" marL="0">
              <a:lnSpc>
                <a:spcPct val="112000"/>
              </a:lnSpc>
              <a:buNone/>
            </a:pPr>
            <a:r>
              <a:rPr lang="en-US" sz="1000" dirty="0">
                <a:solidFill>
                  <a:srgbClr val="555555"/>
                </a:solidFill>
                <a:latin typeface="Calibri" pitchFamily="34" charset="0"/>
                <a:ea typeface="Calibri" pitchFamily="34" charset="-122"/>
                <a:cs typeface="Calibri" pitchFamily="34" charset="-120"/>
              </a:rPr>
              <a:t>Suggestions and scores are stored and displayed</a:t>
            </a:r>
            <a:endParaRPr lang="en-US" sz="1000" dirty="0"/>
          </a:p>
        </p:txBody>
      </p:sp>
      <p:sp>
        <p:nvSpPr>
          <p:cNvPr id="29" name="Text 25"/>
          <p:cNvSpPr/>
          <p:nvPr/>
        </p:nvSpPr>
        <p:spPr>
          <a:xfrm>
            <a:off x="548640" y="4343400"/>
            <a:ext cx="11064240" cy="32004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Technologies:  </a:t>
            </a:r>
            <a:pPr indent="0" marL="0">
              <a:buNone/>
            </a:pPr>
            <a:r>
              <a:rPr lang="en-US" sz="1250" dirty="0">
                <a:solidFill>
                  <a:srgbClr val="262626"/>
                </a:solidFill>
                <a:latin typeface="Calibri" pitchFamily="34" charset="0"/>
                <a:ea typeface="Calibri" pitchFamily="34" charset="-122"/>
                <a:cs typeface="Calibri" pitchFamily="34" charset="-120"/>
              </a:rPr>
              <a:t>React.js  ·  FastAPI / Python  ·  SQLite  ·  Gemini AI API  ·  GitHub API</a:t>
            </a:r>
            <a:endParaRPr lang="en-US" sz="1250" dirty="0"/>
          </a:p>
        </p:txBody>
      </p:sp>
      <p:sp>
        <p:nvSpPr>
          <p:cNvPr id="30" name="Shape 26"/>
          <p:cNvSpPr/>
          <p:nvPr/>
        </p:nvSpPr>
        <p:spPr>
          <a:xfrm>
            <a:off x="548640" y="4800600"/>
            <a:ext cx="11064240" cy="731520"/>
          </a:xfrm>
          <a:prstGeom prst="rect">
            <a:avLst/>
          </a:prstGeom>
          <a:solidFill>
            <a:srgbClr val="FBEAEA"/>
          </a:solidFill>
          <a:ln w="9525">
            <a:solidFill>
              <a:srgbClr val="C00000"/>
            </a:solidFill>
            <a:prstDash val="solid"/>
          </a:ln>
        </p:spPr>
      </p:sp>
      <p:sp>
        <p:nvSpPr>
          <p:cNvPr id="31" name="Text 27"/>
          <p:cNvSpPr/>
          <p:nvPr/>
        </p:nvSpPr>
        <p:spPr>
          <a:xfrm>
            <a:off x="777240" y="4800600"/>
            <a:ext cx="10607040" cy="731520"/>
          </a:xfrm>
          <a:prstGeom prst="rect">
            <a:avLst/>
          </a:prstGeom>
          <a:noFill/>
          <a:ln/>
        </p:spPr>
        <p:txBody>
          <a:bodyPr wrap="square" lIns="0" tIns="0" rIns="0" bIns="0" rtlCol="0" anchor="ctr"/>
          <a:lstStyle/>
          <a:p>
            <a:pPr indent="0" marL="0">
              <a:buNone/>
            </a:pPr>
            <a:r>
              <a:rPr lang="en-US" sz="1300" b="1" i="1" dirty="0">
                <a:solidFill>
                  <a:srgbClr val="C00000"/>
                </a:solidFill>
                <a:latin typeface="Calibri" pitchFamily="34" charset="0"/>
                <a:ea typeface="Calibri" pitchFamily="34" charset="-122"/>
                <a:cs typeface="Calibri" pitchFamily="34" charset="-120"/>
              </a:rPr>
              <a:t>Goal:  </a:t>
            </a:r>
            <a:pPr indent="0" marL="0">
              <a:buNone/>
            </a:pPr>
            <a:r>
              <a:rPr lang="en-US" sz="1300" i="1" dirty="0">
                <a:solidFill>
                  <a:srgbClr val="262626"/>
                </a:solidFill>
                <a:latin typeface="Calibri" pitchFamily="34" charset="0"/>
                <a:ea typeface="Calibri" pitchFamily="34" charset="-122"/>
                <a:cs typeface="Calibri" pitchFamily="34" charset="-120"/>
              </a:rPr>
              <a:t>Use Artificial Intelligence to reduce manual effort, improve code quality, and support faster, more consistent code reviews.</a:t>
            </a:r>
            <a:endParaRPr lang="en-US" sz="1300" dirty="0"/>
          </a:p>
        </p:txBody>
      </p:sp>
      <p:sp>
        <p:nvSpPr>
          <p:cNvPr id="32" name="Text 28"/>
          <p:cNvSpPr/>
          <p:nvPr/>
        </p:nvSpPr>
        <p:spPr>
          <a:xfrm>
            <a:off x="320040" y="6355080"/>
            <a:ext cx="36576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12045391" cy="6711696"/>
          </a:xfrm>
          <a:prstGeom prst="rect">
            <a:avLst/>
          </a:prstGeom>
          <a:ln w="57150">
            <a:solidFill>
              <a:srgbClr val="000000"/>
            </a:solidFill>
            <a:prstDash val="solid"/>
          </a:ln>
        </p:spPr>
      </p:sp>
      <p:pic>
        <p:nvPicPr>
          <p:cNvPr id="3" name="Image 0" descr="/home/claude/logo_final.png">    </p:cNvPr>
          <p:cNvPicPr>
            <a:picLocks noChangeAspect="1"/>
          </p:cNvPicPr>
          <p:nvPr/>
        </p:nvPicPr>
        <p:blipFill>
          <a:blip r:embed="rId1"/>
          <a:stretch>
            <a:fillRect/>
          </a:stretch>
        </p:blipFill>
        <p:spPr>
          <a:xfrm>
            <a:off x="10591495" y="274320"/>
            <a:ext cx="1234440" cy="318424"/>
          </a:xfrm>
          <a:prstGeom prst="rect">
            <a:avLst/>
          </a:prstGeom>
        </p:spPr>
      </p:pic>
      <p:sp>
        <p:nvSpPr>
          <p:cNvPr id="4" name="Shape 1"/>
          <p:cNvSpPr/>
          <p:nvPr/>
        </p:nvSpPr>
        <p:spPr>
          <a:xfrm>
            <a:off x="320040" y="6227987"/>
            <a:ext cx="7894015" cy="0"/>
          </a:xfrm>
          <a:prstGeom prst="line">
            <a:avLst/>
          </a:prstGeom>
          <a:noFill/>
          <a:ln w="25400">
            <a:solidFill>
              <a:srgbClr val="ED7D31"/>
            </a:solidFill>
            <a:prstDash val="solid"/>
          </a:ln>
        </p:spPr>
      </p:sp>
      <p:pic>
        <p:nvPicPr>
          <p:cNvPr id="5" name="Image 1" descr="/home/claude/box_final2.png">    </p:cNvPr>
          <p:cNvPicPr>
            <a:picLocks noChangeAspect="1"/>
          </p:cNvPicPr>
          <p:nvPr/>
        </p:nvPicPr>
        <p:blipFill>
          <a:blip r:embed="rId2"/>
          <a:stretch>
            <a:fillRect/>
          </a:stretch>
        </p:blipFill>
        <p:spPr>
          <a:xfrm>
            <a:off x="8396935" y="5982021"/>
            <a:ext cx="3383280" cy="491931"/>
          </a:xfrm>
          <a:prstGeom prst="rect">
            <a:avLst/>
          </a:prstGeom>
        </p:spPr>
      </p:pic>
      <p:sp>
        <p:nvSpPr>
          <p:cNvPr id="6" name="Shape 2"/>
          <p:cNvSpPr/>
          <p:nvPr/>
        </p:nvSpPr>
        <p:spPr>
          <a:xfrm>
            <a:off x="3992728" y="384048"/>
            <a:ext cx="4206240" cy="566928"/>
          </a:xfrm>
          <a:prstGeom prst="rect">
            <a:avLst/>
          </a:prstGeom>
          <a:solidFill>
            <a:srgbClr val="C00000"/>
          </a:solidFill>
          <a:ln/>
        </p:spPr>
      </p:sp>
      <p:sp>
        <p:nvSpPr>
          <p:cNvPr id="7" name="Text 3"/>
          <p:cNvSpPr/>
          <p:nvPr/>
        </p:nvSpPr>
        <p:spPr>
          <a:xfrm>
            <a:off x="3992728" y="384048"/>
            <a:ext cx="4206240"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Literature Survey</a:t>
            </a:r>
            <a:endParaRPr lang="en-US" sz="2400" dirty="0"/>
          </a:p>
        </p:txBody>
      </p:sp>
      <p:sp>
        <p:nvSpPr>
          <p:cNvPr id="8" name="Text 4"/>
          <p:cNvSpPr/>
          <p:nvPr/>
        </p:nvSpPr>
        <p:spPr>
          <a:xfrm>
            <a:off x="548640" y="1371600"/>
            <a:ext cx="11064240" cy="320040"/>
          </a:xfrm>
          <a:prstGeom prst="rect">
            <a:avLst/>
          </a:prstGeom>
          <a:noFill/>
          <a:ln/>
        </p:spPr>
        <p:txBody>
          <a:bodyPr wrap="square" lIns="0" tIns="0" rIns="0" bIns="0" rtlCol="0" anchor="ctr"/>
          <a:lstStyle/>
          <a:p>
            <a:pPr indent="0" marL="0">
              <a:buNone/>
            </a:pPr>
            <a:r>
              <a:rPr lang="en-US" sz="1250" i="1" dirty="0">
                <a:solidFill>
                  <a:srgbClr val="555555"/>
                </a:solidFill>
                <a:latin typeface="Calibri" pitchFamily="34" charset="0"/>
                <a:ea typeface="Calibri" pitchFamily="34" charset="-122"/>
                <a:cs typeface="Calibri" pitchFamily="34" charset="-120"/>
              </a:rPr>
              <a:t>Research in automated code review has evolved from static analysis to AI-assisted approaches using large language models.</a:t>
            </a:r>
            <a:endParaRPr lang="en-US" sz="1250" dirty="0"/>
          </a:p>
        </p:txBody>
      </p:sp>
      <p:sp>
        <p:nvSpPr>
          <p:cNvPr id="9" name="Shape 5"/>
          <p:cNvSpPr/>
          <p:nvPr/>
        </p:nvSpPr>
        <p:spPr>
          <a:xfrm>
            <a:off x="548640" y="1828800"/>
            <a:ext cx="2697480" cy="457200"/>
          </a:xfrm>
          <a:prstGeom prst="rect">
            <a:avLst/>
          </a:prstGeom>
          <a:solidFill>
            <a:srgbClr val="C00000"/>
          </a:solidFill>
          <a:ln/>
        </p:spPr>
      </p:sp>
      <p:sp>
        <p:nvSpPr>
          <p:cNvPr id="10" name="Text 6"/>
          <p:cNvSpPr/>
          <p:nvPr/>
        </p:nvSpPr>
        <p:spPr>
          <a:xfrm>
            <a:off x="640080" y="1828800"/>
            <a:ext cx="2514600" cy="4572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Traditional Automated Analysis</a:t>
            </a:r>
            <a:endParaRPr lang="en-US" sz="1050" dirty="0"/>
          </a:p>
        </p:txBody>
      </p:sp>
      <p:sp>
        <p:nvSpPr>
          <p:cNvPr id="11" name="Shape 7"/>
          <p:cNvSpPr/>
          <p:nvPr/>
        </p:nvSpPr>
        <p:spPr>
          <a:xfrm>
            <a:off x="548640" y="2286000"/>
            <a:ext cx="2697480" cy="914400"/>
          </a:xfrm>
          <a:prstGeom prst="rect">
            <a:avLst/>
          </a:prstGeom>
          <a:solidFill>
            <a:srgbClr val="FFFFFF"/>
          </a:solidFill>
          <a:ln w="9525">
            <a:solidFill>
              <a:srgbClr val="D9D9D9"/>
            </a:solidFill>
            <a:prstDash val="solid"/>
          </a:ln>
        </p:spPr>
      </p:sp>
      <p:sp>
        <p:nvSpPr>
          <p:cNvPr id="12" name="Text 8"/>
          <p:cNvSpPr/>
          <p:nvPr/>
        </p:nvSpPr>
        <p:spPr>
          <a:xfrm>
            <a:off x="640080" y="2286000"/>
            <a:ext cx="2514600" cy="914400"/>
          </a:xfrm>
          <a:prstGeom prst="rect">
            <a:avLst/>
          </a:prstGeom>
          <a:noFill/>
          <a:ln/>
        </p:spPr>
        <p:txBody>
          <a:bodyPr wrap="square" lIns="635" tIns="635" rIns="635" bIns="635" rtlCol="0" anchor="t"/>
          <a:lstStyle/>
          <a:p>
            <a:pPr indent="0" marL="0">
              <a:lnSpc>
                <a:spcPct val="115000"/>
              </a:lnSpc>
              <a:buNone/>
            </a:pPr>
            <a:r>
              <a:rPr lang="en-US" sz="950" dirty="0">
                <a:solidFill>
                  <a:srgbClr val="262626"/>
                </a:solidFill>
                <a:latin typeface="Calibri" pitchFamily="34" charset="0"/>
                <a:ea typeface="Calibri" pitchFamily="34" charset="-122"/>
                <a:cs typeface="Calibri" pitchFamily="34" charset="-120"/>
              </a:rPr>
              <a:t>Rule-based, predefined patterns</a:t>
            </a:r>
            <a:endParaRPr lang="en-US" sz="950" dirty="0"/>
          </a:p>
          <a:p>
            <a:pPr indent="0" marL="0">
              <a:lnSpc>
                <a:spcPct val="115000"/>
              </a:lnSpc>
              <a:buNone/>
            </a:pPr>
            <a:r>
              <a:rPr lang="en-US" sz="950" dirty="0">
                <a:solidFill>
                  <a:srgbClr val="262626"/>
                </a:solidFill>
                <a:latin typeface="Calibri" pitchFamily="34" charset="0"/>
                <a:ea typeface="Calibri" pitchFamily="34" charset="-122"/>
                <a:cs typeface="Calibri" pitchFamily="34" charset="-120"/>
              </a:rPr>
              <a:t>Automated linting and style checks</a:t>
            </a:r>
            <a:endParaRPr lang="en-US" sz="950" dirty="0"/>
          </a:p>
        </p:txBody>
      </p:sp>
      <p:sp>
        <p:nvSpPr>
          <p:cNvPr id="13" name="Shape 9"/>
          <p:cNvSpPr/>
          <p:nvPr/>
        </p:nvSpPr>
        <p:spPr>
          <a:xfrm>
            <a:off x="3337560" y="1828800"/>
            <a:ext cx="2697480" cy="457200"/>
          </a:xfrm>
          <a:prstGeom prst="rect">
            <a:avLst/>
          </a:prstGeom>
          <a:solidFill>
            <a:srgbClr val="C00000"/>
          </a:solidFill>
          <a:ln/>
        </p:spPr>
      </p:sp>
      <p:sp>
        <p:nvSpPr>
          <p:cNvPr id="14" name="Text 10"/>
          <p:cNvSpPr/>
          <p:nvPr/>
        </p:nvSpPr>
        <p:spPr>
          <a:xfrm>
            <a:off x="3429000" y="1828800"/>
            <a:ext cx="2514600" cy="4572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Machine Learning Approaches</a:t>
            </a:r>
            <a:endParaRPr lang="en-US" sz="1050" dirty="0"/>
          </a:p>
        </p:txBody>
      </p:sp>
      <p:sp>
        <p:nvSpPr>
          <p:cNvPr id="15" name="Shape 11"/>
          <p:cNvSpPr/>
          <p:nvPr/>
        </p:nvSpPr>
        <p:spPr>
          <a:xfrm>
            <a:off x="3337560" y="2286000"/>
            <a:ext cx="2697480" cy="914400"/>
          </a:xfrm>
          <a:prstGeom prst="rect">
            <a:avLst/>
          </a:prstGeom>
          <a:solidFill>
            <a:srgbClr val="FFFFFF"/>
          </a:solidFill>
          <a:ln w="9525">
            <a:solidFill>
              <a:srgbClr val="D9D9D9"/>
            </a:solidFill>
            <a:prstDash val="solid"/>
          </a:ln>
        </p:spPr>
      </p:sp>
      <p:sp>
        <p:nvSpPr>
          <p:cNvPr id="16" name="Text 12"/>
          <p:cNvSpPr/>
          <p:nvPr/>
        </p:nvSpPr>
        <p:spPr>
          <a:xfrm>
            <a:off x="3429000" y="2286000"/>
            <a:ext cx="2514600" cy="914400"/>
          </a:xfrm>
          <a:prstGeom prst="rect">
            <a:avLst/>
          </a:prstGeom>
          <a:noFill/>
          <a:ln/>
        </p:spPr>
        <p:txBody>
          <a:bodyPr wrap="square" lIns="635" tIns="635" rIns="635" bIns="635" rtlCol="0" anchor="t"/>
          <a:lstStyle/>
          <a:p>
            <a:pPr indent="0" marL="0">
              <a:lnSpc>
                <a:spcPct val="115000"/>
              </a:lnSpc>
              <a:buNone/>
            </a:pPr>
            <a:r>
              <a:rPr lang="en-US" sz="950" dirty="0">
                <a:solidFill>
                  <a:srgbClr val="262626"/>
                </a:solidFill>
                <a:latin typeface="Calibri" pitchFamily="34" charset="0"/>
                <a:ea typeface="Calibri" pitchFamily="34" charset="-122"/>
                <a:cs typeface="Calibri" pitchFamily="34" charset="-120"/>
              </a:rPr>
              <a:t>Data-driven bug prediction</a:t>
            </a:r>
            <a:endParaRPr lang="en-US" sz="950" dirty="0"/>
          </a:p>
          <a:p>
            <a:pPr indent="0" marL="0">
              <a:lnSpc>
                <a:spcPct val="115000"/>
              </a:lnSpc>
              <a:buNone/>
            </a:pPr>
            <a:r>
              <a:rPr lang="en-US" sz="950" dirty="0">
                <a:solidFill>
                  <a:srgbClr val="262626"/>
                </a:solidFill>
                <a:latin typeface="Calibri" pitchFamily="34" charset="0"/>
                <a:ea typeface="Calibri" pitchFamily="34" charset="-122"/>
                <a:cs typeface="Calibri" pitchFamily="34" charset="-120"/>
              </a:rPr>
              <a:t>Contextual, semantic code understanding</a:t>
            </a:r>
            <a:endParaRPr lang="en-US" sz="950" dirty="0"/>
          </a:p>
        </p:txBody>
      </p:sp>
      <p:sp>
        <p:nvSpPr>
          <p:cNvPr id="17" name="Shape 13"/>
          <p:cNvSpPr/>
          <p:nvPr/>
        </p:nvSpPr>
        <p:spPr>
          <a:xfrm>
            <a:off x="6126480" y="1828800"/>
            <a:ext cx="2697480" cy="457200"/>
          </a:xfrm>
          <a:prstGeom prst="rect">
            <a:avLst/>
          </a:prstGeom>
          <a:solidFill>
            <a:srgbClr val="C00000"/>
          </a:solidFill>
          <a:ln/>
        </p:spPr>
      </p:sp>
      <p:sp>
        <p:nvSpPr>
          <p:cNvPr id="18" name="Text 14"/>
          <p:cNvSpPr/>
          <p:nvPr/>
        </p:nvSpPr>
        <p:spPr>
          <a:xfrm>
            <a:off x="6217920" y="1828800"/>
            <a:ext cx="2514600" cy="4572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AI-Assisted Code Review</a:t>
            </a:r>
            <a:endParaRPr lang="en-US" sz="1050" dirty="0"/>
          </a:p>
        </p:txBody>
      </p:sp>
      <p:sp>
        <p:nvSpPr>
          <p:cNvPr id="19" name="Shape 15"/>
          <p:cNvSpPr/>
          <p:nvPr/>
        </p:nvSpPr>
        <p:spPr>
          <a:xfrm>
            <a:off x="6126480" y="2286000"/>
            <a:ext cx="2697480" cy="914400"/>
          </a:xfrm>
          <a:prstGeom prst="rect">
            <a:avLst/>
          </a:prstGeom>
          <a:solidFill>
            <a:srgbClr val="FFFFFF"/>
          </a:solidFill>
          <a:ln w="9525">
            <a:solidFill>
              <a:srgbClr val="D9D9D9"/>
            </a:solidFill>
            <a:prstDash val="solid"/>
          </a:ln>
        </p:spPr>
      </p:sp>
      <p:sp>
        <p:nvSpPr>
          <p:cNvPr id="20" name="Text 16"/>
          <p:cNvSpPr/>
          <p:nvPr/>
        </p:nvSpPr>
        <p:spPr>
          <a:xfrm>
            <a:off x="6217920" y="2286000"/>
            <a:ext cx="2514600" cy="914400"/>
          </a:xfrm>
          <a:prstGeom prst="rect">
            <a:avLst/>
          </a:prstGeom>
          <a:noFill/>
          <a:ln/>
        </p:spPr>
        <p:txBody>
          <a:bodyPr wrap="square" lIns="635" tIns="635" rIns="635" bIns="635" rtlCol="0" anchor="t"/>
          <a:lstStyle/>
          <a:p>
            <a:pPr indent="0" marL="0">
              <a:lnSpc>
                <a:spcPct val="115000"/>
              </a:lnSpc>
              <a:buNone/>
            </a:pPr>
            <a:r>
              <a:rPr lang="en-US" sz="950" dirty="0">
                <a:solidFill>
                  <a:srgbClr val="262626"/>
                </a:solidFill>
                <a:latin typeface="Calibri" pitchFamily="34" charset="0"/>
                <a:ea typeface="Calibri" pitchFamily="34" charset="-122"/>
                <a:cs typeface="Calibri" pitchFamily="34" charset="-120"/>
              </a:rPr>
              <a:t>LLM-powered suggestions and summaries</a:t>
            </a:r>
            <a:endParaRPr lang="en-US" sz="950" dirty="0"/>
          </a:p>
          <a:p>
            <a:pPr indent="0" marL="0">
              <a:lnSpc>
                <a:spcPct val="115000"/>
              </a:lnSpc>
              <a:buNone/>
            </a:pPr>
            <a:r>
              <a:rPr lang="en-US" sz="950" dirty="0">
                <a:solidFill>
                  <a:srgbClr val="262626"/>
                </a:solidFill>
                <a:latin typeface="Calibri" pitchFamily="34" charset="0"/>
                <a:ea typeface="Calibri" pitchFamily="34" charset="-122"/>
                <a:cs typeface="Calibri" pitchFamily="34" charset="-120"/>
              </a:rPr>
              <a:t>Large Language Models</a:t>
            </a:r>
            <a:endParaRPr lang="en-US" sz="950" dirty="0"/>
          </a:p>
        </p:txBody>
      </p:sp>
      <p:sp>
        <p:nvSpPr>
          <p:cNvPr id="21" name="Shape 17"/>
          <p:cNvSpPr/>
          <p:nvPr/>
        </p:nvSpPr>
        <p:spPr>
          <a:xfrm>
            <a:off x="8915400" y="1828800"/>
            <a:ext cx="2697480" cy="457200"/>
          </a:xfrm>
          <a:prstGeom prst="rect">
            <a:avLst/>
          </a:prstGeom>
          <a:solidFill>
            <a:srgbClr val="C00000"/>
          </a:solidFill>
          <a:ln/>
        </p:spPr>
      </p:sp>
      <p:sp>
        <p:nvSpPr>
          <p:cNvPr id="22" name="Text 18"/>
          <p:cNvSpPr/>
          <p:nvPr/>
        </p:nvSpPr>
        <p:spPr>
          <a:xfrm>
            <a:off x="9006840" y="1828800"/>
            <a:ext cx="2514600" cy="4572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Proposed: CodeInsight AI</a:t>
            </a:r>
            <a:endParaRPr lang="en-US" sz="1050" dirty="0"/>
          </a:p>
        </p:txBody>
      </p:sp>
      <p:sp>
        <p:nvSpPr>
          <p:cNvPr id="23" name="Shape 19"/>
          <p:cNvSpPr/>
          <p:nvPr/>
        </p:nvSpPr>
        <p:spPr>
          <a:xfrm>
            <a:off x="8915400" y="2286000"/>
            <a:ext cx="2697480" cy="914400"/>
          </a:xfrm>
          <a:prstGeom prst="rect">
            <a:avLst/>
          </a:prstGeom>
          <a:solidFill>
            <a:srgbClr val="FFFFFF"/>
          </a:solidFill>
          <a:ln w="9525">
            <a:solidFill>
              <a:srgbClr val="D9D9D9"/>
            </a:solidFill>
            <a:prstDash val="solid"/>
          </a:ln>
        </p:spPr>
      </p:sp>
      <p:sp>
        <p:nvSpPr>
          <p:cNvPr id="24" name="Text 20"/>
          <p:cNvSpPr/>
          <p:nvPr/>
        </p:nvSpPr>
        <p:spPr>
          <a:xfrm>
            <a:off x="9006840" y="2286000"/>
            <a:ext cx="2514600" cy="914400"/>
          </a:xfrm>
          <a:prstGeom prst="rect">
            <a:avLst/>
          </a:prstGeom>
          <a:noFill/>
          <a:ln/>
        </p:spPr>
        <p:txBody>
          <a:bodyPr wrap="square" lIns="635" tIns="635" rIns="635" bIns="635" rtlCol="0" anchor="t"/>
          <a:lstStyle/>
          <a:p>
            <a:pPr indent="0" marL="0">
              <a:lnSpc>
                <a:spcPct val="115000"/>
              </a:lnSpc>
              <a:buNone/>
            </a:pPr>
            <a:r>
              <a:rPr lang="en-US" sz="950" dirty="0">
                <a:solidFill>
                  <a:srgbClr val="262626"/>
                </a:solidFill>
                <a:latin typeface="Calibri" pitchFamily="34" charset="0"/>
                <a:ea typeface="Calibri" pitchFamily="34" charset="-122"/>
                <a:cs typeface="Calibri" pitchFamily="34" charset="-120"/>
              </a:rPr>
              <a:t>Integrated AI review with dashboard</a:t>
            </a:r>
            <a:endParaRPr lang="en-US" sz="950" dirty="0"/>
          </a:p>
          <a:p>
            <a:pPr indent="0" marL="0">
              <a:lnSpc>
                <a:spcPct val="115000"/>
              </a:lnSpc>
              <a:buNone/>
            </a:pPr>
            <a:r>
              <a:rPr lang="en-US" sz="950" dirty="0">
                <a:solidFill>
                  <a:srgbClr val="262626"/>
                </a:solidFill>
                <a:latin typeface="Calibri" pitchFamily="34" charset="0"/>
                <a:ea typeface="Calibri" pitchFamily="34" charset="-122"/>
                <a:cs typeface="Calibri" pitchFamily="34" charset="-120"/>
              </a:rPr>
              <a:t>End-to-end, developer-facing system</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11064240" cy="1691640"/>
        </p:xfrm>
        <a:graphic>
          <a:graphicData uri="http://schemas.openxmlformats.org/drawingml/2006/table">
            <a:tbl>
              <a:tblPr/>
              <a:tblGrid>
                <a:gridCol w="4114800"/>
                <a:gridCol w="3840480"/>
                <a:gridCol w="3108960"/>
              </a:tblGrid>
              <a:tr h="33832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Paper / Year</a:t>
                      </a:r>
                      <a:endParaRPr lang="en-US" sz="950" dirty="0">
                        <a:latin typeface="Calibri" charset="0"/>
                        <a:ea typeface="Calibri" charset="0"/>
                        <a:cs typeface="Calibri"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000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Main Contribution</a:t>
                      </a:r>
                      <a:endParaRPr lang="en-US" sz="950" dirty="0">
                        <a:latin typeface="Calibri" charset="0"/>
                        <a:ea typeface="Calibri" charset="0"/>
                        <a:cs typeface="Calibri"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000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Relevance</a:t>
                      </a:r>
                      <a:endParaRPr lang="en-US" sz="950" dirty="0">
                        <a:latin typeface="Calibri" charset="0"/>
                        <a:ea typeface="Calibri" charset="0"/>
                        <a:cs typeface="Calibri"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C00000"/>
                    </a:solidFill>
                  </a:tcPr>
                </a:tc>
              </a:tr>
              <a:tr h="338328">
                <a:tc>
                  <a:txBody>
                    <a:bodyPr/>
                    <a:lstStyle/>
                    <a:p>
                      <a:pPr indent="0" marL="0">
                        <a:buNone/>
                      </a:pPr>
                      <a:r>
                        <a:rPr lang="en-US" sz="950" dirty="0">
                          <a:solidFill>
                            <a:srgbClr val="262626"/>
                          </a:solidFill>
                          <a:latin typeface="Calibri" pitchFamily="34" charset="0"/>
                          <a:ea typeface="Calibri" pitchFamily="34" charset="-122"/>
                          <a:cs typeface="Calibri" pitchFamily="34" charset="-120"/>
                        </a:rPr>
                        <a:t>Reducing Human Effort via Static Analysis</a:t>
                      </a:r>
                      <a:endParaRPr lang="en-US" sz="950" dirty="0">
                        <a:latin typeface="Calibri" charset="0"/>
                        <a:ea typeface="Calibri" charset="0"/>
                        <a:cs typeface="Calibri"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Calibri" pitchFamily="34" charset="0"/>
                          <a:ea typeface="Calibri" pitchFamily="34" charset="-122"/>
                          <a:cs typeface="Calibri" pitchFamily="34" charset="-120"/>
                        </a:rPr>
                        <a:t>Automated analysis reduces manual review effort</a:t>
                      </a:r>
                      <a:endParaRPr lang="en-US" sz="950" dirty="0">
                        <a:latin typeface="Calibri" charset="0"/>
                        <a:ea typeface="Calibri" charset="0"/>
                        <a:cs typeface="Calibri"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Calibri" pitchFamily="34" charset="0"/>
                          <a:ea typeface="Calibri" pitchFamily="34" charset="-122"/>
                          <a:cs typeface="Calibri" pitchFamily="34" charset="-120"/>
                        </a:rPr>
                        <a:t>Motivates automation in code review</a:t>
                      </a:r>
                      <a:endParaRPr lang="en-US" sz="950" dirty="0">
                        <a:latin typeface="Calibri" charset="0"/>
                        <a:ea typeface="Calibri" charset="0"/>
                        <a:cs typeface="Calibri"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38328">
                <a:tc>
                  <a:txBody>
                    <a:bodyPr/>
                    <a:lstStyle/>
                    <a:p>
                      <a:pPr indent="0" marL="0">
                        <a:buNone/>
                      </a:pPr>
                      <a:r>
                        <a:rPr lang="en-US" sz="950" dirty="0">
                          <a:solidFill>
                            <a:srgbClr val="262626"/>
                          </a:solidFill>
                          <a:latin typeface="Calibri" pitchFamily="34" charset="0"/>
                          <a:ea typeface="Calibri" pitchFamily="34" charset="-122"/>
                          <a:cs typeface="Calibri" pitchFamily="34" charset="-120"/>
                        </a:rPr>
                        <a:t>Fan et al., LLMs for Software Engineering, 2023</a:t>
                      </a:r>
                      <a:endParaRPr lang="en-US" sz="950" dirty="0">
                        <a:latin typeface="Calibri" charset="0"/>
                        <a:ea typeface="Calibri" charset="0"/>
                        <a:cs typeface="Calibri"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Calibri" pitchFamily="34" charset="0"/>
                          <a:ea typeface="Calibri" pitchFamily="34" charset="-122"/>
                          <a:cs typeface="Calibri" pitchFamily="34" charset="-120"/>
                        </a:rPr>
                        <a:t>LLM applications in SE; reliability challenges</a:t>
                      </a:r>
                      <a:endParaRPr lang="en-US" sz="950" dirty="0">
                        <a:latin typeface="Calibri" charset="0"/>
                        <a:ea typeface="Calibri" charset="0"/>
                        <a:cs typeface="Calibri"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Calibri" pitchFamily="34" charset="0"/>
                          <a:ea typeface="Calibri" pitchFamily="34" charset="-122"/>
                          <a:cs typeface="Calibri" pitchFamily="34" charset="-120"/>
                        </a:rPr>
                        <a:t>Supports AI/LLM use; highlights reliability needs</a:t>
                      </a:r>
                      <a:endParaRPr lang="en-US" sz="950" dirty="0">
                        <a:latin typeface="Calibri" charset="0"/>
                        <a:ea typeface="Calibri" charset="0"/>
                        <a:cs typeface="Calibri"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38328">
                <a:tc>
                  <a:txBody>
                    <a:bodyPr/>
                    <a:lstStyle/>
                    <a:p>
                      <a:pPr indent="0" marL="0">
                        <a:buNone/>
                      </a:pPr>
                      <a:r>
                        <a:rPr lang="en-US" sz="950" dirty="0">
                          <a:solidFill>
                            <a:srgbClr val="262626"/>
                          </a:solidFill>
                          <a:latin typeface="Calibri" pitchFamily="34" charset="0"/>
                          <a:ea typeface="Calibri" pitchFamily="34" charset="-122"/>
                          <a:cs typeface="Calibri" pitchFamily="34" charset="-120"/>
                        </a:rPr>
                        <a:t>Automated Code Review in Practice, IEEE/ACM ICSE-SEIP, 2025</a:t>
                      </a:r>
                      <a:endParaRPr lang="en-US" sz="950" dirty="0">
                        <a:latin typeface="Calibri" charset="0"/>
                        <a:ea typeface="Calibri" charset="0"/>
                        <a:cs typeface="Calibri"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Calibri" pitchFamily="34" charset="0"/>
                          <a:ea typeface="Calibri" pitchFamily="34" charset="-122"/>
                          <a:cs typeface="Calibri" pitchFamily="34" charset="-120"/>
                        </a:rPr>
                        <a:t>Industrial evaluation of LLM-based code review</a:t>
                      </a:r>
                      <a:endParaRPr lang="en-US" sz="950" dirty="0">
                        <a:latin typeface="Calibri" charset="0"/>
                        <a:ea typeface="Calibri" charset="0"/>
                        <a:cs typeface="Calibri"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Calibri" pitchFamily="34" charset="0"/>
                          <a:ea typeface="Calibri" pitchFamily="34" charset="-122"/>
                          <a:cs typeface="Calibri" pitchFamily="34" charset="-120"/>
                        </a:rPr>
                        <a:t>Shows practical value and limits of AI review</a:t>
                      </a:r>
                      <a:endParaRPr lang="en-US" sz="950" dirty="0">
                        <a:latin typeface="Calibri" charset="0"/>
                        <a:ea typeface="Calibri" charset="0"/>
                        <a:cs typeface="Calibri"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38328">
                <a:tc>
                  <a:txBody>
                    <a:bodyPr/>
                    <a:lstStyle/>
                    <a:p>
                      <a:pPr indent="0" marL="0">
                        <a:buNone/>
                      </a:pPr>
                      <a:r>
                        <a:rPr lang="en-US" sz="950" dirty="0">
                          <a:solidFill>
                            <a:srgbClr val="262626"/>
                          </a:solidFill>
                          <a:latin typeface="Calibri" pitchFamily="34" charset="0"/>
                          <a:ea typeface="Calibri" pitchFamily="34" charset="-122"/>
                          <a:cs typeface="Calibri" pitchFamily="34" charset="-120"/>
                        </a:rPr>
                        <a:t>LLMs with Symbolic Reasoning, 2025</a:t>
                      </a:r>
                      <a:endParaRPr lang="en-US" sz="950" dirty="0">
                        <a:latin typeface="Calibri" charset="0"/>
                        <a:ea typeface="Calibri" charset="0"/>
                        <a:cs typeface="Calibri"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Calibri" pitchFamily="34" charset="0"/>
                          <a:ea typeface="Calibri" pitchFamily="34" charset="-122"/>
                          <a:cs typeface="Calibri" pitchFamily="34" charset="-120"/>
                        </a:rPr>
                        <a:t>LLMs + symbolic reasoning for improved accuracy</a:t>
                      </a:r>
                      <a:endParaRPr lang="en-US" sz="950" dirty="0">
                        <a:latin typeface="Calibri" charset="0"/>
                        <a:ea typeface="Calibri" charset="0"/>
                        <a:cs typeface="Calibri"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950" dirty="0">
                          <a:solidFill>
                            <a:srgbClr val="262626"/>
                          </a:solidFill>
                          <a:latin typeface="Calibri" pitchFamily="34" charset="0"/>
                          <a:ea typeface="Calibri" pitchFamily="34" charset="-122"/>
                          <a:cs typeface="Calibri" pitchFamily="34" charset="-120"/>
                        </a:rPr>
                        <a:t>Demonstrates enhanced reasoning in code review</a:t>
                      </a:r>
                      <a:endParaRPr lang="en-US" sz="950" dirty="0">
                        <a:latin typeface="Calibri" charset="0"/>
                        <a:ea typeface="Calibri" charset="0"/>
                        <a:cs typeface="Calibri" charset="0"/>
                      </a:endParaRPr>
                    </a:p>
                  </a:txBody>
                  <a:tcPr marL="76200" marR="76200" marT="38100" marB="381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6" name="Shape 21"/>
          <p:cNvSpPr/>
          <p:nvPr/>
        </p:nvSpPr>
        <p:spPr>
          <a:xfrm>
            <a:off x="548640" y="4846320"/>
            <a:ext cx="11064240" cy="777240"/>
          </a:xfrm>
          <a:prstGeom prst="rect">
            <a:avLst/>
          </a:prstGeom>
          <a:solidFill>
            <a:srgbClr val="FBEAEA"/>
          </a:solidFill>
          <a:ln w="9525">
            <a:solidFill>
              <a:srgbClr val="C00000"/>
            </a:solidFill>
            <a:prstDash val="solid"/>
          </a:ln>
        </p:spPr>
      </p:sp>
      <p:sp>
        <p:nvSpPr>
          <p:cNvPr id="27" name="Text 22"/>
          <p:cNvSpPr/>
          <p:nvPr/>
        </p:nvSpPr>
        <p:spPr>
          <a:xfrm>
            <a:off x="777240" y="4846320"/>
            <a:ext cx="10607040" cy="777240"/>
          </a:xfrm>
          <a:prstGeom prst="rect">
            <a:avLst/>
          </a:prstGeom>
          <a:noFill/>
          <a:ln/>
        </p:spPr>
        <p:txBody>
          <a:bodyPr wrap="square" lIns="0" tIns="0" rIns="0" bIns="0" rtlCol="0" anchor="ctr"/>
          <a:lstStyle/>
          <a:p>
            <a:pPr indent="0" marL="0">
              <a:buNone/>
            </a:pPr>
            <a:r>
              <a:rPr lang="en-US" sz="1200" b="1" dirty="0">
                <a:solidFill>
                  <a:srgbClr val="C00000"/>
                </a:solidFill>
                <a:latin typeface="Calibri" pitchFamily="34" charset="0"/>
                <a:ea typeface="Calibri" pitchFamily="34" charset="-122"/>
                <a:cs typeface="Calibri" pitchFamily="34" charset="-120"/>
              </a:rPr>
              <a:t>Research Gap:  </a:t>
            </a:r>
            <a:pPr indent="0" marL="0">
              <a:buNone/>
            </a:pPr>
            <a:r>
              <a:rPr lang="en-US" sz="1200" dirty="0">
                <a:solidFill>
                  <a:srgbClr val="262626"/>
                </a:solidFill>
                <a:latin typeface="Calibri" pitchFamily="34" charset="0"/>
                <a:ea typeface="Calibri" pitchFamily="34" charset="-122"/>
                <a:cs typeface="Calibri" pitchFamily="34" charset="-120"/>
              </a:rPr>
              <a:t>Existing approaches show promise, but practical systems still need understandable feedback, useful suggestions, quality assessment, and developer-workflow integration.</a:t>
            </a:r>
            <a:endParaRPr lang="en-US" sz="1200" dirty="0"/>
          </a:p>
        </p:txBody>
      </p:sp>
      <p:sp>
        <p:nvSpPr>
          <p:cNvPr id="28" name="Text 23"/>
          <p:cNvSpPr/>
          <p:nvPr/>
        </p:nvSpPr>
        <p:spPr>
          <a:xfrm>
            <a:off x="320040" y="6355080"/>
            <a:ext cx="36576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12045391" cy="6711696"/>
          </a:xfrm>
          <a:prstGeom prst="rect">
            <a:avLst/>
          </a:prstGeom>
          <a:ln w="57150">
            <a:solidFill>
              <a:srgbClr val="000000"/>
            </a:solidFill>
            <a:prstDash val="solid"/>
          </a:ln>
        </p:spPr>
      </p:sp>
      <p:pic>
        <p:nvPicPr>
          <p:cNvPr id="3" name="Image 0" descr="/home/claude/logo_final.png">    </p:cNvPr>
          <p:cNvPicPr>
            <a:picLocks noChangeAspect="1"/>
          </p:cNvPicPr>
          <p:nvPr/>
        </p:nvPicPr>
        <p:blipFill>
          <a:blip r:embed="rId1"/>
          <a:stretch>
            <a:fillRect/>
          </a:stretch>
        </p:blipFill>
        <p:spPr>
          <a:xfrm>
            <a:off x="10591495" y="274320"/>
            <a:ext cx="1234440" cy="318424"/>
          </a:xfrm>
          <a:prstGeom prst="rect">
            <a:avLst/>
          </a:prstGeom>
        </p:spPr>
      </p:pic>
      <p:sp>
        <p:nvSpPr>
          <p:cNvPr id="4" name="Shape 1"/>
          <p:cNvSpPr/>
          <p:nvPr/>
        </p:nvSpPr>
        <p:spPr>
          <a:xfrm>
            <a:off x="320040" y="6227987"/>
            <a:ext cx="7894015" cy="0"/>
          </a:xfrm>
          <a:prstGeom prst="line">
            <a:avLst/>
          </a:prstGeom>
          <a:noFill/>
          <a:ln w="25400">
            <a:solidFill>
              <a:srgbClr val="ED7D31"/>
            </a:solidFill>
            <a:prstDash val="solid"/>
          </a:ln>
        </p:spPr>
      </p:sp>
      <p:pic>
        <p:nvPicPr>
          <p:cNvPr id="5" name="Image 1" descr="/home/claude/box_final2.png">    </p:cNvPr>
          <p:cNvPicPr>
            <a:picLocks noChangeAspect="1"/>
          </p:cNvPicPr>
          <p:nvPr/>
        </p:nvPicPr>
        <p:blipFill>
          <a:blip r:embed="rId2"/>
          <a:stretch>
            <a:fillRect/>
          </a:stretch>
        </p:blipFill>
        <p:spPr>
          <a:xfrm>
            <a:off x="8396935" y="5982021"/>
            <a:ext cx="3383280" cy="491931"/>
          </a:xfrm>
          <a:prstGeom prst="rect">
            <a:avLst/>
          </a:prstGeom>
        </p:spPr>
      </p:pic>
      <p:sp>
        <p:nvSpPr>
          <p:cNvPr id="6" name="Shape 2"/>
          <p:cNvSpPr/>
          <p:nvPr/>
        </p:nvSpPr>
        <p:spPr>
          <a:xfrm>
            <a:off x="2895448" y="384048"/>
            <a:ext cx="6400800" cy="566928"/>
          </a:xfrm>
          <a:prstGeom prst="rect">
            <a:avLst/>
          </a:prstGeom>
          <a:solidFill>
            <a:srgbClr val="C00000"/>
          </a:solidFill>
          <a:ln/>
        </p:spPr>
      </p:sp>
      <p:sp>
        <p:nvSpPr>
          <p:cNvPr id="7" name="Text 3"/>
          <p:cNvSpPr/>
          <p:nvPr/>
        </p:nvSpPr>
        <p:spPr>
          <a:xfrm>
            <a:off x="2895448" y="384048"/>
            <a:ext cx="6400800"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Research Gap &amp; Proposed Solution</a:t>
            </a:r>
            <a:endParaRPr lang="en-US" sz="2000" dirty="0"/>
          </a:p>
        </p:txBody>
      </p:sp>
      <p:sp>
        <p:nvSpPr>
          <p:cNvPr id="8" name="Text 4"/>
          <p:cNvSpPr/>
          <p:nvPr/>
        </p:nvSpPr>
        <p:spPr>
          <a:xfrm>
            <a:off x="548640" y="1417320"/>
            <a:ext cx="11064240" cy="502920"/>
          </a:xfrm>
          <a:prstGeom prst="rect">
            <a:avLst/>
          </a:prstGeom>
          <a:noFill/>
          <a:ln/>
        </p:spPr>
        <p:txBody>
          <a:bodyPr wrap="square" lIns="0" tIns="0" rIns="0" bIns="0" rtlCol="0" anchor="ctr"/>
          <a:lstStyle/>
          <a:p>
            <a:pPr indent="0" marL="0">
              <a:lnSpc>
                <a:spcPct val="120000"/>
              </a:lnSpc>
              <a:buNone/>
            </a:pPr>
            <a:r>
              <a:rPr lang="en-US" sz="1200" dirty="0">
                <a:solidFill>
                  <a:srgbClr val="555555"/>
                </a:solidFill>
                <a:latin typeface="Calibri" pitchFamily="34" charset="0"/>
                <a:ea typeface="Calibri" pitchFamily="34" charset="-122"/>
                <a:cs typeface="Calibri" pitchFamily="34" charset="-120"/>
              </a:rPr>
              <a:t>Existing approaches highlight the potential of automated code review, but practical gaps remain in feedback quality, consistency, and workflow integration. CodeInsight AI addresses these gaps through an AI-powered, end-to-end review system.</a:t>
            </a:r>
            <a:endParaRPr lang="en-US" sz="1200" dirty="0"/>
          </a:p>
        </p:txBody>
      </p:sp>
      <p:sp>
        <p:nvSpPr>
          <p:cNvPr id="9" name="Text 5"/>
          <p:cNvSpPr/>
          <p:nvPr/>
        </p:nvSpPr>
        <p:spPr>
          <a:xfrm>
            <a:off x="548640" y="2103120"/>
            <a:ext cx="5212080" cy="365760"/>
          </a:xfrm>
          <a:prstGeom prst="rect">
            <a:avLst/>
          </a:prstGeom>
          <a:noFill/>
          <a:ln/>
        </p:spPr>
        <p:txBody>
          <a:bodyPr wrap="square" lIns="0" tIns="0" rIns="0" bIns="0" rtlCol="0" anchor="ctr"/>
          <a:lstStyle/>
          <a:p>
            <a:pPr indent="0" marL="0">
              <a:buNone/>
            </a:pPr>
            <a:r>
              <a:rPr lang="en-US" sz="1500" b="1" dirty="0">
                <a:solidFill>
                  <a:srgbClr val="C00000"/>
                </a:solidFill>
                <a:latin typeface="Calibri" pitchFamily="34" charset="0"/>
                <a:ea typeface="Calibri" pitchFamily="34" charset="-122"/>
                <a:cs typeface="Calibri" pitchFamily="34" charset="-120"/>
              </a:rPr>
              <a:t>Existing Challenges</a:t>
            </a:r>
            <a:endParaRPr lang="en-US" sz="1500" dirty="0"/>
          </a:p>
        </p:txBody>
      </p:sp>
      <p:sp>
        <p:nvSpPr>
          <p:cNvPr id="10" name="Text 6"/>
          <p:cNvSpPr/>
          <p:nvPr/>
        </p:nvSpPr>
        <p:spPr>
          <a:xfrm>
            <a:off x="548640" y="2514600"/>
            <a:ext cx="5212080" cy="2926080"/>
          </a:xfrm>
          <a:prstGeom prst="rect">
            <a:avLst/>
          </a:prstGeom>
          <a:noFill/>
          <a:ln/>
        </p:spPr>
        <p:txBody>
          <a:bodyPr wrap="square" lIns="0" tIns="0" rIns="0" bIns="0" rtlCol="0" anchor="t"/>
          <a:lstStyle/>
          <a:p>
            <a:pPr marL="342900" indent="-342900">
              <a:spcAft>
                <a:spcPts val="1200"/>
              </a:spcAft>
              <a:buSzPct val="100000"/>
              <a:buChar char="–"/>
            </a:pPr>
            <a:r>
              <a:rPr lang="en-US" sz="1250" dirty="0">
                <a:solidFill>
                  <a:srgbClr val="262626"/>
                </a:solidFill>
                <a:latin typeface="Calibri" pitchFamily="34" charset="0"/>
                <a:ea typeface="Calibri" pitchFamily="34" charset="-122"/>
                <a:cs typeface="Calibri" pitchFamily="34" charset="-120"/>
              </a:rPr>
              <a:t>Manual reviews require significant time and effort</a:t>
            </a:r>
            <a:endParaRPr lang="en-US" sz="1250" dirty="0"/>
          </a:p>
          <a:p>
            <a:pPr marL="342900" indent="-342900">
              <a:spcAft>
                <a:spcPts val="1200"/>
              </a:spcAft>
              <a:buSzPct val="100000"/>
              <a:buChar char="–"/>
            </a:pPr>
            <a:r>
              <a:rPr lang="en-US" sz="1250" dirty="0">
                <a:solidFill>
                  <a:srgbClr val="262626"/>
                </a:solidFill>
                <a:latin typeface="Calibri" pitchFamily="34" charset="0"/>
                <a:ea typeface="Calibri" pitchFamily="34" charset="-122"/>
                <a:cs typeface="Calibri" pitchFamily="34" charset="-120"/>
              </a:rPr>
              <a:t>Reviews can be inconsistent across reviewers</a:t>
            </a:r>
            <a:endParaRPr lang="en-US" sz="1250" dirty="0"/>
          </a:p>
          <a:p>
            <a:pPr marL="342900" indent="-342900">
              <a:spcAft>
                <a:spcPts val="1200"/>
              </a:spcAft>
              <a:buSzPct val="100000"/>
              <a:buChar char="–"/>
            </a:pPr>
            <a:r>
              <a:rPr lang="en-US" sz="1250" dirty="0">
                <a:solidFill>
                  <a:srgbClr val="262626"/>
                </a:solidFill>
                <a:latin typeface="Calibri" pitchFamily="34" charset="0"/>
                <a:ea typeface="Calibri" pitchFamily="34" charset="-122"/>
                <a:cs typeface="Calibri" pitchFamily="34" charset="-120"/>
              </a:rPr>
              <a:t>Important issues may be overlooked in large codebases</a:t>
            </a:r>
            <a:endParaRPr lang="en-US" sz="1250" dirty="0"/>
          </a:p>
          <a:p>
            <a:pPr marL="342900" indent="-342900">
              <a:spcAft>
                <a:spcPts val="1200"/>
              </a:spcAft>
              <a:buSzPct val="100000"/>
              <a:buChar char="–"/>
            </a:pPr>
            <a:r>
              <a:rPr lang="en-US" sz="1250" dirty="0">
                <a:solidFill>
                  <a:srgbClr val="262626"/>
                </a:solidFill>
                <a:latin typeface="Calibri" pitchFamily="34" charset="0"/>
                <a:ea typeface="Calibri" pitchFamily="34" charset="-122"/>
                <a:cs typeface="Calibri" pitchFamily="34" charset="-120"/>
              </a:rPr>
              <a:t>Rule-based tools depend on predefined patterns</a:t>
            </a:r>
            <a:endParaRPr lang="en-US" sz="1250" dirty="0"/>
          </a:p>
          <a:p>
            <a:pPr marL="342900" indent="-342900">
              <a:spcAft>
                <a:spcPts val="1200"/>
              </a:spcAft>
              <a:buSzPct val="100000"/>
              <a:buChar char="–"/>
            </a:pPr>
            <a:r>
              <a:rPr lang="en-US" sz="1250" dirty="0">
                <a:solidFill>
                  <a:srgbClr val="262626"/>
                </a:solidFill>
                <a:latin typeface="Calibri" pitchFamily="34" charset="0"/>
                <a:ea typeface="Calibri" pitchFamily="34" charset="-122"/>
                <a:cs typeface="Calibri" pitchFamily="34" charset="-120"/>
              </a:rPr>
              <a:t>Developers need clearer explanations and suggestions</a:t>
            </a:r>
            <a:endParaRPr lang="en-US" sz="1250" dirty="0"/>
          </a:p>
        </p:txBody>
      </p:sp>
      <p:sp>
        <p:nvSpPr>
          <p:cNvPr id="11" name="Text 7"/>
          <p:cNvSpPr/>
          <p:nvPr/>
        </p:nvSpPr>
        <p:spPr>
          <a:xfrm>
            <a:off x="6263640" y="2103120"/>
            <a:ext cx="5394960" cy="365760"/>
          </a:xfrm>
          <a:prstGeom prst="rect">
            <a:avLst/>
          </a:prstGeom>
          <a:noFill/>
          <a:ln/>
        </p:spPr>
        <p:txBody>
          <a:bodyPr wrap="square" lIns="0" tIns="0" rIns="0" bIns="0" rtlCol="0" anchor="ctr"/>
          <a:lstStyle/>
          <a:p>
            <a:pPr indent="0" marL="0">
              <a:buNone/>
            </a:pPr>
            <a:r>
              <a:rPr lang="en-US" sz="1500" b="1" dirty="0">
                <a:solidFill>
                  <a:srgbClr val="C00000"/>
                </a:solidFill>
                <a:latin typeface="Calibri" pitchFamily="34" charset="0"/>
                <a:ea typeface="Calibri" pitchFamily="34" charset="-122"/>
                <a:cs typeface="Calibri" pitchFamily="34" charset="-120"/>
              </a:rPr>
              <a:t>CodeInsight AI Approach</a:t>
            </a:r>
            <a:endParaRPr lang="en-US" sz="1500" dirty="0"/>
          </a:p>
        </p:txBody>
      </p:sp>
      <p:sp>
        <p:nvSpPr>
          <p:cNvPr id="12" name="Text 8"/>
          <p:cNvSpPr/>
          <p:nvPr/>
        </p:nvSpPr>
        <p:spPr>
          <a:xfrm>
            <a:off x="6263640" y="2514600"/>
            <a:ext cx="5394960" cy="2926080"/>
          </a:xfrm>
          <a:prstGeom prst="rect">
            <a:avLst/>
          </a:prstGeom>
          <a:noFill/>
          <a:ln/>
        </p:spPr>
        <p:txBody>
          <a:bodyPr wrap="square" lIns="0" tIns="0" rIns="0" bIns="0" rtlCol="0" anchor="t"/>
          <a:lstStyle/>
          <a:p>
            <a:pPr marL="342900" indent="-342900">
              <a:spcAft>
                <a:spcPts val="1000"/>
              </a:spcAft>
              <a:buSzPct val="100000"/>
              <a:buChar char="✓"/>
            </a:pPr>
            <a:r>
              <a:rPr lang="en-US" sz="1250" dirty="0">
                <a:solidFill>
                  <a:srgbClr val="262626"/>
                </a:solidFill>
                <a:latin typeface="Calibri" pitchFamily="34" charset="0"/>
                <a:ea typeface="Calibri" pitchFamily="34" charset="-122"/>
                <a:cs typeface="Calibri" pitchFamily="34" charset="-120"/>
              </a:rPr>
              <a:t>Upload source code or connect a GitHub repository</a:t>
            </a:r>
            <a:endParaRPr lang="en-US" sz="1250" dirty="0"/>
          </a:p>
          <a:p>
            <a:pPr marL="342900" indent="-342900">
              <a:spcAft>
                <a:spcPts val="1000"/>
              </a:spcAft>
              <a:buSzPct val="100000"/>
              <a:buChar char="✓"/>
            </a:pPr>
            <a:r>
              <a:rPr lang="en-US" sz="1250" dirty="0">
                <a:solidFill>
                  <a:srgbClr val="262626"/>
                </a:solidFill>
                <a:latin typeface="Calibri" pitchFamily="34" charset="0"/>
                <a:ea typeface="Calibri" pitchFamily="34" charset="-122"/>
                <a:cs typeface="Calibri" pitchFamily="34" charset="-120"/>
              </a:rPr>
              <a:t>Process submitted code through the FastAPI backend</a:t>
            </a:r>
            <a:endParaRPr lang="en-US" sz="1250" dirty="0"/>
          </a:p>
          <a:p>
            <a:pPr marL="342900" indent="-342900">
              <a:spcAft>
                <a:spcPts val="1000"/>
              </a:spcAft>
              <a:buSzPct val="100000"/>
              <a:buChar char="✓"/>
            </a:pPr>
            <a:r>
              <a:rPr lang="en-US" sz="1250" dirty="0">
                <a:solidFill>
                  <a:srgbClr val="262626"/>
                </a:solidFill>
                <a:latin typeface="Calibri" pitchFamily="34" charset="0"/>
                <a:ea typeface="Calibri" pitchFamily="34" charset="-122"/>
                <a:cs typeface="Calibri" pitchFamily="34" charset="-120"/>
              </a:rPr>
              <a:t>Analyze code using the Gemini AI API</a:t>
            </a:r>
            <a:endParaRPr lang="en-US" sz="1250" dirty="0"/>
          </a:p>
          <a:p>
            <a:pPr marL="342900" indent="-342900">
              <a:spcAft>
                <a:spcPts val="1000"/>
              </a:spcAft>
              <a:buSzPct val="100000"/>
              <a:buChar char="✓"/>
            </a:pPr>
            <a:r>
              <a:rPr lang="en-US" sz="1250" dirty="0">
                <a:solidFill>
                  <a:srgbClr val="262626"/>
                </a:solidFill>
                <a:latin typeface="Calibri" pitchFamily="34" charset="0"/>
                <a:ea typeface="Calibri" pitchFamily="34" charset="-122"/>
                <a:cs typeface="Calibri" pitchFamily="34" charset="-120"/>
              </a:rPr>
              <a:t>Detect potential bugs and coding issues</a:t>
            </a:r>
            <a:endParaRPr lang="en-US" sz="1250" dirty="0"/>
          </a:p>
          <a:p>
            <a:pPr marL="342900" indent="-342900">
              <a:spcAft>
                <a:spcPts val="1000"/>
              </a:spcAft>
              <a:buSzPct val="100000"/>
              <a:buChar char="✓"/>
            </a:pPr>
            <a:r>
              <a:rPr lang="en-US" sz="1250" dirty="0">
                <a:solidFill>
                  <a:srgbClr val="262626"/>
                </a:solidFill>
                <a:latin typeface="Calibri" pitchFamily="34" charset="0"/>
                <a:ea typeface="Calibri" pitchFamily="34" charset="-122"/>
                <a:cs typeface="Calibri" pitchFamily="34" charset="-120"/>
              </a:rPr>
              <a:t>Generate improvement suggestions and a quality score</a:t>
            </a:r>
            <a:endParaRPr lang="en-US" sz="1250" dirty="0"/>
          </a:p>
          <a:p>
            <a:pPr marL="342900" indent="-342900">
              <a:spcAft>
                <a:spcPts val="1000"/>
              </a:spcAft>
              <a:buSzPct val="100000"/>
              <a:buChar char="✓"/>
            </a:pPr>
            <a:r>
              <a:rPr lang="en-US" sz="1250" dirty="0">
                <a:solidFill>
                  <a:srgbClr val="262626"/>
                </a:solidFill>
                <a:latin typeface="Calibri" pitchFamily="34" charset="0"/>
                <a:ea typeface="Calibri" pitchFamily="34" charset="-122"/>
                <a:cs typeface="Calibri" pitchFamily="34" charset="-120"/>
              </a:rPr>
              <a:t>Store and display results via a review dashboard</a:t>
            </a:r>
            <a:endParaRPr lang="en-US" sz="1250" dirty="0"/>
          </a:p>
        </p:txBody>
      </p:sp>
      <p:sp>
        <p:nvSpPr>
          <p:cNvPr id="13" name="Shape 9"/>
          <p:cNvSpPr/>
          <p:nvPr/>
        </p:nvSpPr>
        <p:spPr>
          <a:xfrm>
            <a:off x="548640" y="5257800"/>
            <a:ext cx="11064240" cy="594360"/>
          </a:xfrm>
          <a:prstGeom prst="rect">
            <a:avLst/>
          </a:prstGeom>
          <a:solidFill>
            <a:srgbClr val="FBEAEA"/>
          </a:solidFill>
          <a:ln w="9525">
            <a:solidFill>
              <a:srgbClr val="C00000"/>
            </a:solidFill>
            <a:prstDash val="solid"/>
          </a:ln>
        </p:spPr>
      </p:sp>
      <p:sp>
        <p:nvSpPr>
          <p:cNvPr id="14" name="Text 10"/>
          <p:cNvSpPr/>
          <p:nvPr/>
        </p:nvSpPr>
        <p:spPr>
          <a:xfrm>
            <a:off x="777240" y="5257800"/>
            <a:ext cx="10607040" cy="594360"/>
          </a:xfrm>
          <a:prstGeom prst="rect">
            <a:avLst/>
          </a:prstGeom>
          <a:noFill/>
          <a:ln/>
        </p:spPr>
        <p:txBody>
          <a:bodyPr wrap="square" lIns="0" tIns="0" rIns="0" bIns="0" rtlCol="0" anchor="ctr"/>
          <a:lstStyle/>
          <a:p>
            <a:pPr indent="0" marL="0">
              <a:buNone/>
            </a:pPr>
            <a:r>
              <a:rPr lang="en-US" sz="1250" b="1" i="1" dirty="0">
                <a:solidFill>
                  <a:srgbClr val="C00000"/>
                </a:solidFill>
                <a:latin typeface="Calibri" pitchFamily="34" charset="0"/>
                <a:ea typeface="Calibri" pitchFamily="34" charset="-122"/>
                <a:cs typeface="Calibri" pitchFamily="34" charset="-120"/>
              </a:rPr>
              <a:t>Goal:  </a:t>
            </a:r>
            <a:pPr indent="0" marL="0">
              <a:buNone/>
            </a:pPr>
            <a:r>
              <a:rPr lang="en-US" sz="1250" i="1" dirty="0">
                <a:solidFill>
                  <a:srgbClr val="262626"/>
                </a:solidFill>
                <a:latin typeface="Calibri" pitchFamily="34" charset="0"/>
                <a:ea typeface="Calibri" pitchFamily="34" charset="-122"/>
                <a:cs typeface="Calibri" pitchFamily="34" charset="-120"/>
              </a:rPr>
              <a:t>Reduce manual effort while providing understandable and actionable AI-assisted code review.</a:t>
            </a:r>
            <a:endParaRPr lang="en-US" sz="1250" dirty="0"/>
          </a:p>
        </p:txBody>
      </p:sp>
      <p:sp>
        <p:nvSpPr>
          <p:cNvPr id="15" name="Text 11"/>
          <p:cNvSpPr/>
          <p:nvPr/>
        </p:nvSpPr>
        <p:spPr>
          <a:xfrm>
            <a:off x="320040" y="6355080"/>
            <a:ext cx="36576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12045391" cy="6711696"/>
          </a:xfrm>
          <a:prstGeom prst="rect">
            <a:avLst/>
          </a:prstGeom>
          <a:ln w="57150">
            <a:solidFill>
              <a:srgbClr val="000000"/>
            </a:solidFill>
            <a:prstDash val="solid"/>
          </a:ln>
        </p:spPr>
      </p:sp>
      <p:pic>
        <p:nvPicPr>
          <p:cNvPr id="3" name="Image 0" descr="/home/claude/logo_final.png">    </p:cNvPr>
          <p:cNvPicPr>
            <a:picLocks noChangeAspect="1"/>
          </p:cNvPicPr>
          <p:nvPr/>
        </p:nvPicPr>
        <p:blipFill>
          <a:blip r:embed="rId1"/>
          <a:stretch>
            <a:fillRect/>
          </a:stretch>
        </p:blipFill>
        <p:spPr>
          <a:xfrm>
            <a:off x="10591495" y="274320"/>
            <a:ext cx="1234440" cy="318424"/>
          </a:xfrm>
          <a:prstGeom prst="rect">
            <a:avLst/>
          </a:prstGeom>
        </p:spPr>
      </p:pic>
      <p:sp>
        <p:nvSpPr>
          <p:cNvPr id="4" name="Shape 1"/>
          <p:cNvSpPr/>
          <p:nvPr/>
        </p:nvSpPr>
        <p:spPr>
          <a:xfrm>
            <a:off x="320040" y="6227987"/>
            <a:ext cx="7894015" cy="0"/>
          </a:xfrm>
          <a:prstGeom prst="line">
            <a:avLst/>
          </a:prstGeom>
          <a:noFill/>
          <a:ln w="25400">
            <a:solidFill>
              <a:srgbClr val="ED7D31"/>
            </a:solidFill>
            <a:prstDash val="solid"/>
          </a:ln>
        </p:spPr>
      </p:sp>
      <p:pic>
        <p:nvPicPr>
          <p:cNvPr id="5" name="Image 1" descr="/home/claude/box_final2.png">    </p:cNvPr>
          <p:cNvPicPr>
            <a:picLocks noChangeAspect="1"/>
          </p:cNvPicPr>
          <p:nvPr/>
        </p:nvPicPr>
        <p:blipFill>
          <a:blip r:embed="rId2"/>
          <a:stretch>
            <a:fillRect/>
          </a:stretch>
        </p:blipFill>
        <p:spPr>
          <a:xfrm>
            <a:off x="8396935" y="5982021"/>
            <a:ext cx="3383280" cy="491931"/>
          </a:xfrm>
          <a:prstGeom prst="rect">
            <a:avLst/>
          </a:prstGeom>
        </p:spPr>
      </p:pic>
      <p:sp>
        <p:nvSpPr>
          <p:cNvPr id="6" name="Shape 2"/>
          <p:cNvSpPr/>
          <p:nvPr/>
        </p:nvSpPr>
        <p:spPr>
          <a:xfrm>
            <a:off x="3764128" y="384048"/>
            <a:ext cx="4663440" cy="566928"/>
          </a:xfrm>
          <a:prstGeom prst="rect">
            <a:avLst/>
          </a:prstGeom>
          <a:solidFill>
            <a:srgbClr val="C00000"/>
          </a:solidFill>
          <a:ln/>
        </p:spPr>
      </p:sp>
      <p:sp>
        <p:nvSpPr>
          <p:cNvPr id="7" name="Text 3"/>
          <p:cNvSpPr/>
          <p:nvPr/>
        </p:nvSpPr>
        <p:spPr>
          <a:xfrm>
            <a:off x="3764128" y="384048"/>
            <a:ext cx="4663440"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Workflow Architecture</a:t>
            </a:r>
            <a:endParaRPr lang="en-US" sz="2400" dirty="0"/>
          </a:p>
        </p:txBody>
      </p:sp>
      <p:sp>
        <p:nvSpPr>
          <p:cNvPr id="8" name="Text 4"/>
          <p:cNvSpPr/>
          <p:nvPr/>
        </p:nvSpPr>
        <p:spPr>
          <a:xfrm>
            <a:off x="548640" y="1371600"/>
            <a:ext cx="11064240" cy="777240"/>
          </a:xfrm>
          <a:prstGeom prst="rect">
            <a:avLst/>
          </a:prstGeom>
          <a:noFill/>
          <a:ln/>
        </p:spPr>
        <p:txBody>
          <a:bodyPr wrap="square" lIns="0" tIns="0" rIns="0" bIns="0" rtlCol="0" anchor="t"/>
          <a:lstStyle/>
          <a:p>
            <a:pPr indent="0" marL="0">
              <a:lnSpc>
                <a:spcPct val="120000"/>
              </a:lnSpc>
              <a:buNone/>
            </a:pPr>
            <a:r>
              <a:rPr lang="en-US" sz="1250" dirty="0">
                <a:solidFill>
                  <a:srgbClr val="262626"/>
                </a:solidFill>
                <a:latin typeface="Calibri" pitchFamily="34" charset="0"/>
                <a:ea typeface="Calibri" pitchFamily="34" charset="-122"/>
                <a:cs typeface="Calibri" pitchFamily="34" charset="-120"/>
              </a:rPr>
              <a:t>The system follows a client-server architecture with AI-powered analysis at its core. The React.js frontend handles user interaction and code submission. The FastAPI backend orchestrates AI analysis via the Gemini AI API, stores results in SQLite, and serves them through a review dashboard.</a:t>
            </a:r>
            <a:endParaRPr lang="en-US" sz="1250" dirty="0"/>
          </a:p>
        </p:txBody>
      </p:sp>
      <p:sp>
        <p:nvSpPr>
          <p:cNvPr id="9" name="Shape 5"/>
          <p:cNvSpPr/>
          <p:nvPr/>
        </p:nvSpPr>
        <p:spPr>
          <a:xfrm>
            <a:off x="737464" y="2423160"/>
            <a:ext cx="1417320" cy="594360"/>
          </a:xfrm>
          <a:prstGeom prst="rect">
            <a:avLst/>
          </a:prstGeom>
          <a:solidFill>
            <a:srgbClr val="C00000"/>
          </a:solidFill>
          <a:ln/>
        </p:spPr>
      </p:sp>
      <p:sp>
        <p:nvSpPr>
          <p:cNvPr id="10" name="Text 6"/>
          <p:cNvSpPr/>
          <p:nvPr/>
        </p:nvSpPr>
        <p:spPr>
          <a:xfrm>
            <a:off x="737464" y="2423160"/>
            <a:ext cx="1417320" cy="5943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User</a:t>
            </a:r>
            <a:endParaRPr lang="en-US" sz="1050" dirty="0"/>
          </a:p>
        </p:txBody>
      </p:sp>
      <p:sp>
        <p:nvSpPr>
          <p:cNvPr id="11" name="Text 7"/>
          <p:cNvSpPr/>
          <p:nvPr/>
        </p:nvSpPr>
        <p:spPr>
          <a:xfrm>
            <a:off x="2154784" y="2395728"/>
            <a:ext cx="132588" cy="594360"/>
          </a:xfrm>
          <a:prstGeom prst="rect">
            <a:avLst/>
          </a:prstGeom>
          <a:noFill/>
          <a:ln/>
        </p:spPr>
        <p:txBody>
          <a:bodyPr wrap="square" lIns="0" tIns="0" rIns="0" bIns="0" rtlCol="0" anchor="ctr"/>
          <a:lstStyle/>
          <a:p>
            <a:pPr algn="ctr" indent="0" marL="0">
              <a:buNone/>
            </a:pPr>
            <a:r>
              <a:rPr lang="en-US" sz="1400" dirty="0">
                <a:solidFill>
                  <a:srgbClr val="555555"/>
                </a:solidFill>
                <a:latin typeface="Calibri" pitchFamily="34" charset="0"/>
                <a:ea typeface="Calibri" pitchFamily="34" charset="-122"/>
                <a:cs typeface="Calibri" pitchFamily="34" charset="-120"/>
              </a:rPr>
              <a:t>→</a:t>
            </a:r>
            <a:endParaRPr lang="en-US" sz="1400" dirty="0"/>
          </a:p>
        </p:txBody>
      </p:sp>
      <p:sp>
        <p:nvSpPr>
          <p:cNvPr id="12" name="Shape 8"/>
          <p:cNvSpPr/>
          <p:nvPr/>
        </p:nvSpPr>
        <p:spPr>
          <a:xfrm>
            <a:off x="2287372" y="2423160"/>
            <a:ext cx="1417320" cy="594360"/>
          </a:xfrm>
          <a:prstGeom prst="rect">
            <a:avLst/>
          </a:prstGeom>
          <a:solidFill>
            <a:srgbClr val="000000"/>
          </a:solidFill>
          <a:ln/>
        </p:spPr>
      </p:sp>
      <p:sp>
        <p:nvSpPr>
          <p:cNvPr id="13" name="Text 9"/>
          <p:cNvSpPr/>
          <p:nvPr/>
        </p:nvSpPr>
        <p:spPr>
          <a:xfrm>
            <a:off x="2287372" y="2423160"/>
            <a:ext cx="1417320" cy="5943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Code Input</a:t>
            </a:r>
            <a:endParaRPr lang="en-US" sz="1050" dirty="0"/>
          </a:p>
        </p:txBody>
      </p:sp>
      <p:sp>
        <p:nvSpPr>
          <p:cNvPr id="14" name="Text 10"/>
          <p:cNvSpPr/>
          <p:nvPr/>
        </p:nvSpPr>
        <p:spPr>
          <a:xfrm>
            <a:off x="3704692" y="2395728"/>
            <a:ext cx="132588" cy="594360"/>
          </a:xfrm>
          <a:prstGeom prst="rect">
            <a:avLst/>
          </a:prstGeom>
          <a:noFill/>
          <a:ln/>
        </p:spPr>
        <p:txBody>
          <a:bodyPr wrap="square" lIns="0" tIns="0" rIns="0" bIns="0" rtlCol="0" anchor="ctr"/>
          <a:lstStyle/>
          <a:p>
            <a:pPr algn="ctr" indent="0" marL="0">
              <a:buNone/>
            </a:pPr>
            <a:r>
              <a:rPr lang="en-US" sz="1400" dirty="0">
                <a:solidFill>
                  <a:srgbClr val="555555"/>
                </a:solidFill>
                <a:latin typeface="Calibri" pitchFamily="34" charset="0"/>
                <a:ea typeface="Calibri" pitchFamily="34" charset="-122"/>
                <a:cs typeface="Calibri" pitchFamily="34" charset="-120"/>
              </a:rPr>
              <a:t>→</a:t>
            </a:r>
            <a:endParaRPr lang="en-US" sz="1400" dirty="0"/>
          </a:p>
        </p:txBody>
      </p:sp>
      <p:sp>
        <p:nvSpPr>
          <p:cNvPr id="15" name="Shape 11"/>
          <p:cNvSpPr/>
          <p:nvPr/>
        </p:nvSpPr>
        <p:spPr>
          <a:xfrm>
            <a:off x="3837280" y="2423160"/>
            <a:ext cx="1417320" cy="594360"/>
          </a:xfrm>
          <a:prstGeom prst="rect">
            <a:avLst/>
          </a:prstGeom>
          <a:solidFill>
            <a:srgbClr val="C00000"/>
          </a:solidFill>
          <a:ln/>
        </p:spPr>
      </p:sp>
      <p:sp>
        <p:nvSpPr>
          <p:cNvPr id="16" name="Text 12"/>
          <p:cNvSpPr/>
          <p:nvPr/>
        </p:nvSpPr>
        <p:spPr>
          <a:xfrm>
            <a:off x="3837280" y="2423160"/>
            <a:ext cx="1417320" cy="5943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Backend</a:t>
            </a:r>
            <a:endParaRPr lang="en-US" sz="1050" dirty="0"/>
          </a:p>
        </p:txBody>
      </p:sp>
      <p:sp>
        <p:nvSpPr>
          <p:cNvPr id="17" name="Text 13"/>
          <p:cNvSpPr/>
          <p:nvPr/>
        </p:nvSpPr>
        <p:spPr>
          <a:xfrm>
            <a:off x="5254600" y="2395728"/>
            <a:ext cx="132588" cy="594360"/>
          </a:xfrm>
          <a:prstGeom prst="rect">
            <a:avLst/>
          </a:prstGeom>
          <a:noFill/>
          <a:ln/>
        </p:spPr>
        <p:txBody>
          <a:bodyPr wrap="square" lIns="0" tIns="0" rIns="0" bIns="0" rtlCol="0" anchor="ctr"/>
          <a:lstStyle/>
          <a:p>
            <a:pPr algn="ctr" indent="0" marL="0">
              <a:buNone/>
            </a:pPr>
            <a:r>
              <a:rPr lang="en-US" sz="1400" dirty="0">
                <a:solidFill>
                  <a:srgbClr val="555555"/>
                </a:solidFill>
                <a:latin typeface="Calibri" pitchFamily="34" charset="0"/>
                <a:ea typeface="Calibri" pitchFamily="34" charset="-122"/>
                <a:cs typeface="Calibri" pitchFamily="34" charset="-120"/>
              </a:rPr>
              <a:t>→</a:t>
            </a:r>
            <a:endParaRPr lang="en-US" sz="1400" dirty="0"/>
          </a:p>
        </p:txBody>
      </p:sp>
      <p:sp>
        <p:nvSpPr>
          <p:cNvPr id="18" name="Shape 14"/>
          <p:cNvSpPr/>
          <p:nvPr/>
        </p:nvSpPr>
        <p:spPr>
          <a:xfrm>
            <a:off x="5387188" y="2423160"/>
            <a:ext cx="1417320" cy="594360"/>
          </a:xfrm>
          <a:prstGeom prst="rect">
            <a:avLst/>
          </a:prstGeom>
          <a:solidFill>
            <a:srgbClr val="000000"/>
          </a:solidFill>
          <a:ln/>
        </p:spPr>
      </p:sp>
      <p:sp>
        <p:nvSpPr>
          <p:cNvPr id="19" name="Text 15"/>
          <p:cNvSpPr/>
          <p:nvPr/>
        </p:nvSpPr>
        <p:spPr>
          <a:xfrm>
            <a:off x="5387188" y="2423160"/>
            <a:ext cx="1417320" cy="5943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AI Analysis</a:t>
            </a:r>
            <a:endParaRPr lang="en-US" sz="1050" dirty="0"/>
          </a:p>
        </p:txBody>
      </p:sp>
      <p:sp>
        <p:nvSpPr>
          <p:cNvPr id="20" name="Text 16"/>
          <p:cNvSpPr/>
          <p:nvPr/>
        </p:nvSpPr>
        <p:spPr>
          <a:xfrm>
            <a:off x="6804508" y="2395728"/>
            <a:ext cx="132588" cy="594360"/>
          </a:xfrm>
          <a:prstGeom prst="rect">
            <a:avLst/>
          </a:prstGeom>
          <a:noFill/>
          <a:ln/>
        </p:spPr>
        <p:txBody>
          <a:bodyPr wrap="square" lIns="0" tIns="0" rIns="0" bIns="0" rtlCol="0" anchor="ctr"/>
          <a:lstStyle/>
          <a:p>
            <a:pPr algn="ctr" indent="0" marL="0">
              <a:buNone/>
            </a:pPr>
            <a:r>
              <a:rPr lang="en-US" sz="1400" dirty="0">
                <a:solidFill>
                  <a:srgbClr val="555555"/>
                </a:solidFill>
                <a:latin typeface="Calibri" pitchFamily="34" charset="0"/>
                <a:ea typeface="Calibri" pitchFamily="34" charset="-122"/>
                <a:cs typeface="Calibri" pitchFamily="34" charset="-120"/>
              </a:rPr>
              <a:t>→</a:t>
            </a:r>
            <a:endParaRPr lang="en-US" sz="1400" dirty="0"/>
          </a:p>
        </p:txBody>
      </p:sp>
      <p:sp>
        <p:nvSpPr>
          <p:cNvPr id="21" name="Shape 17"/>
          <p:cNvSpPr/>
          <p:nvPr/>
        </p:nvSpPr>
        <p:spPr>
          <a:xfrm>
            <a:off x="6937096" y="2423160"/>
            <a:ext cx="1417320" cy="594360"/>
          </a:xfrm>
          <a:prstGeom prst="rect">
            <a:avLst/>
          </a:prstGeom>
          <a:solidFill>
            <a:srgbClr val="C00000"/>
          </a:solidFill>
          <a:ln/>
        </p:spPr>
      </p:sp>
      <p:sp>
        <p:nvSpPr>
          <p:cNvPr id="22" name="Text 18"/>
          <p:cNvSpPr/>
          <p:nvPr/>
        </p:nvSpPr>
        <p:spPr>
          <a:xfrm>
            <a:off x="6937096" y="2423160"/>
            <a:ext cx="1417320" cy="5943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Results</a:t>
            </a:r>
            <a:endParaRPr lang="en-US" sz="1050" dirty="0"/>
          </a:p>
        </p:txBody>
      </p:sp>
      <p:sp>
        <p:nvSpPr>
          <p:cNvPr id="23" name="Text 19"/>
          <p:cNvSpPr/>
          <p:nvPr/>
        </p:nvSpPr>
        <p:spPr>
          <a:xfrm>
            <a:off x="8354416" y="2395728"/>
            <a:ext cx="132588" cy="594360"/>
          </a:xfrm>
          <a:prstGeom prst="rect">
            <a:avLst/>
          </a:prstGeom>
          <a:noFill/>
          <a:ln/>
        </p:spPr>
        <p:txBody>
          <a:bodyPr wrap="square" lIns="0" tIns="0" rIns="0" bIns="0" rtlCol="0" anchor="ctr"/>
          <a:lstStyle/>
          <a:p>
            <a:pPr algn="ctr" indent="0" marL="0">
              <a:buNone/>
            </a:pPr>
            <a:r>
              <a:rPr lang="en-US" sz="1400" dirty="0">
                <a:solidFill>
                  <a:srgbClr val="555555"/>
                </a:solidFill>
                <a:latin typeface="Calibri" pitchFamily="34" charset="0"/>
                <a:ea typeface="Calibri" pitchFamily="34" charset="-122"/>
                <a:cs typeface="Calibri" pitchFamily="34" charset="-120"/>
              </a:rPr>
              <a:t>→</a:t>
            </a:r>
            <a:endParaRPr lang="en-US" sz="1400" dirty="0"/>
          </a:p>
        </p:txBody>
      </p:sp>
      <p:sp>
        <p:nvSpPr>
          <p:cNvPr id="24" name="Shape 20"/>
          <p:cNvSpPr/>
          <p:nvPr/>
        </p:nvSpPr>
        <p:spPr>
          <a:xfrm>
            <a:off x="8487004" y="2423160"/>
            <a:ext cx="1417320" cy="594360"/>
          </a:xfrm>
          <a:prstGeom prst="rect">
            <a:avLst/>
          </a:prstGeom>
          <a:solidFill>
            <a:srgbClr val="000000"/>
          </a:solidFill>
          <a:ln/>
        </p:spPr>
      </p:sp>
      <p:sp>
        <p:nvSpPr>
          <p:cNvPr id="25" name="Text 21"/>
          <p:cNvSpPr/>
          <p:nvPr/>
        </p:nvSpPr>
        <p:spPr>
          <a:xfrm>
            <a:off x="8487004" y="2423160"/>
            <a:ext cx="1417320" cy="5943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Database</a:t>
            </a:r>
            <a:endParaRPr lang="en-US" sz="1050" dirty="0"/>
          </a:p>
        </p:txBody>
      </p:sp>
      <p:sp>
        <p:nvSpPr>
          <p:cNvPr id="26" name="Text 22"/>
          <p:cNvSpPr/>
          <p:nvPr/>
        </p:nvSpPr>
        <p:spPr>
          <a:xfrm>
            <a:off x="9904324" y="2395728"/>
            <a:ext cx="132588" cy="594360"/>
          </a:xfrm>
          <a:prstGeom prst="rect">
            <a:avLst/>
          </a:prstGeom>
          <a:noFill/>
          <a:ln/>
        </p:spPr>
        <p:txBody>
          <a:bodyPr wrap="square" lIns="0" tIns="0" rIns="0" bIns="0" rtlCol="0" anchor="ctr"/>
          <a:lstStyle/>
          <a:p>
            <a:pPr algn="ctr" indent="0" marL="0">
              <a:buNone/>
            </a:pPr>
            <a:r>
              <a:rPr lang="en-US" sz="1400" dirty="0">
                <a:solidFill>
                  <a:srgbClr val="555555"/>
                </a:solidFill>
                <a:latin typeface="Calibri" pitchFamily="34" charset="0"/>
                <a:ea typeface="Calibri" pitchFamily="34" charset="-122"/>
                <a:cs typeface="Calibri" pitchFamily="34" charset="-120"/>
              </a:rPr>
              <a:t>→</a:t>
            </a:r>
            <a:endParaRPr lang="en-US" sz="1400" dirty="0"/>
          </a:p>
        </p:txBody>
      </p:sp>
      <p:sp>
        <p:nvSpPr>
          <p:cNvPr id="27" name="Shape 23"/>
          <p:cNvSpPr/>
          <p:nvPr/>
        </p:nvSpPr>
        <p:spPr>
          <a:xfrm>
            <a:off x="10036912" y="2423160"/>
            <a:ext cx="1417320" cy="594360"/>
          </a:xfrm>
          <a:prstGeom prst="rect">
            <a:avLst/>
          </a:prstGeom>
          <a:solidFill>
            <a:srgbClr val="C00000"/>
          </a:solidFill>
          <a:ln/>
        </p:spPr>
      </p:sp>
      <p:sp>
        <p:nvSpPr>
          <p:cNvPr id="28" name="Text 24"/>
          <p:cNvSpPr/>
          <p:nvPr/>
        </p:nvSpPr>
        <p:spPr>
          <a:xfrm>
            <a:off x="10036912" y="2423160"/>
            <a:ext cx="1417320" cy="5943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Dashboard</a:t>
            </a:r>
            <a:endParaRPr lang="en-US" sz="1050" dirty="0"/>
          </a:p>
        </p:txBody>
      </p:sp>
      <p:sp>
        <p:nvSpPr>
          <p:cNvPr id="29" name="Text 25"/>
          <p:cNvSpPr/>
          <p:nvPr/>
        </p:nvSpPr>
        <p:spPr>
          <a:xfrm>
            <a:off x="548640" y="3246120"/>
            <a:ext cx="11064240" cy="320040"/>
          </a:xfrm>
          <a:prstGeom prst="rect">
            <a:avLst/>
          </a:prstGeom>
          <a:noFill/>
          <a:ln/>
        </p:spPr>
        <p:txBody>
          <a:bodyPr wrap="square" lIns="0" tIns="0" rIns="0" bIns="0" rtlCol="0" anchor="ctr"/>
          <a:lstStyle/>
          <a:p>
            <a:pPr algn="ctr" indent="0" marL="0">
              <a:buNone/>
            </a:pPr>
            <a:r>
              <a:rPr lang="en-US" sz="1050" i="1" dirty="0">
                <a:solidFill>
                  <a:srgbClr val="555555"/>
                </a:solidFill>
                <a:latin typeface="Calibri" pitchFamily="34" charset="0"/>
                <a:ea typeface="Calibri" pitchFamily="34" charset="-122"/>
                <a:cs typeface="Calibri" pitchFamily="34" charset="-120"/>
              </a:rPr>
              <a:t>The GitHub API connects directly to the repository input stage, enabling seamless code retrieval for analysis.</a:t>
            </a:r>
            <a:endParaRPr lang="en-US" sz="1050" dirty="0"/>
          </a:p>
        </p:txBody>
      </p:sp>
      <p:sp>
        <p:nvSpPr>
          <p:cNvPr id="30" name="Text 26"/>
          <p:cNvSpPr/>
          <p:nvPr/>
        </p:nvSpPr>
        <p:spPr>
          <a:xfrm>
            <a:off x="548640" y="3931920"/>
            <a:ext cx="5394960" cy="32004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Technology Stack</a:t>
            </a:r>
            <a:endParaRPr lang="en-US" sz="1400" dirty="0"/>
          </a:p>
        </p:txBody>
      </p:sp>
      <p:sp>
        <p:nvSpPr>
          <p:cNvPr id="31" name="Text 27"/>
          <p:cNvSpPr/>
          <p:nvPr/>
        </p:nvSpPr>
        <p:spPr>
          <a:xfrm>
            <a:off x="548640" y="4343400"/>
            <a:ext cx="2651760" cy="347472"/>
          </a:xfrm>
          <a:prstGeom prst="rect">
            <a:avLst/>
          </a:prstGeom>
          <a:noFill/>
          <a:ln/>
        </p:spPr>
        <p:txBody>
          <a:bodyPr wrap="square" lIns="0" tIns="0" rIns="0" bIns="0" rtlCol="0" anchor="ctr"/>
          <a:lstStyle/>
          <a:p>
            <a:pPr indent="0" marL="0">
              <a:buNone/>
            </a:pPr>
            <a:r>
              <a:rPr lang="en-US" sz="1100" b="1" dirty="0">
                <a:solidFill>
                  <a:srgbClr val="C00000"/>
                </a:solidFill>
                <a:latin typeface="Calibri" pitchFamily="34" charset="0"/>
                <a:ea typeface="Calibri" pitchFamily="34" charset="-122"/>
                <a:cs typeface="Calibri" pitchFamily="34" charset="-120"/>
              </a:rPr>
              <a:t>Frontend:  </a:t>
            </a:r>
            <a:pPr indent="0" marL="0">
              <a:buNone/>
            </a:pPr>
            <a:r>
              <a:rPr lang="en-US" sz="1100" dirty="0">
                <a:solidFill>
                  <a:srgbClr val="262626"/>
                </a:solidFill>
                <a:latin typeface="Calibri" pitchFamily="34" charset="0"/>
                <a:ea typeface="Calibri" pitchFamily="34" charset="-122"/>
                <a:cs typeface="Calibri" pitchFamily="34" charset="-120"/>
              </a:rPr>
              <a:t>React.js</a:t>
            </a:r>
            <a:endParaRPr lang="en-US" sz="1100" dirty="0"/>
          </a:p>
        </p:txBody>
      </p:sp>
      <p:sp>
        <p:nvSpPr>
          <p:cNvPr id="32" name="Text 28"/>
          <p:cNvSpPr/>
          <p:nvPr/>
        </p:nvSpPr>
        <p:spPr>
          <a:xfrm>
            <a:off x="548640" y="4727448"/>
            <a:ext cx="2651760" cy="347472"/>
          </a:xfrm>
          <a:prstGeom prst="rect">
            <a:avLst/>
          </a:prstGeom>
          <a:noFill/>
          <a:ln/>
        </p:spPr>
        <p:txBody>
          <a:bodyPr wrap="square" lIns="0" tIns="0" rIns="0" bIns="0" rtlCol="0" anchor="ctr"/>
          <a:lstStyle/>
          <a:p>
            <a:pPr indent="0" marL="0">
              <a:buNone/>
            </a:pPr>
            <a:r>
              <a:rPr lang="en-US" sz="1100" b="1" dirty="0">
                <a:solidFill>
                  <a:srgbClr val="C00000"/>
                </a:solidFill>
                <a:latin typeface="Calibri" pitchFamily="34" charset="0"/>
                <a:ea typeface="Calibri" pitchFamily="34" charset="-122"/>
                <a:cs typeface="Calibri" pitchFamily="34" charset="-120"/>
              </a:rPr>
              <a:t>Backend:  </a:t>
            </a:r>
            <a:pPr indent="0" marL="0">
              <a:buNone/>
            </a:pPr>
            <a:r>
              <a:rPr lang="en-US" sz="1100" dirty="0">
                <a:solidFill>
                  <a:srgbClr val="262626"/>
                </a:solidFill>
                <a:latin typeface="Calibri" pitchFamily="34" charset="0"/>
                <a:ea typeface="Calibri" pitchFamily="34" charset="-122"/>
                <a:cs typeface="Calibri" pitchFamily="34" charset="-120"/>
              </a:rPr>
              <a:t>FastAPI + Python</a:t>
            </a:r>
            <a:endParaRPr lang="en-US" sz="1100" dirty="0"/>
          </a:p>
        </p:txBody>
      </p:sp>
      <p:sp>
        <p:nvSpPr>
          <p:cNvPr id="33" name="Text 29"/>
          <p:cNvSpPr/>
          <p:nvPr/>
        </p:nvSpPr>
        <p:spPr>
          <a:xfrm>
            <a:off x="548640" y="5111496"/>
            <a:ext cx="2651760" cy="347472"/>
          </a:xfrm>
          <a:prstGeom prst="rect">
            <a:avLst/>
          </a:prstGeom>
          <a:noFill/>
          <a:ln/>
        </p:spPr>
        <p:txBody>
          <a:bodyPr wrap="square" lIns="0" tIns="0" rIns="0" bIns="0" rtlCol="0" anchor="ctr"/>
          <a:lstStyle/>
          <a:p>
            <a:pPr indent="0" marL="0">
              <a:buNone/>
            </a:pPr>
            <a:r>
              <a:rPr lang="en-US" sz="1100" b="1" dirty="0">
                <a:solidFill>
                  <a:srgbClr val="C00000"/>
                </a:solidFill>
                <a:latin typeface="Calibri" pitchFamily="34" charset="0"/>
                <a:ea typeface="Calibri" pitchFamily="34" charset="-122"/>
                <a:cs typeface="Calibri" pitchFamily="34" charset="-120"/>
              </a:rPr>
              <a:t>AI:  </a:t>
            </a:r>
            <a:pPr indent="0" marL="0">
              <a:buNone/>
            </a:pPr>
            <a:r>
              <a:rPr lang="en-US" sz="1100" dirty="0">
                <a:solidFill>
                  <a:srgbClr val="262626"/>
                </a:solidFill>
                <a:latin typeface="Calibri" pitchFamily="34" charset="0"/>
                <a:ea typeface="Calibri" pitchFamily="34" charset="-122"/>
                <a:cs typeface="Calibri" pitchFamily="34" charset="-120"/>
              </a:rPr>
              <a:t>Gemini AI API</a:t>
            </a:r>
            <a:endParaRPr lang="en-US" sz="1100" dirty="0"/>
          </a:p>
        </p:txBody>
      </p:sp>
      <p:sp>
        <p:nvSpPr>
          <p:cNvPr id="34" name="Text 30"/>
          <p:cNvSpPr/>
          <p:nvPr/>
        </p:nvSpPr>
        <p:spPr>
          <a:xfrm>
            <a:off x="3291840" y="4343400"/>
            <a:ext cx="2651760" cy="347472"/>
          </a:xfrm>
          <a:prstGeom prst="rect">
            <a:avLst/>
          </a:prstGeom>
          <a:noFill/>
          <a:ln/>
        </p:spPr>
        <p:txBody>
          <a:bodyPr wrap="square" lIns="0" tIns="0" rIns="0" bIns="0" rtlCol="0" anchor="ctr"/>
          <a:lstStyle/>
          <a:p>
            <a:pPr indent="0" marL="0">
              <a:buNone/>
            </a:pPr>
            <a:r>
              <a:rPr lang="en-US" sz="1100" b="1" dirty="0">
                <a:solidFill>
                  <a:srgbClr val="C00000"/>
                </a:solidFill>
                <a:latin typeface="Calibri" pitchFamily="34" charset="0"/>
                <a:ea typeface="Calibri" pitchFamily="34" charset="-122"/>
                <a:cs typeface="Calibri" pitchFamily="34" charset="-120"/>
              </a:rPr>
              <a:t>Database:  </a:t>
            </a:r>
            <a:pPr indent="0" marL="0">
              <a:buNone/>
            </a:pPr>
            <a:r>
              <a:rPr lang="en-US" sz="1100" dirty="0">
                <a:solidFill>
                  <a:srgbClr val="262626"/>
                </a:solidFill>
                <a:latin typeface="Calibri" pitchFamily="34" charset="0"/>
                <a:ea typeface="Calibri" pitchFamily="34" charset="-122"/>
                <a:cs typeface="Calibri" pitchFamily="34" charset="-120"/>
              </a:rPr>
              <a:t>SQLite</a:t>
            </a:r>
            <a:endParaRPr lang="en-US" sz="1100" dirty="0"/>
          </a:p>
        </p:txBody>
      </p:sp>
      <p:sp>
        <p:nvSpPr>
          <p:cNvPr id="35" name="Text 31"/>
          <p:cNvSpPr/>
          <p:nvPr/>
        </p:nvSpPr>
        <p:spPr>
          <a:xfrm>
            <a:off x="3291840" y="4727448"/>
            <a:ext cx="2651760" cy="347472"/>
          </a:xfrm>
          <a:prstGeom prst="rect">
            <a:avLst/>
          </a:prstGeom>
          <a:noFill/>
          <a:ln/>
        </p:spPr>
        <p:txBody>
          <a:bodyPr wrap="square" lIns="0" tIns="0" rIns="0" bIns="0" rtlCol="0" anchor="ctr"/>
          <a:lstStyle/>
          <a:p>
            <a:pPr indent="0" marL="0">
              <a:buNone/>
            </a:pPr>
            <a:r>
              <a:rPr lang="en-US" sz="1100" b="1" dirty="0">
                <a:solidFill>
                  <a:srgbClr val="C00000"/>
                </a:solidFill>
                <a:latin typeface="Calibri" pitchFamily="34" charset="0"/>
                <a:ea typeface="Calibri" pitchFamily="34" charset="-122"/>
                <a:cs typeface="Calibri" pitchFamily="34" charset="-120"/>
              </a:rPr>
              <a:t>Version Control:  </a:t>
            </a:r>
            <a:pPr indent="0" marL="0">
              <a:buNone/>
            </a:pPr>
            <a:r>
              <a:rPr lang="en-US" sz="1100" dirty="0">
                <a:solidFill>
                  <a:srgbClr val="262626"/>
                </a:solidFill>
                <a:latin typeface="Calibri" pitchFamily="34" charset="0"/>
                <a:ea typeface="Calibri" pitchFamily="34" charset="-122"/>
                <a:cs typeface="Calibri" pitchFamily="34" charset="-120"/>
              </a:rPr>
              <a:t>Git + GitHub / GitHub API</a:t>
            </a:r>
            <a:endParaRPr lang="en-US" sz="1100" dirty="0"/>
          </a:p>
        </p:txBody>
      </p:sp>
      <p:sp>
        <p:nvSpPr>
          <p:cNvPr id="36" name="Text 32"/>
          <p:cNvSpPr/>
          <p:nvPr/>
        </p:nvSpPr>
        <p:spPr>
          <a:xfrm>
            <a:off x="3291840" y="5111496"/>
            <a:ext cx="2651760" cy="347472"/>
          </a:xfrm>
          <a:prstGeom prst="rect">
            <a:avLst/>
          </a:prstGeom>
          <a:noFill/>
          <a:ln/>
        </p:spPr>
        <p:txBody>
          <a:bodyPr wrap="square" lIns="0" tIns="0" rIns="0" bIns="0" rtlCol="0" anchor="ctr"/>
          <a:lstStyle/>
          <a:p>
            <a:pPr indent="0" marL="0">
              <a:buNone/>
            </a:pPr>
            <a:r>
              <a:rPr lang="en-US" sz="1100" b="1" dirty="0">
                <a:solidFill>
                  <a:srgbClr val="C00000"/>
                </a:solidFill>
                <a:latin typeface="Calibri" pitchFamily="34" charset="0"/>
                <a:ea typeface="Calibri" pitchFamily="34" charset="-122"/>
                <a:cs typeface="Calibri" pitchFamily="34" charset="-120"/>
              </a:rPr>
              <a:t>Automation:  </a:t>
            </a:r>
            <a:pPr indent="0" marL="0">
              <a:buNone/>
            </a:pPr>
            <a:r>
              <a:rPr lang="en-US" sz="1100" dirty="0">
                <a:solidFill>
                  <a:srgbClr val="262626"/>
                </a:solidFill>
                <a:latin typeface="Calibri" pitchFamily="34" charset="0"/>
                <a:ea typeface="Calibri" pitchFamily="34" charset="-122"/>
                <a:cs typeface="Calibri" pitchFamily="34" charset="-120"/>
              </a:rPr>
              <a:t>GitHub Actions</a:t>
            </a:r>
            <a:endParaRPr lang="en-US" sz="1100" dirty="0"/>
          </a:p>
        </p:txBody>
      </p:sp>
      <p:sp>
        <p:nvSpPr>
          <p:cNvPr id="37" name="Shape 33"/>
          <p:cNvSpPr/>
          <p:nvPr/>
        </p:nvSpPr>
        <p:spPr>
          <a:xfrm>
            <a:off x="6309360" y="3977640"/>
            <a:ext cx="0" cy="1828800"/>
          </a:xfrm>
          <a:prstGeom prst="line">
            <a:avLst/>
          </a:prstGeom>
          <a:noFill/>
          <a:ln w="12700">
            <a:solidFill>
              <a:srgbClr val="D9D9D9"/>
            </a:solidFill>
            <a:prstDash val="solid"/>
          </a:ln>
        </p:spPr>
      </p:sp>
      <p:sp>
        <p:nvSpPr>
          <p:cNvPr id="38" name="Text 34"/>
          <p:cNvSpPr/>
          <p:nvPr/>
        </p:nvSpPr>
        <p:spPr>
          <a:xfrm>
            <a:off x="6583680" y="3931920"/>
            <a:ext cx="5029200" cy="320040"/>
          </a:xfrm>
          <a:prstGeom prst="rect">
            <a:avLst/>
          </a:prstGeom>
          <a:noFill/>
          <a:ln/>
        </p:spPr>
        <p:txBody>
          <a:bodyPr wrap="square" lIns="0" tIns="0" rIns="0" bIns="0" rtlCol="0" anchor="ctr"/>
          <a:lstStyle/>
          <a:p>
            <a:pPr indent="0" marL="0">
              <a:buNone/>
            </a:pPr>
            <a:r>
              <a:rPr lang="en-US" sz="1400" b="1" dirty="0">
                <a:solidFill>
                  <a:srgbClr val="C00000"/>
                </a:solidFill>
                <a:latin typeface="Calibri" pitchFamily="34" charset="0"/>
                <a:ea typeface="Calibri" pitchFamily="34" charset="-122"/>
                <a:cs typeface="Calibri" pitchFamily="34" charset="-120"/>
              </a:rPr>
              <a:t>Data Flow</a:t>
            </a:r>
            <a:endParaRPr lang="en-US" sz="1400" dirty="0"/>
          </a:p>
        </p:txBody>
      </p:sp>
      <p:sp>
        <p:nvSpPr>
          <p:cNvPr id="39" name="Text 35"/>
          <p:cNvSpPr/>
          <p:nvPr/>
        </p:nvSpPr>
        <p:spPr>
          <a:xfrm>
            <a:off x="6583680" y="4343400"/>
            <a:ext cx="5029200" cy="731520"/>
          </a:xfrm>
          <a:prstGeom prst="rect">
            <a:avLst/>
          </a:prstGeom>
          <a:noFill/>
          <a:ln/>
        </p:spPr>
        <p:txBody>
          <a:bodyPr wrap="square" lIns="0" tIns="0" rIns="0" bIns="0" rtlCol="0" anchor="ctr"/>
          <a:lstStyle/>
          <a:p>
            <a:pPr indent="0" marL="0">
              <a:lnSpc>
                <a:spcPct val="130000"/>
              </a:lnSpc>
              <a:buNone/>
            </a:pPr>
            <a:r>
              <a:rPr lang="en-US" sz="1150" dirty="0">
                <a:solidFill>
                  <a:srgbClr val="262626"/>
                </a:solidFill>
                <a:latin typeface="Calibri" pitchFamily="34" charset="0"/>
                <a:ea typeface="Calibri" pitchFamily="34" charset="-122"/>
                <a:cs typeface="Calibri" pitchFamily="34" charset="-120"/>
              </a:rPr>
              <a:t>User → Code Input → Backend → AI Analysis → Results → Database → Dashboard</a:t>
            </a:r>
            <a:endParaRPr lang="en-US" sz="1150" dirty="0"/>
          </a:p>
        </p:txBody>
      </p:sp>
      <p:sp>
        <p:nvSpPr>
          <p:cNvPr id="40" name="Text 36"/>
          <p:cNvSpPr/>
          <p:nvPr/>
        </p:nvSpPr>
        <p:spPr>
          <a:xfrm>
            <a:off x="320040" y="6355080"/>
            <a:ext cx="36576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12045391" cy="6711696"/>
          </a:xfrm>
          <a:prstGeom prst="rect">
            <a:avLst/>
          </a:prstGeom>
          <a:ln w="57150">
            <a:solidFill>
              <a:srgbClr val="000000"/>
            </a:solidFill>
            <a:prstDash val="solid"/>
          </a:ln>
        </p:spPr>
      </p:sp>
      <p:pic>
        <p:nvPicPr>
          <p:cNvPr id="3" name="Image 0" descr="/home/claude/logo_final.png">    </p:cNvPr>
          <p:cNvPicPr>
            <a:picLocks noChangeAspect="1"/>
          </p:cNvPicPr>
          <p:nvPr/>
        </p:nvPicPr>
        <p:blipFill>
          <a:blip r:embed="rId1"/>
          <a:stretch>
            <a:fillRect/>
          </a:stretch>
        </p:blipFill>
        <p:spPr>
          <a:xfrm>
            <a:off x="10591495" y="274320"/>
            <a:ext cx="1234440" cy="318424"/>
          </a:xfrm>
          <a:prstGeom prst="rect">
            <a:avLst/>
          </a:prstGeom>
        </p:spPr>
      </p:pic>
      <p:sp>
        <p:nvSpPr>
          <p:cNvPr id="4" name="Shape 1"/>
          <p:cNvSpPr/>
          <p:nvPr/>
        </p:nvSpPr>
        <p:spPr>
          <a:xfrm>
            <a:off x="320040" y="6227987"/>
            <a:ext cx="7894015" cy="0"/>
          </a:xfrm>
          <a:prstGeom prst="line">
            <a:avLst/>
          </a:prstGeom>
          <a:noFill/>
          <a:ln w="25400">
            <a:solidFill>
              <a:srgbClr val="ED7D31"/>
            </a:solidFill>
            <a:prstDash val="solid"/>
          </a:ln>
        </p:spPr>
      </p:sp>
      <p:pic>
        <p:nvPicPr>
          <p:cNvPr id="5" name="Image 1" descr="/home/claude/box_final2.png">    </p:cNvPr>
          <p:cNvPicPr>
            <a:picLocks noChangeAspect="1"/>
          </p:cNvPicPr>
          <p:nvPr/>
        </p:nvPicPr>
        <p:blipFill>
          <a:blip r:embed="rId2"/>
          <a:stretch>
            <a:fillRect/>
          </a:stretch>
        </p:blipFill>
        <p:spPr>
          <a:xfrm>
            <a:off x="8396935" y="5982021"/>
            <a:ext cx="3383280" cy="491931"/>
          </a:xfrm>
          <a:prstGeom prst="rect">
            <a:avLst/>
          </a:prstGeom>
        </p:spPr>
      </p:pic>
      <p:sp>
        <p:nvSpPr>
          <p:cNvPr id="6" name="Shape 2"/>
          <p:cNvSpPr/>
          <p:nvPr/>
        </p:nvSpPr>
        <p:spPr>
          <a:xfrm>
            <a:off x="4312768" y="384048"/>
            <a:ext cx="3566160" cy="566928"/>
          </a:xfrm>
          <a:prstGeom prst="rect">
            <a:avLst/>
          </a:prstGeom>
          <a:solidFill>
            <a:srgbClr val="C00000"/>
          </a:solidFill>
          <a:ln/>
        </p:spPr>
      </p:sp>
      <p:sp>
        <p:nvSpPr>
          <p:cNvPr id="7" name="Text 3"/>
          <p:cNvSpPr/>
          <p:nvPr/>
        </p:nvSpPr>
        <p:spPr>
          <a:xfrm>
            <a:off x="4312768" y="384048"/>
            <a:ext cx="3566160"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System Modules</a:t>
            </a:r>
            <a:endParaRPr lang="en-US" sz="2400" dirty="0"/>
          </a:p>
        </p:txBody>
      </p:sp>
      <p:sp>
        <p:nvSpPr>
          <p:cNvPr id="8" name="Text 4"/>
          <p:cNvSpPr/>
          <p:nvPr/>
        </p:nvSpPr>
        <p:spPr>
          <a:xfrm>
            <a:off x="548640" y="1371600"/>
            <a:ext cx="11064240" cy="365760"/>
          </a:xfrm>
          <a:prstGeom prst="rect">
            <a:avLst/>
          </a:prstGeom>
          <a:noFill/>
          <a:ln/>
        </p:spPr>
        <p:txBody>
          <a:bodyPr wrap="square" lIns="0" tIns="0" rIns="0" bIns="0" rtlCol="0" anchor="ctr"/>
          <a:lstStyle/>
          <a:p>
            <a:pPr indent="0" marL="0">
              <a:buNone/>
            </a:pPr>
            <a:r>
              <a:rPr lang="en-US" sz="1250" dirty="0">
                <a:solidFill>
                  <a:srgbClr val="555555"/>
                </a:solidFill>
                <a:latin typeface="Calibri" pitchFamily="34" charset="0"/>
                <a:ea typeface="Calibri" pitchFamily="34" charset="-122"/>
                <a:cs typeface="Calibri" pitchFamily="34" charset="-120"/>
              </a:rPr>
              <a:t>CodeInsight AI is organized into six interconnected modules, each handling a distinct stage of the code review pipeline from authentication through result presentation.</a:t>
            </a:r>
            <a:endParaRPr lang="en-US" sz="1250" dirty="0"/>
          </a:p>
        </p:txBody>
      </p:sp>
      <p:sp>
        <p:nvSpPr>
          <p:cNvPr id="9" name="Shape 5"/>
          <p:cNvSpPr/>
          <p:nvPr/>
        </p:nvSpPr>
        <p:spPr>
          <a:xfrm>
            <a:off x="548640" y="1920240"/>
            <a:ext cx="3566160" cy="1371600"/>
          </a:xfrm>
          <a:prstGeom prst="rect">
            <a:avLst/>
          </a:prstGeom>
          <a:solidFill>
            <a:srgbClr val="FFFFFF"/>
          </a:solidFill>
          <a:ln w="12700">
            <a:solidFill>
              <a:srgbClr val="D9D9D9"/>
            </a:solidFill>
            <a:prstDash val="solid"/>
          </a:ln>
        </p:spPr>
      </p:sp>
      <p:sp>
        <p:nvSpPr>
          <p:cNvPr id="10" name="Shape 6"/>
          <p:cNvSpPr/>
          <p:nvPr/>
        </p:nvSpPr>
        <p:spPr>
          <a:xfrm>
            <a:off x="749808" y="2121408"/>
            <a:ext cx="329184" cy="329184"/>
          </a:xfrm>
          <a:prstGeom prst="ellipse">
            <a:avLst/>
          </a:prstGeom>
          <a:solidFill>
            <a:srgbClr val="C00000"/>
          </a:solidFill>
          <a:ln/>
        </p:spPr>
      </p:sp>
      <p:sp>
        <p:nvSpPr>
          <p:cNvPr id="11" name="Text 7"/>
          <p:cNvSpPr/>
          <p:nvPr/>
        </p:nvSpPr>
        <p:spPr>
          <a:xfrm>
            <a:off x="749808" y="2121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8"/>
          <p:cNvSpPr/>
          <p:nvPr/>
        </p:nvSpPr>
        <p:spPr>
          <a:xfrm>
            <a:off x="1207008" y="2066544"/>
            <a:ext cx="2743200" cy="41148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User Authentication</a:t>
            </a:r>
            <a:endParaRPr lang="en-US" sz="1250" dirty="0"/>
          </a:p>
        </p:txBody>
      </p:sp>
      <p:sp>
        <p:nvSpPr>
          <p:cNvPr id="13" name="Text 9"/>
          <p:cNvSpPr/>
          <p:nvPr/>
        </p:nvSpPr>
        <p:spPr>
          <a:xfrm>
            <a:off x="749808" y="2542032"/>
            <a:ext cx="3163824" cy="685800"/>
          </a:xfrm>
          <a:prstGeom prst="rect">
            <a:avLst/>
          </a:prstGeom>
          <a:noFill/>
          <a:ln/>
        </p:spPr>
        <p:txBody>
          <a:bodyPr wrap="square" lIns="0" tIns="0" rIns="0" bIns="0" rtlCol="0" anchor="t"/>
          <a:lstStyle/>
          <a:p>
            <a:pPr indent="0" marL="0">
              <a:lnSpc>
                <a:spcPct val="118000"/>
              </a:lnSpc>
              <a:buNone/>
            </a:pPr>
            <a:r>
              <a:rPr lang="en-US" sz="1050" dirty="0">
                <a:solidFill>
                  <a:srgbClr val="262626"/>
                </a:solidFill>
                <a:latin typeface="Calibri" pitchFamily="34" charset="0"/>
                <a:ea typeface="Calibri" pitchFamily="34" charset="-122"/>
                <a:cs typeface="Calibri" pitchFamily="34" charset="-120"/>
              </a:rPr>
              <a:t>Allows users to securely access the application.</a:t>
            </a:r>
            <a:endParaRPr lang="en-US" sz="1050" dirty="0"/>
          </a:p>
        </p:txBody>
      </p:sp>
      <p:sp>
        <p:nvSpPr>
          <p:cNvPr id="14" name="Shape 10"/>
          <p:cNvSpPr/>
          <p:nvPr/>
        </p:nvSpPr>
        <p:spPr>
          <a:xfrm>
            <a:off x="4297680" y="1920240"/>
            <a:ext cx="3566160" cy="1371600"/>
          </a:xfrm>
          <a:prstGeom prst="rect">
            <a:avLst/>
          </a:prstGeom>
          <a:solidFill>
            <a:srgbClr val="FFFFFF"/>
          </a:solidFill>
          <a:ln w="12700">
            <a:solidFill>
              <a:srgbClr val="D9D9D9"/>
            </a:solidFill>
            <a:prstDash val="solid"/>
          </a:ln>
        </p:spPr>
      </p:sp>
      <p:sp>
        <p:nvSpPr>
          <p:cNvPr id="15" name="Shape 11"/>
          <p:cNvSpPr/>
          <p:nvPr/>
        </p:nvSpPr>
        <p:spPr>
          <a:xfrm>
            <a:off x="4498848" y="2121408"/>
            <a:ext cx="329184" cy="329184"/>
          </a:xfrm>
          <a:prstGeom prst="ellipse">
            <a:avLst/>
          </a:prstGeom>
          <a:solidFill>
            <a:srgbClr val="C00000"/>
          </a:solidFill>
          <a:ln/>
        </p:spPr>
      </p:sp>
      <p:sp>
        <p:nvSpPr>
          <p:cNvPr id="16" name="Text 12"/>
          <p:cNvSpPr/>
          <p:nvPr/>
        </p:nvSpPr>
        <p:spPr>
          <a:xfrm>
            <a:off x="4498848" y="2121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3"/>
          <p:cNvSpPr/>
          <p:nvPr/>
        </p:nvSpPr>
        <p:spPr>
          <a:xfrm>
            <a:off x="4956048" y="2066544"/>
            <a:ext cx="2743200" cy="41148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Code Upload / GitHub Integration</a:t>
            </a:r>
            <a:endParaRPr lang="en-US" sz="1250" dirty="0"/>
          </a:p>
        </p:txBody>
      </p:sp>
      <p:sp>
        <p:nvSpPr>
          <p:cNvPr id="18" name="Text 14"/>
          <p:cNvSpPr/>
          <p:nvPr/>
        </p:nvSpPr>
        <p:spPr>
          <a:xfrm>
            <a:off x="4498848" y="2542032"/>
            <a:ext cx="3163824" cy="685800"/>
          </a:xfrm>
          <a:prstGeom prst="rect">
            <a:avLst/>
          </a:prstGeom>
          <a:noFill/>
          <a:ln/>
        </p:spPr>
        <p:txBody>
          <a:bodyPr wrap="square" lIns="0" tIns="0" rIns="0" bIns="0" rtlCol="0" anchor="t"/>
          <a:lstStyle/>
          <a:p>
            <a:pPr indent="0" marL="0">
              <a:lnSpc>
                <a:spcPct val="118000"/>
              </a:lnSpc>
              <a:buNone/>
            </a:pPr>
            <a:r>
              <a:rPr lang="en-US" sz="1050" dirty="0">
                <a:solidFill>
                  <a:srgbClr val="262626"/>
                </a:solidFill>
                <a:latin typeface="Calibri" pitchFamily="34" charset="0"/>
                <a:ea typeface="Calibri" pitchFamily="34" charset="-122"/>
                <a:cs typeface="Calibri" pitchFamily="34" charset="-120"/>
              </a:rPr>
              <a:t>Accepts source code uploads or retrieves code from a GitHub repository via the GitHub API.</a:t>
            </a:r>
            <a:endParaRPr lang="en-US" sz="1050" dirty="0"/>
          </a:p>
        </p:txBody>
      </p:sp>
      <p:sp>
        <p:nvSpPr>
          <p:cNvPr id="19" name="Shape 15"/>
          <p:cNvSpPr/>
          <p:nvPr/>
        </p:nvSpPr>
        <p:spPr>
          <a:xfrm>
            <a:off x="8046720" y="1920240"/>
            <a:ext cx="3566160" cy="1371600"/>
          </a:xfrm>
          <a:prstGeom prst="rect">
            <a:avLst/>
          </a:prstGeom>
          <a:solidFill>
            <a:srgbClr val="FFFFFF"/>
          </a:solidFill>
          <a:ln w="12700">
            <a:solidFill>
              <a:srgbClr val="D9D9D9"/>
            </a:solidFill>
            <a:prstDash val="solid"/>
          </a:ln>
        </p:spPr>
      </p:sp>
      <p:sp>
        <p:nvSpPr>
          <p:cNvPr id="20" name="Shape 16"/>
          <p:cNvSpPr/>
          <p:nvPr/>
        </p:nvSpPr>
        <p:spPr>
          <a:xfrm>
            <a:off x="8247888" y="2121408"/>
            <a:ext cx="329184" cy="329184"/>
          </a:xfrm>
          <a:prstGeom prst="ellipse">
            <a:avLst/>
          </a:prstGeom>
          <a:solidFill>
            <a:srgbClr val="C00000"/>
          </a:solidFill>
          <a:ln/>
        </p:spPr>
      </p:sp>
      <p:sp>
        <p:nvSpPr>
          <p:cNvPr id="21" name="Text 17"/>
          <p:cNvSpPr/>
          <p:nvPr/>
        </p:nvSpPr>
        <p:spPr>
          <a:xfrm>
            <a:off x="8247888" y="2121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18"/>
          <p:cNvSpPr/>
          <p:nvPr/>
        </p:nvSpPr>
        <p:spPr>
          <a:xfrm>
            <a:off x="8705088" y="2066544"/>
            <a:ext cx="2743200" cy="41148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AI Code Analysis</a:t>
            </a:r>
            <a:endParaRPr lang="en-US" sz="1250" dirty="0"/>
          </a:p>
        </p:txBody>
      </p:sp>
      <p:sp>
        <p:nvSpPr>
          <p:cNvPr id="23" name="Text 19"/>
          <p:cNvSpPr/>
          <p:nvPr/>
        </p:nvSpPr>
        <p:spPr>
          <a:xfrm>
            <a:off x="8247888" y="2542032"/>
            <a:ext cx="3163824" cy="685800"/>
          </a:xfrm>
          <a:prstGeom prst="rect">
            <a:avLst/>
          </a:prstGeom>
          <a:noFill/>
          <a:ln/>
        </p:spPr>
        <p:txBody>
          <a:bodyPr wrap="square" lIns="0" tIns="0" rIns="0" bIns="0" rtlCol="0" anchor="t"/>
          <a:lstStyle/>
          <a:p>
            <a:pPr indent="0" marL="0">
              <a:lnSpc>
                <a:spcPct val="118000"/>
              </a:lnSpc>
              <a:buNone/>
            </a:pPr>
            <a:r>
              <a:rPr lang="en-US" sz="1050" dirty="0">
                <a:solidFill>
                  <a:srgbClr val="262626"/>
                </a:solidFill>
                <a:latin typeface="Calibri" pitchFamily="34" charset="0"/>
                <a:ea typeface="Calibri" pitchFamily="34" charset="-122"/>
                <a:cs typeface="Calibri" pitchFamily="34" charset="-120"/>
              </a:rPr>
              <a:t>Uses the Gemini AI API to analyze submitted code for bugs, issues, and quality.</a:t>
            </a:r>
            <a:endParaRPr lang="en-US" sz="1050" dirty="0"/>
          </a:p>
        </p:txBody>
      </p:sp>
      <p:sp>
        <p:nvSpPr>
          <p:cNvPr id="24" name="Shape 20"/>
          <p:cNvSpPr/>
          <p:nvPr/>
        </p:nvSpPr>
        <p:spPr>
          <a:xfrm>
            <a:off x="548640" y="3456432"/>
            <a:ext cx="3566160" cy="1371600"/>
          </a:xfrm>
          <a:prstGeom prst="rect">
            <a:avLst/>
          </a:prstGeom>
          <a:solidFill>
            <a:srgbClr val="FFFFFF"/>
          </a:solidFill>
          <a:ln w="12700">
            <a:solidFill>
              <a:srgbClr val="D9D9D9"/>
            </a:solidFill>
            <a:prstDash val="solid"/>
          </a:ln>
        </p:spPr>
      </p:sp>
      <p:sp>
        <p:nvSpPr>
          <p:cNvPr id="25" name="Shape 21"/>
          <p:cNvSpPr/>
          <p:nvPr/>
        </p:nvSpPr>
        <p:spPr>
          <a:xfrm>
            <a:off x="749808" y="3657600"/>
            <a:ext cx="329184" cy="329184"/>
          </a:xfrm>
          <a:prstGeom prst="ellipse">
            <a:avLst/>
          </a:prstGeom>
          <a:solidFill>
            <a:srgbClr val="C00000"/>
          </a:solidFill>
          <a:ln/>
        </p:spPr>
      </p:sp>
      <p:sp>
        <p:nvSpPr>
          <p:cNvPr id="26" name="Text 22"/>
          <p:cNvSpPr/>
          <p:nvPr/>
        </p:nvSpPr>
        <p:spPr>
          <a:xfrm>
            <a:off x="749808" y="36576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3"/>
          <p:cNvSpPr/>
          <p:nvPr/>
        </p:nvSpPr>
        <p:spPr>
          <a:xfrm>
            <a:off x="1207008" y="3602736"/>
            <a:ext cx="2743200" cy="41148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Bug Detection</a:t>
            </a:r>
            <a:endParaRPr lang="en-US" sz="1250" dirty="0"/>
          </a:p>
        </p:txBody>
      </p:sp>
      <p:sp>
        <p:nvSpPr>
          <p:cNvPr id="28" name="Text 24"/>
          <p:cNvSpPr/>
          <p:nvPr/>
        </p:nvSpPr>
        <p:spPr>
          <a:xfrm>
            <a:off x="749808" y="4078224"/>
            <a:ext cx="3163824" cy="685800"/>
          </a:xfrm>
          <a:prstGeom prst="rect">
            <a:avLst/>
          </a:prstGeom>
          <a:noFill/>
          <a:ln/>
        </p:spPr>
        <p:txBody>
          <a:bodyPr wrap="square" lIns="0" tIns="0" rIns="0" bIns="0" rtlCol="0" anchor="t"/>
          <a:lstStyle/>
          <a:p>
            <a:pPr indent="0" marL="0">
              <a:lnSpc>
                <a:spcPct val="118000"/>
              </a:lnSpc>
              <a:buNone/>
            </a:pPr>
            <a:r>
              <a:rPr lang="en-US" sz="1050" dirty="0">
                <a:solidFill>
                  <a:srgbClr val="262626"/>
                </a:solidFill>
                <a:latin typeface="Calibri" pitchFamily="34" charset="0"/>
                <a:ea typeface="Calibri" pitchFamily="34" charset="-122"/>
                <a:cs typeface="Calibri" pitchFamily="34" charset="-120"/>
              </a:rPr>
              <a:t>Identifies potential bugs and coding issues within the analyzed code.</a:t>
            </a:r>
            <a:endParaRPr lang="en-US" sz="1050" dirty="0"/>
          </a:p>
        </p:txBody>
      </p:sp>
      <p:sp>
        <p:nvSpPr>
          <p:cNvPr id="29" name="Shape 25"/>
          <p:cNvSpPr/>
          <p:nvPr/>
        </p:nvSpPr>
        <p:spPr>
          <a:xfrm>
            <a:off x="4297680" y="3456432"/>
            <a:ext cx="3566160" cy="1371600"/>
          </a:xfrm>
          <a:prstGeom prst="rect">
            <a:avLst/>
          </a:prstGeom>
          <a:solidFill>
            <a:srgbClr val="FFFFFF"/>
          </a:solidFill>
          <a:ln w="12700">
            <a:solidFill>
              <a:srgbClr val="D9D9D9"/>
            </a:solidFill>
            <a:prstDash val="solid"/>
          </a:ln>
        </p:spPr>
      </p:sp>
      <p:sp>
        <p:nvSpPr>
          <p:cNvPr id="30" name="Shape 26"/>
          <p:cNvSpPr/>
          <p:nvPr/>
        </p:nvSpPr>
        <p:spPr>
          <a:xfrm>
            <a:off x="4498848" y="3657600"/>
            <a:ext cx="329184" cy="329184"/>
          </a:xfrm>
          <a:prstGeom prst="ellipse">
            <a:avLst/>
          </a:prstGeom>
          <a:solidFill>
            <a:srgbClr val="C00000"/>
          </a:solidFill>
          <a:ln/>
        </p:spPr>
      </p:sp>
      <p:sp>
        <p:nvSpPr>
          <p:cNvPr id="31" name="Text 27"/>
          <p:cNvSpPr/>
          <p:nvPr/>
        </p:nvSpPr>
        <p:spPr>
          <a:xfrm>
            <a:off x="4498848" y="36576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28"/>
          <p:cNvSpPr/>
          <p:nvPr/>
        </p:nvSpPr>
        <p:spPr>
          <a:xfrm>
            <a:off x="4956048" y="3602736"/>
            <a:ext cx="2743200" cy="41148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Report Generation</a:t>
            </a:r>
            <a:endParaRPr lang="en-US" sz="1250" dirty="0"/>
          </a:p>
        </p:txBody>
      </p:sp>
      <p:sp>
        <p:nvSpPr>
          <p:cNvPr id="33" name="Text 29"/>
          <p:cNvSpPr/>
          <p:nvPr/>
        </p:nvSpPr>
        <p:spPr>
          <a:xfrm>
            <a:off x="4498848" y="4078224"/>
            <a:ext cx="3163824" cy="685800"/>
          </a:xfrm>
          <a:prstGeom prst="rect">
            <a:avLst/>
          </a:prstGeom>
          <a:noFill/>
          <a:ln/>
        </p:spPr>
        <p:txBody>
          <a:bodyPr wrap="square" lIns="0" tIns="0" rIns="0" bIns="0" rtlCol="0" anchor="t"/>
          <a:lstStyle/>
          <a:p>
            <a:pPr indent="0" marL="0">
              <a:lnSpc>
                <a:spcPct val="118000"/>
              </a:lnSpc>
              <a:buNone/>
            </a:pPr>
            <a:r>
              <a:rPr lang="en-US" sz="1050" dirty="0">
                <a:solidFill>
                  <a:srgbClr val="262626"/>
                </a:solidFill>
                <a:latin typeface="Calibri" pitchFamily="34" charset="0"/>
                <a:ea typeface="Calibri" pitchFamily="34" charset="-122"/>
                <a:cs typeface="Calibri" pitchFamily="34" charset="-120"/>
              </a:rPr>
              <a:t>Produces improvement suggestions, a review summary, and a code quality score.</a:t>
            </a:r>
            <a:endParaRPr lang="en-US" sz="1050" dirty="0"/>
          </a:p>
        </p:txBody>
      </p:sp>
      <p:sp>
        <p:nvSpPr>
          <p:cNvPr id="34" name="Shape 30"/>
          <p:cNvSpPr/>
          <p:nvPr/>
        </p:nvSpPr>
        <p:spPr>
          <a:xfrm>
            <a:off x="8046720" y="3456432"/>
            <a:ext cx="3566160" cy="1371600"/>
          </a:xfrm>
          <a:prstGeom prst="rect">
            <a:avLst/>
          </a:prstGeom>
          <a:solidFill>
            <a:srgbClr val="FFFFFF"/>
          </a:solidFill>
          <a:ln w="12700">
            <a:solidFill>
              <a:srgbClr val="D9D9D9"/>
            </a:solidFill>
            <a:prstDash val="solid"/>
          </a:ln>
        </p:spPr>
      </p:sp>
      <p:sp>
        <p:nvSpPr>
          <p:cNvPr id="35" name="Shape 31"/>
          <p:cNvSpPr/>
          <p:nvPr/>
        </p:nvSpPr>
        <p:spPr>
          <a:xfrm>
            <a:off x="8247888" y="3657600"/>
            <a:ext cx="329184" cy="329184"/>
          </a:xfrm>
          <a:prstGeom prst="ellipse">
            <a:avLst/>
          </a:prstGeom>
          <a:solidFill>
            <a:srgbClr val="C00000"/>
          </a:solidFill>
          <a:ln/>
        </p:spPr>
      </p:sp>
      <p:sp>
        <p:nvSpPr>
          <p:cNvPr id="36" name="Text 32"/>
          <p:cNvSpPr/>
          <p:nvPr/>
        </p:nvSpPr>
        <p:spPr>
          <a:xfrm>
            <a:off x="8247888" y="36576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3"/>
          <p:cNvSpPr/>
          <p:nvPr/>
        </p:nvSpPr>
        <p:spPr>
          <a:xfrm>
            <a:off x="8705088" y="3602736"/>
            <a:ext cx="2743200" cy="41148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Review Dashboard</a:t>
            </a:r>
            <a:endParaRPr lang="en-US" sz="1250" dirty="0"/>
          </a:p>
        </p:txBody>
      </p:sp>
      <p:sp>
        <p:nvSpPr>
          <p:cNvPr id="38" name="Text 34"/>
          <p:cNvSpPr/>
          <p:nvPr/>
        </p:nvSpPr>
        <p:spPr>
          <a:xfrm>
            <a:off x="8247888" y="4078224"/>
            <a:ext cx="3163824" cy="685800"/>
          </a:xfrm>
          <a:prstGeom prst="rect">
            <a:avLst/>
          </a:prstGeom>
          <a:noFill/>
          <a:ln/>
        </p:spPr>
        <p:txBody>
          <a:bodyPr wrap="square" lIns="0" tIns="0" rIns="0" bIns="0" rtlCol="0" anchor="t"/>
          <a:lstStyle/>
          <a:p>
            <a:pPr indent="0" marL="0">
              <a:lnSpc>
                <a:spcPct val="118000"/>
              </a:lnSpc>
              <a:buNone/>
            </a:pPr>
            <a:r>
              <a:rPr lang="en-US" sz="1050" dirty="0">
                <a:solidFill>
                  <a:srgbClr val="262626"/>
                </a:solidFill>
                <a:latin typeface="Calibri" pitchFamily="34" charset="0"/>
                <a:ea typeface="Calibri" pitchFamily="34" charset="-122"/>
                <a:cs typeface="Calibri" pitchFamily="34" charset="-120"/>
              </a:rPr>
              <a:t>Allows users to view current and previous code review results stored in the database.</a:t>
            </a:r>
            <a:endParaRPr lang="en-US" sz="1050" dirty="0"/>
          </a:p>
        </p:txBody>
      </p:sp>
      <p:sp>
        <p:nvSpPr>
          <p:cNvPr id="39" name="Text 35"/>
          <p:cNvSpPr/>
          <p:nvPr/>
        </p:nvSpPr>
        <p:spPr>
          <a:xfrm>
            <a:off x="320040" y="6355080"/>
            <a:ext cx="36576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12045391" cy="6711696"/>
          </a:xfrm>
          <a:prstGeom prst="rect">
            <a:avLst/>
          </a:prstGeom>
          <a:ln w="57150">
            <a:solidFill>
              <a:srgbClr val="000000"/>
            </a:solidFill>
            <a:prstDash val="solid"/>
          </a:ln>
        </p:spPr>
      </p:sp>
      <p:pic>
        <p:nvPicPr>
          <p:cNvPr id="3" name="Image 0" descr="/home/claude/logo_final.png">    </p:cNvPr>
          <p:cNvPicPr>
            <a:picLocks noChangeAspect="1"/>
          </p:cNvPicPr>
          <p:nvPr/>
        </p:nvPicPr>
        <p:blipFill>
          <a:blip r:embed="rId1"/>
          <a:stretch>
            <a:fillRect/>
          </a:stretch>
        </p:blipFill>
        <p:spPr>
          <a:xfrm>
            <a:off x="10591495" y="274320"/>
            <a:ext cx="1234440" cy="318424"/>
          </a:xfrm>
          <a:prstGeom prst="rect">
            <a:avLst/>
          </a:prstGeom>
        </p:spPr>
      </p:pic>
      <p:sp>
        <p:nvSpPr>
          <p:cNvPr id="4" name="Shape 1"/>
          <p:cNvSpPr/>
          <p:nvPr/>
        </p:nvSpPr>
        <p:spPr>
          <a:xfrm>
            <a:off x="320040" y="6227987"/>
            <a:ext cx="7894015" cy="0"/>
          </a:xfrm>
          <a:prstGeom prst="line">
            <a:avLst/>
          </a:prstGeom>
          <a:noFill/>
          <a:ln w="25400">
            <a:solidFill>
              <a:srgbClr val="ED7D31"/>
            </a:solidFill>
            <a:prstDash val="solid"/>
          </a:ln>
        </p:spPr>
      </p:sp>
      <p:pic>
        <p:nvPicPr>
          <p:cNvPr id="5" name="Image 1" descr="/home/claude/box_final2.png">    </p:cNvPr>
          <p:cNvPicPr>
            <a:picLocks noChangeAspect="1"/>
          </p:cNvPicPr>
          <p:nvPr/>
        </p:nvPicPr>
        <p:blipFill>
          <a:blip r:embed="rId2"/>
          <a:stretch>
            <a:fillRect/>
          </a:stretch>
        </p:blipFill>
        <p:spPr>
          <a:xfrm>
            <a:off x="8396935" y="5982021"/>
            <a:ext cx="3383280" cy="491931"/>
          </a:xfrm>
          <a:prstGeom prst="rect">
            <a:avLst/>
          </a:prstGeom>
        </p:spPr>
      </p:pic>
      <p:sp>
        <p:nvSpPr>
          <p:cNvPr id="6" name="Shape 2"/>
          <p:cNvSpPr/>
          <p:nvPr/>
        </p:nvSpPr>
        <p:spPr>
          <a:xfrm>
            <a:off x="4769968" y="384048"/>
            <a:ext cx="2651760" cy="566928"/>
          </a:xfrm>
          <a:prstGeom prst="rect">
            <a:avLst/>
          </a:prstGeom>
          <a:solidFill>
            <a:srgbClr val="C00000"/>
          </a:solidFill>
          <a:ln/>
        </p:spPr>
      </p:sp>
      <p:sp>
        <p:nvSpPr>
          <p:cNvPr id="7" name="Text 3"/>
          <p:cNvSpPr/>
          <p:nvPr/>
        </p:nvSpPr>
        <p:spPr>
          <a:xfrm>
            <a:off x="4769968" y="384048"/>
            <a:ext cx="2651760"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Conclusion</a:t>
            </a:r>
            <a:endParaRPr lang="en-US" sz="2400" dirty="0"/>
          </a:p>
        </p:txBody>
      </p:sp>
      <p:sp>
        <p:nvSpPr>
          <p:cNvPr id="8" name="Text 4"/>
          <p:cNvSpPr/>
          <p:nvPr/>
        </p:nvSpPr>
        <p:spPr>
          <a:xfrm>
            <a:off x="548640" y="1371600"/>
            <a:ext cx="11064240" cy="502920"/>
          </a:xfrm>
          <a:prstGeom prst="rect">
            <a:avLst/>
          </a:prstGeom>
          <a:noFill/>
          <a:ln/>
        </p:spPr>
        <p:txBody>
          <a:bodyPr wrap="square" lIns="0" tIns="0" rIns="0" bIns="0" rtlCol="0" anchor="ctr"/>
          <a:lstStyle/>
          <a:p>
            <a:pPr indent="0" marL="0">
              <a:lnSpc>
                <a:spcPct val="120000"/>
              </a:lnSpc>
              <a:buNone/>
            </a:pPr>
            <a:r>
              <a:rPr lang="en-US" sz="1300" dirty="0">
                <a:solidFill>
                  <a:srgbClr val="262626"/>
                </a:solidFill>
                <a:latin typeface="Calibri" pitchFamily="34" charset="0"/>
                <a:ea typeface="Calibri" pitchFamily="34" charset="-122"/>
                <a:cs typeface="Calibri" pitchFamily="34" charset="-120"/>
              </a:rPr>
              <a:t>CodeInsight AI demonstrates how Artificial Intelligence can be integrated into software development workflows to support faster, more consistent, and understandable code reviews.</a:t>
            </a:r>
            <a:endParaRPr lang="en-US" sz="1300" dirty="0"/>
          </a:p>
        </p:txBody>
      </p:sp>
      <p:sp>
        <p:nvSpPr>
          <p:cNvPr id="9" name="Shape 5"/>
          <p:cNvSpPr/>
          <p:nvPr/>
        </p:nvSpPr>
        <p:spPr>
          <a:xfrm>
            <a:off x="548640" y="2057400"/>
            <a:ext cx="329184" cy="329184"/>
          </a:xfrm>
          <a:prstGeom prst="ellipse">
            <a:avLst/>
          </a:prstGeom>
          <a:solidFill>
            <a:srgbClr val="C00000"/>
          </a:solidFill>
          <a:ln/>
        </p:spPr>
      </p:sp>
      <p:sp>
        <p:nvSpPr>
          <p:cNvPr id="10" name="Text 6"/>
          <p:cNvSpPr/>
          <p:nvPr/>
        </p:nvSpPr>
        <p:spPr>
          <a:xfrm>
            <a:off x="548640" y="20574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7"/>
          <p:cNvSpPr/>
          <p:nvPr/>
        </p:nvSpPr>
        <p:spPr>
          <a:xfrm>
            <a:off x="1005840" y="2011680"/>
            <a:ext cx="4937760" cy="27432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Automated Review</a:t>
            </a:r>
            <a:endParaRPr lang="en-US" sz="1250" dirty="0"/>
          </a:p>
        </p:txBody>
      </p:sp>
      <p:sp>
        <p:nvSpPr>
          <p:cNvPr id="12" name="Text 8"/>
          <p:cNvSpPr/>
          <p:nvPr/>
        </p:nvSpPr>
        <p:spPr>
          <a:xfrm>
            <a:off x="1005840" y="2304288"/>
            <a:ext cx="4937760" cy="594360"/>
          </a:xfrm>
          <a:prstGeom prst="rect">
            <a:avLst/>
          </a:prstGeom>
          <a:noFill/>
          <a:ln/>
        </p:spPr>
        <p:txBody>
          <a:bodyPr wrap="square" lIns="0" tIns="0" rIns="0" bIns="0" rtlCol="0" anchor="t"/>
          <a:lstStyle/>
          <a:p>
            <a:pPr indent="0" marL="0">
              <a:lnSpc>
                <a:spcPct val="115000"/>
              </a:lnSpc>
              <a:buNone/>
            </a:pPr>
            <a:r>
              <a:rPr lang="en-US" sz="1050" dirty="0">
                <a:solidFill>
                  <a:srgbClr val="555555"/>
                </a:solidFill>
                <a:latin typeface="Calibri" pitchFamily="34" charset="0"/>
                <a:ea typeface="Calibri" pitchFamily="34" charset="-122"/>
                <a:cs typeface="Calibri" pitchFamily="34" charset="-120"/>
              </a:rPr>
              <a:t>Automates key parts of the code-review process, reducing manual effort and inconsistency.</a:t>
            </a:r>
            <a:endParaRPr lang="en-US" sz="1050" dirty="0"/>
          </a:p>
        </p:txBody>
      </p:sp>
      <p:sp>
        <p:nvSpPr>
          <p:cNvPr id="13" name="Shape 9"/>
          <p:cNvSpPr/>
          <p:nvPr/>
        </p:nvSpPr>
        <p:spPr>
          <a:xfrm>
            <a:off x="6217920" y="2057400"/>
            <a:ext cx="329184" cy="329184"/>
          </a:xfrm>
          <a:prstGeom prst="ellipse">
            <a:avLst/>
          </a:prstGeom>
          <a:solidFill>
            <a:srgbClr val="C00000"/>
          </a:solidFill>
          <a:ln/>
        </p:spPr>
      </p:sp>
      <p:sp>
        <p:nvSpPr>
          <p:cNvPr id="14" name="Text 10"/>
          <p:cNvSpPr/>
          <p:nvPr/>
        </p:nvSpPr>
        <p:spPr>
          <a:xfrm>
            <a:off x="6217920" y="20574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1"/>
          <p:cNvSpPr/>
          <p:nvPr/>
        </p:nvSpPr>
        <p:spPr>
          <a:xfrm>
            <a:off x="6675120" y="2011680"/>
            <a:ext cx="4937760" cy="27432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Integrated System</a:t>
            </a:r>
            <a:endParaRPr lang="en-US" sz="1250" dirty="0"/>
          </a:p>
        </p:txBody>
      </p:sp>
      <p:sp>
        <p:nvSpPr>
          <p:cNvPr id="16" name="Text 12"/>
          <p:cNvSpPr/>
          <p:nvPr/>
        </p:nvSpPr>
        <p:spPr>
          <a:xfrm>
            <a:off x="6675120" y="2304288"/>
            <a:ext cx="4937760" cy="594360"/>
          </a:xfrm>
          <a:prstGeom prst="rect">
            <a:avLst/>
          </a:prstGeom>
          <a:noFill/>
          <a:ln/>
        </p:spPr>
        <p:txBody>
          <a:bodyPr wrap="square" lIns="0" tIns="0" rIns="0" bIns="0" rtlCol="0" anchor="t"/>
          <a:lstStyle/>
          <a:p>
            <a:pPr indent="0" marL="0">
              <a:lnSpc>
                <a:spcPct val="115000"/>
              </a:lnSpc>
              <a:buNone/>
            </a:pPr>
            <a:r>
              <a:rPr lang="en-US" sz="1050" dirty="0">
                <a:solidFill>
                  <a:srgbClr val="555555"/>
                </a:solidFill>
                <a:latin typeface="Calibri" pitchFamily="34" charset="0"/>
                <a:ea typeface="Calibri" pitchFamily="34" charset="-122"/>
                <a:cs typeface="Calibri" pitchFamily="34" charset="-120"/>
              </a:rPr>
              <a:t>Combines a web interface, backend processing, AI analysis, GitHub integration, and database storage.</a:t>
            </a:r>
            <a:endParaRPr lang="en-US" sz="1050" dirty="0"/>
          </a:p>
        </p:txBody>
      </p:sp>
      <p:sp>
        <p:nvSpPr>
          <p:cNvPr id="17" name="Shape 13"/>
          <p:cNvSpPr/>
          <p:nvPr/>
        </p:nvSpPr>
        <p:spPr>
          <a:xfrm>
            <a:off x="548640" y="3136392"/>
            <a:ext cx="329184" cy="329184"/>
          </a:xfrm>
          <a:prstGeom prst="ellipse">
            <a:avLst/>
          </a:prstGeom>
          <a:solidFill>
            <a:srgbClr val="C00000"/>
          </a:solidFill>
          <a:ln/>
        </p:spPr>
      </p:sp>
      <p:sp>
        <p:nvSpPr>
          <p:cNvPr id="18" name="Text 14"/>
          <p:cNvSpPr/>
          <p:nvPr/>
        </p:nvSpPr>
        <p:spPr>
          <a:xfrm>
            <a:off x="548640" y="313639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5"/>
          <p:cNvSpPr/>
          <p:nvPr/>
        </p:nvSpPr>
        <p:spPr>
          <a:xfrm>
            <a:off x="1005840" y="3090672"/>
            <a:ext cx="4937760" cy="27432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Actionable Output</a:t>
            </a:r>
            <a:endParaRPr lang="en-US" sz="1250" dirty="0"/>
          </a:p>
        </p:txBody>
      </p:sp>
      <p:sp>
        <p:nvSpPr>
          <p:cNvPr id="20" name="Text 16"/>
          <p:cNvSpPr/>
          <p:nvPr/>
        </p:nvSpPr>
        <p:spPr>
          <a:xfrm>
            <a:off x="1005840" y="3383280"/>
            <a:ext cx="4937760" cy="594360"/>
          </a:xfrm>
          <a:prstGeom prst="rect">
            <a:avLst/>
          </a:prstGeom>
          <a:noFill/>
          <a:ln/>
        </p:spPr>
        <p:txBody>
          <a:bodyPr wrap="square" lIns="0" tIns="0" rIns="0" bIns="0" rtlCol="0" anchor="t"/>
          <a:lstStyle/>
          <a:p>
            <a:pPr indent="0" marL="0">
              <a:lnSpc>
                <a:spcPct val="115000"/>
              </a:lnSpc>
              <a:buNone/>
            </a:pPr>
            <a:r>
              <a:rPr lang="en-US" sz="1050" dirty="0">
                <a:solidFill>
                  <a:srgbClr val="555555"/>
                </a:solidFill>
                <a:latin typeface="Calibri" pitchFamily="34" charset="0"/>
                <a:ea typeface="Calibri" pitchFamily="34" charset="-122"/>
                <a:cs typeface="Calibri" pitchFamily="34" charset="-120"/>
              </a:rPr>
              <a:t>Provides understandable suggestions, a code quality score, and a structured review summary.</a:t>
            </a:r>
            <a:endParaRPr lang="en-US" sz="1050" dirty="0"/>
          </a:p>
        </p:txBody>
      </p:sp>
      <p:sp>
        <p:nvSpPr>
          <p:cNvPr id="21" name="Shape 17"/>
          <p:cNvSpPr/>
          <p:nvPr/>
        </p:nvSpPr>
        <p:spPr>
          <a:xfrm>
            <a:off x="6217920" y="3136392"/>
            <a:ext cx="329184" cy="329184"/>
          </a:xfrm>
          <a:prstGeom prst="ellipse">
            <a:avLst/>
          </a:prstGeom>
          <a:solidFill>
            <a:srgbClr val="C00000"/>
          </a:solidFill>
          <a:ln/>
        </p:spPr>
      </p:sp>
      <p:sp>
        <p:nvSpPr>
          <p:cNvPr id="22" name="Text 18"/>
          <p:cNvSpPr/>
          <p:nvPr/>
        </p:nvSpPr>
        <p:spPr>
          <a:xfrm>
            <a:off x="6217920" y="313639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19"/>
          <p:cNvSpPr/>
          <p:nvPr/>
        </p:nvSpPr>
        <p:spPr>
          <a:xfrm>
            <a:off x="6675120" y="3090672"/>
            <a:ext cx="4937760" cy="274320"/>
          </a:xfrm>
          <a:prstGeom prst="rect">
            <a:avLst/>
          </a:prstGeom>
          <a:noFill/>
          <a:ln/>
        </p:spPr>
        <p:txBody>
          <a:bodyPr wrap="square" lIns="0" tIns="0" rIns="0" bIns="0" rtlCol="0" anchor="ctr"/>
          <a:lstStyle/>
          <a:p>
            <a:pPr indent="0" marL="0">
              <a:buNone/>
            </a:pPr>
            <a:r>
              <a:rPr lang="en-US" sz="1250" b="1" dirty="0">
                <a:solidFill>
                  <a:srgbClr val="C00000"/>
                </a:solidFill>
                <a:latin typeface="Calibri" pitchFamily="34" charset="0"/>
                <a:ea typeface="Calibri" pitchFamily="34" charset="-122"/>
                <a:cs typeface="Calibri" pitchFamily="34" charset="-120"/>
              </a:rPr>
              <a:t>Review History</a:t>
            </a:r>
            <a:endParaRPr lang="en-US" sz="1250" dirty="0"/>
          </a:p>
        </p:txBody>
      </p:sp>
      <p:sp>
        <p:nvSpPr>
          <p:cNvPr id="24" name="Text 20"/>
          <p:cNvSpPr/>
          <p:nvPr/>
        </p:nvSpPr>
        <p:spPr>
          <a:xfrm>
            <a:off x="6675120" y="3383280"/>
            <a:ext cx="4937760" cy="594360"/>
          </a:xfrm>
          <a:prstGeom prst="rect">
            <a:avLst/>
          </a:prstGeom>
          <a:noFill/>
          <a:ln/>
        </p:spPr>
        <p:txBody>
          <a:bodyPr wrap="square" lIns="0" tIns="0" rIns="0" bIns="0" rtlCol="0" anchor="t"/>
          <a:lstStyle/>
          <a:p>
            <a:pPr indent="0" marL="0">
              <a:lnSpc>
                <a:spcPct val="115000"/>
              </a:lnSpc>
              <a:buNone/>
            </a:pPr>
            <a:r>
              <a:rPr lang="en-US" sz="1050" dirty="0">
                <a:solidFill>
                  <a:srgbClr val="555555"/>
                </a:solidFill>
                <a:latin typeface="Calibri" pitchFamily="34" charset="0"/>
                <a:ea typeface="Calibri" pitchFamily="34" charset="-122"/>
                <a:cs typeface="Calibri" pitchFamily="34" charset="-120"/>
              </a:rPr>
              <a:t>Maintains a history of previous analyses, allowing developers to track code quality over time.</a:t>
            </a:r>
            <a:endParaRPr lang="en-US" sz="1050" dirty="0"/>
          </a:p>
        </p:txBody>
      </p:sp>
      <p:sp>
        <p:nvSpPr>
          <p:cNvPr id="25" name="Text 21"/>
          <p:cNvSpPr/>
          <p:nvPr/>
        </p:nvSpPr>
        <p:spPr>
          <a:xfrm>
            <a:off x="548640" y="4114800"/>
            <a:ext cx="11064240" cy="365760"/>
          </a:xfrm>
          <a:prstGeom prst="rect">
            <a:avLst/>
          </a:prstGeom>
          <a:noFill/>
          <a:ln/>
        </p:spPr>
        <p:txBody>
          <a:bodyPr wrap="square" lIns="0" tIns="0" rIns="0" bIns="0" rtlCol="0" anchor="ctr"/>
          <a:lstStyle/>
          <a:p>
            <a:pPr indent="0" marL="0">
              <a:buNone/>
            </a:pPr>
            <a:r>
              <a:rPr lang="en-US" sz="1250" i="1" dirty="0">
                <a:solidFill>
                  <a:srgbClr val="C00000"/>
                </a:solidFill>
                <a:latin typeface="Calibri" pitchFamily="34" charset="0"/>
                <a:ea typeface="Calibri" pitchFamily="34" charset="-122"/>
                <a:cs typeface="Calibri" pitchFamily="34" charset="-120"/>
              </a:rPr>
              <a:t>CodeInsight AI aims to support developers with faster, more consistent, and understandable AI-assisted code reviews.</a:t>
            </a:r>
            <a:endParaRPr lang="en-US" sz="1250" dirty="0"/>
          </a:p>
        </p:txBody>
      </p:sp>
      <p:sp>
        <p:nvSpPr>
          <p:cNvPr id="26" name="Shape 22"/>
          <p:cNvSpPr/>
          <p:nvPr/>
        </p:nvSpPr>
        <p:spPr>
          <a:xfrm>
            <a:off x="548640" y="4572000"/>
            <a:ext cx="11064240" cy="0"/>
          </a:xfrm>
          <a:prstGeom prst="line">
            <a:avLst/>
          </a:prstGeom>
          <a:noFill/>
          <a:ln w="12700">
            <a:solidFill>
              <a:srgbClr val="D9D9D9"/>
            </a:solidFill>
            <a:prstDash val="solid"/>
          </a:ln>
        </p:spPr>
      </p:sp>
      <p:sp>
        <p:nvSpPr>
          <p:cNvPr id="27" name="Text 23"/>
          <p:cNvSpPr/>
          <p:nvPr/>
        </p:nvSpPr>
        <p:spPr>
          <a:xfrm>
            <a:off x="548640" y="4681728"/>
            <a:ext cx="3657600" cy="274320"/>
          </a:xfrm>
          <a:prstGeom prst="rect">
            <a:avLst/>
          </a:prstGeom>
          <a:noFill/>
          <a:ln/>
        </p:spPr>
        <p:txBody>
          <a:bodyPr wrap="square" lIns="0" tIns="0" rIns="0" bIns="0" rtlCol="0" anchor="ctr"/>
          <a:lstStyle/>
          <a:p>
            <a:pPr indent="0" marL="0">
              <a:buNone/>
            </a:pPr>
            <a:r>
              <a:rPr lang="en-US" sz="1200" b="1" dirty="0">
                <a:solidFill>
                  <a:srgbClr val="C00000"/>
                </a:solidFill>
                <a:latin typeface="Calibri" pitchFamily="34" charset="0"/>
                <a:ea typeface="Calibri" pitchFamily="34" charset="-122"/>
                <a:cs typeface="Calibri" pitchFamily="34" charset="-120"/>
              </a:rPr>
              <a:t>References</a:t>
            </a:r>
            <a:endParaRPr lang="en-US" sz="1200" dirty="0"/>
          </a:p>
        </p:txBody>
      </p:sp>
      <p:sp>
        <p:nvSpPr>
          <p:cNvPr id="28" name="Text 24"/>
          <p:cNvSpPr/>
          <p:nvPr/>
        </p:nvSpPr>
        <p:spPr>
          <a:xfrm>
            <a:off x="548640" y="4983480"/>
            <a:ext cx="11064240" cy="1005840"/>
          </a:xfrm>
          <a:prstGeom prst="rect">
            <a:avLst/>
          </a:prstGeom>
          <a:noFill/>
          <a:ln/>
        </p:spPr>
        <p:txBody>
          <a:bodyPr wrap="square" lIns="0" tIns="0" rIns="0" bIns="0" rtlCol="0" anchor="t"/>
          <a:lstStyle/>
          <a:p>
            <a:pPr marL="342900" indent="-342900">
              <a:spcAft>
                <a:spcPts val="400"/>
              </a:spcAft>
              <a:buSzPct val="100000"/>
              <a:buChar char="•"/>
            </a:pPr>
            <a:r>
              <a:rPr lang="en-US" sz="900" dirty="0">
                <a:solidFill>
                  <a:srgbClr val="555555"/>
                </a:solidFill>
                <a:latin typeface="Calibri" pitchFamily="34" charset="0"/>
                <a:ea typeface="Calibri" pitchFamily="34" charset="-122"/>
                <a:cs typeface="Calibri" pitchFamily="34" charset="-120"/>
              </a:rPr>
              <a:t>Fan, A., Gokkaya, B., Harman, M., Lyubarskiy, M., Sengupta, S., Yoo, S., &amp; Zhang, J. M. (2023). Large Language Models for Software Engineering: Survey and Open Problems. arXiv preprint.</a:t>
            </a:r>
            <a:endParaRPr lang="en-US" sz="900" dirty="0"/>
          </a:p>
          <a:p>
            <a:pPr marL="342900" indent="-342900">
              <a:spcAft>
                <a:spcPts val="400"/>
              </a:spcAft>
              <a:buSzPct val="100000"/>
              <a:buChar char="•"/>
            </a:pPr>
            <a:r>
              <a:rPr lang="en-US" sz="900" dirty="0">
                <a:solidFill>
                  <a:srgbClr val="555555"/>
                </a:solidFill>
                <a:latin typeface="Calibri" pitchFamily="34" charset="0"/>
                <a:ea typeface="Calibri" pitchFamily="34" charset="-122"/>
                <a:cs typeface="Calibri" pitchFamily="34" charset="-120"/>
              </a:rPr>
              <a:t>IEEE/ACM International Conference on Software Engineering: Software Engineering in Practice (ICSE-SEIP). (2025). Automated Code Review in Practice.</a:t>
            </a:r>
            <a:endParaRPr lang="en-US" sz="900" dirty="0"/>
          </a:p>
          <a:p>
            <a:pPr marL="342900" indent="-342900">
              <a:spcAft>
                <a:spcPts val="400"/>
              </a:spcAft>
              <a:buSzPct val="100000"/>
              <a:buChar char="•"/>
            </a:pPr>
            <a:r>
              <a:rPr lang="en-US" sz="900" dirty="0">
                <a:solidFill>
                  <a:srgbClr val="555555"/>
                </a:solidFill>
                <a:latin typeface="Calibri" pitchFamily="34" charset="0"/>
                <a:ea typeface="Calibri" pitchFamily="34" charset="-122"/>
                <a:cs typeface="Calibri" pitchFamily="34" charset="-120"/>
              </a:rPr>
              <a:t>Additional references on automated static analysis, LLM-based code review with symbolic reasoning, and LLM impact on GitHub pull-request workflows (2025).</a:t>
            </a:r>
            <a:endParaRPr lang="en-US" sz="900" dirty="0"/>
          </a:p>
        </p:txBody>
      </p:sp>
      <p:sp>
        <p:nvSpPr>
          <p:cNvPr id="29" name="Text 25"/>
          <p:cNvSpPr/>
          <p:nvPr/>
        </p:nvSpPr>
        <p:spPr>
          <a:xfrm>
            <a:off x="320040" y="6355080"/>
            <a:ext cx="365760" cy="274320"/>
          </a:xfrm>
          <a:prstGeom prst="rect">
            <a:avLst/>
          </a:prstGeom>
          <a:noFill/>
          <a:ln/>
        </p:spPr>
        <p:txBody>
          <a:bodyPr wrap="square" lIns="0" tIns="0" rIns="0" bIns="0" rtlCol="0" anchor="ctr"/>
          <a:lstStyle/>
          <a:p>
            <a:pPr indent="0" marL="0">
              <a:buNone/>
            </a:pPr>
            <a:r>
              <a:rPr lang="en-US" sz="900" dirty="0">
                <a:solidFill>
                  <a:srgbClr val="55555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2026-08-25T03:22:03Z</dcterms:created>
  <dcterms:modified xsi:type="dcterms:W3CDTF">2026-08-25T03:22:03Z</dcterms:modified>
</cp:coreProperties>
</file>